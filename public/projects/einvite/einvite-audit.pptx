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10"/>
    <p:sldId id="260" r:id="rId11"/>
    <p:sldId id="261" r:id="rId12"/>
    <p:sldId id="262" r:id="rId13"/>
    <p:sldId id="263" r:id="rId14"/>
    <p:sldId id="264" r:id="rId15"/>
  </p:sldIdLst>
  <p:notesMasterIdLst>
    <p:notesMasterId r:id="rId5"/>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notesMaster" Target="notesMasters/notesMaster1.xml"/><Relationship Id="rId6" Type="http://schemas.openxmlformats.org/officeDocument/2006/relationships/presProps" Target="presProps.xml"/><Relationship Id="rId7" Type="http://schemas.openxmlformats.org/officeDocument/2006/relationships/viewProps" Target="viewProps.xml"/><Relationship Id="rId8" Type="http://schemas.openxmlformats.org/officeDocument/2006/relationships/theme" Target="theme/theme1.xml"/><Relationship Id="rId9" Type="http://schemas.openxmlformats.org/officeDocument/2006/relationships/tableStyles" Target="tableStyles.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s>
</file>

<file path=ppt/notesMasters/_rels/notesMaster1.xml.rels><?xml version="1.0" encoding="UTF-8"?><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5.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6.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the CEO asks: "Why redesign the Articles page?"</a:t>
            </a:r>
          </a:p>
          <a:p/>
          <a:p>
            <a:r>
              <a:t>The original content library was valuable but difficult to navigate. Rather than creating new content, I reorganized the experience by introducing search, categorization, featured content, and a clearer reading flow. This helps users discover existing articles more efficiently and makes the content library easier to scale.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values come directly from the PageSpeed report. The right-hand recommendations are grounded in the PageSpeed audit and accessibility findings, written in business-friendly language rather than Lighthouse terminology.</a:t>
            </a:r>
          </a:p>
          <a:p/>
          <a:p>
            <a:r>
              <a:t>Key message: these were documented, not implemented, because they require access to the production repository. This is an intentional distinction from the Pricing and Articles case studies, which were implemented and are live.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roadmap is intentionally scoped by impact and effort, not by calendar commitment — I'm proposing this as a candidate, not promising delivery dates I can't control once inside the actual codebase and review process.</a:t>
            </a:r>
          </a:p>
          <a:p/>
          <a:p>
            <a:r>
              <a:t>Phase 1 is what already exists as working prototypes and could ship fastest. Phase 2 and 3 are the recommendations from the technical audit, sequenced by business impact: performance and accessibility before SEO and metadata polish.</a:t>
            </a:r>
          </a:p>
          <a:p/>
          <a:p>
            <a:r>
              <a:t>Closing line is deliberate: I'm not claiming a conversion lift I haven't measured. I'm claiming I can show how the product improves — which is true and verifiable right now.</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Relationships xmlns="http://schemas.openxmlformats.org/package/2006/relationships"><Relationship Id="rId1" Type="http://schemas.openxmlformats.org/officeDocument/2006/relationships/hyperlink" Target="https://einvite-pricing-625378471000.asia-southeast1.run.app/" TargetMode="External"/><Relationship Id="rId2" Type="http://schemas.openxmlformats.org/officeDocument/2006/relationships/hyperlink" Target="https://einvite-articles-resources-625378471000.asia-southeast1.run.app/" TargetMode="External"/><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7.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8.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9.xml.rels><?xml version="1.0" encoding="UTF-8"?><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3566160" cy="5143500"/>
          </a:xfrm>
          <a:prstGeom prst="rect">
            <a:avLst/>
          </a:prstGeom>
          <a:solidFill>
            <a:srgbClr val="1A1A1A"/>
          </a:solidFill>
          <a:ln w="12700">
            <a:solidFill>
              <a:srgbClr val="1A1A1A"/>
            </a:solidFill>
            <a:prstDash val="solid"/>
          </a:ln>
        </p:spPr>
      </p:sp>
      <p:sp>
        <p:nvSpPr>
          <p:cNvPr id="3" name="Text 1"/>
          <p:cNvSpPr/>
          <p:nvPr/>
        </p:nvSpPr>
        <p:spPr>
          <a:xfrm>
            <a:off x="457200" y="1600200"/>
            <a:ext cx="2651760" cy="713232"/>
          </a:xfrm>
          <a:prstGeom prst="rect">
            <a:avLst/>
          </a:prstGeom>
          <a:noFill/>
          <a:ln/>
        </p:spPr>
        <p:txBody>
          <a:bodyPr wrap="square" lIns="0" tIns="0" rIns="0" bIns="0" rtlCol="0" anchor="ctr"/>
          <a:lstStyle/>
          <a:p>
            <a:pPr indent="0" marL="0">
              <a:buNone/>
            </a:pPr>
            <a:r>
              <a:rPr lang="en-US" sz="3600" b="1" dirty="0">
                <a:solidFill>
                  <a:srgbClr val="FFFFFF"/>
                </a:solidFill>
                <a:latin typeface="Cambria" pitchFamily="34" charset="0"/>
                <a:ea typeface="Cambria" pitchFamily="34" charset="-122"/>
                <a:cs typeface="Cambria" pitchFamily="34" charset="-120"/>
              </a:rPr>
              <a:t>EInvite</a:t>
            </a:r>
            <a:endParaRPr lang="en-US" sz="3600" dirty="0"/>
          </a:p>
        </p:txBody>
      </p:sp>
      <p:sp>
        <p:nvSpPr>
          <p:cNvPr id="4" name="Shape 2"/>
          <p:cNvSpPr/>
          <p:nvPr/>
        </p:nvSpPr>
        <p:spPr>
          <a:xfrm>
            <a:off x="457200" y="2395728"/>
            <a:ext cx="914400" cy="27432"/>
          </a:xfrm>
          <a:prstGeom prst="rect">
            <a:avLst/>
          </a:prstGeom>
          <a:solidFill>
            <a:srgbClr val="C9A84C"/>
          </a:solidFill>
          <a:ln w="12700">
            <a:solidFill>
              <a:srgbClr val="C9A84C"/>
            </a:solidFill>
            <a:prstDash val="solid"/>
          </a:ln>
        </p:spPr>
      </p:sp>
      <p:sp>
        <p:nvSpPr>
          <p:cNvPr id="5" name="Text 3"/>
          <p:cNvSpPr/>
          <p:nvPr/>
        </p:nvSpPr>
        <p:spPr>
          <a:xfrm>
            <a:off x="457200" y="2468880"/>
            <a:ext cx="2651760" cy="228600"/>
          </a:xfrm>
          <a:prstGeom prst="rect">
            <a:avLst/>
          </a:prstGeom>
          <a:noFill/>
          <a:ln/>
        </p:spPr>
        <p:txBody>
          <a:bodyPr wrap="square" lIns="0" tIns="0" rIns="0" bIns="0" rtlCol="0" anchor="ctr"/>
          <a:lstStyle/>
          <a:p>
            <a:pPr indent="0" marL="0">
              <a:buNone/>
            </a:pPr>
            <a:r>
              <a:rPr lang="en-US" sz="750" b="1" spc="500" kern="0" dirty="0">
                <a:solidFill>
                  <a:srgbClr val="C9A84C"/>
                </a:solidFill>
                <a:latin typeface="Calibri" pitchFamily="34" charset="0"/>
                <a:ea typeface="Calibri" pitchFamily="34" charset="-122"/>
                <a:cs typeface="Calibri" pitchFamily="34" charset="-120"/>
              </a:rPr>
              <a:t>PRODUCT AUDIT</a:t>
            </a:r>
            <a:endParaRPr lang="en-US" sz="750" dirty="0"/>
          </a:p>
        </p:txBody>
      </p:sp>
      <p:sp>
        <p:nvSpPr>
          <p:cNvPr id="6" name="Text 4"/>
          <p:cNvSpPr/>
          <p:nvPr/>
        </p:nvSpPr>
        <p:spPr>
          <a:xfrm>
            <a:off x="457200" y="4434840"/>
            <a:ext cx="2651760" cy="502920"/>
          </a:xfrm>
          <a:prstGeom prst="rect">
            <a:avLst/>
          </a:prstGeom>
          <a:noFill/>
          <a:ln/>
        </p:spPr>
        <p:txBody>
          <a:bodyPr wrap="square" lIns="0" tIns="0" rIns="0" bIns="0"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Harsh Prajapati</a:t>
            </a:r>
            <a:endParaRPr lang="en-US" sz="1050" dirty="0"/>
          </a:p>
          <a:p>
            <a:pPr indent="0" marL="0">
              <a:buNone/>
            </a:pPr>
            <a:r>
              <a:rPr lang="en-US" sz="900" dirty="0">
                <a:solidFill>
                  <a:srgbClr val="888888"/>
                </a:solidFill>
                <a:latin typeface="Calibri" pitchFamily="34" charset="0"/>
                <a:ea typeface="Calibri" pitchFamily="34" charset="-122"/>
                <a:cs typeface="Calibri" pitchFamily="34" charset="-120"/>
              </a:rPr>
              <a:t>Frontend Developer</a:t>
            </a:r>
            <a:endParaRPr lang="en-US" sz="1050" dirty="0"/>
          </a:p>
        </p:txBody>
      </p:sp>
      <p:sp>
        <p:nvSpPr>
          <p:cNvPr id="7" name="Text 5"/>
          <p:cNvSpPr/>
          <p:nvPr/>
        </p:nvSpPr>
        <p:spPr>
          <a:xfrm>
            <a:off x="3977640" y="1005840"/>
            <a:ext cx="4892040" cy="1554480"/>
          </a:xfrm>
          <a:prstGeom prst="rect">
            <a:avLst/>
          </a:prstGeom>
          <a:noFill/>
          <a:ln/>
        </p:spPr>
        <p:txBody>
          <a:bodyPr wrap="square" lIns="0" tIns="0" rIns="0" bIns="0" rtlCol="0" anchor="ctr"/>
          <a:lstStyle/>
          <a:p>
            <a:pPr indent="0" marL="0">
              <a:lnSpc>
                <a:spcPct val="115000"/>
              </a:lnSpc>
              <a:buNone/>
            </a:pPr>
            <a:r>
              <a:rPr lang="en-US" sz="3400" b="1" dirty="0">
                <a:solidFill>
                  <a:srgbClr val="111111"/>
                </a:solidFill>
                <a:latin typeface="Cambria" pitchFamily="34" charset="0"/>
                <a:ea typeface="Cambria" pitchFamily="34" charset="-122"/>
                <a:cs typeface="Cambria" pitchFamily="34" charset="-120"/>
              </a:rPr>
              <a:t>Product Audit</a:t>
            </a:r>
            <a:endParaRPr lang="en-US" sz="3400" dirty="0"/>
          </a:p>
          <a:p>
            <a:pPr indent="0" marL="0">
              <a:lnSpc>
                <a:spcPct val="115000"/>
              </a:lnSpc>
              <a:buNone/>
            </a:pPr>
            <a:r>
              <a:rPr lang="en-US" sz="3400" b="1" dirty="0">
                <a:solidFill>
                  <a:srgbClr val="111111"/>
                </a:solidFill>
                <a:latin typeface="Cambria" pitchFamily="34" charset="0"/>
                <a:ea typeface="Cambria" pitchFamily="34" charset="-122"/>
                <a:cs typeface="Cambria" pitchFamily="34" charset="-120"/>
              </a:rPr>
              <a:t>&amp; Growth Proposal</a:t>
            </a:r>
            <a:endParaRPr lang="en-US" sz="3400" dirty="0"/>
          </a:p>
        </p:txBody>
      </p:sp>
      <p:sp>
        <p:nvSpPr>
          <p:cNvPr id="8" name="Text 6"/>
          <p:cNvSpPr/>
          <p:nvPr/>
        </p:nvSpPr>
        <p:spPr>
          <a:xfrm>
            <a:off x="3977640" y="3291840"/>
            <a:ext cx="4846320" cy="256032"/>
          </a:xfrm>
          <a:prstGeom prst="rect">
            <a:avLst/>
          </a:prstGeom>
          <a:noFill/>
          <a:ln/>
        </p:spPr>
        <p:txBody>
          <a:bodyPr wrap="square" lIns="0" tIns="0" rIns="0" bIns="0" rtlCol="0" anchor="ctr"/>
          <a:lstStyle/>
          <a:p>
            <a:pPr indent="0" marL="0">
              <a:buNone/>
            </a:pPr>
            <a:r>
              <a:rPr lang="en-US" sz="900" spc="120" kern="0" dirty="0">
                <a:solidFill>
                  <a:srgbClr val="6B6B6B"/>
                </a:solidFill>
                <a:latin typeface="Calibri" pitchFamily="34" charset="0"/>
                <a:ea typeface="Calibri" pitchFamily="34" charset="-122"/>
                <a:cs typeface="Calibri" pitchFamily="34" charset="-120"/>
              </a:rPr>
              <a:t>UX  ·  Conversion  ·  Performance  ·  SEO</a:t>
            </a:r>
            <a:endParaRPr lang="en-US" sz="900" dirty="0"/>
          </a:p>
        </p:txBody>
      </p:sp>
      <p:sp>
        <p:nvSpPr>
          <p:cNvPr id="9" name="Shape 7"/>
          <p:cNvSpPr/>
          <p:nvPr/>
        </p:nvSpPr>
        <p:spPr>
          <a:xfrm>
            <a:off x="3977640" y="3621024"/>
            <a:ext cx="3931920" cy="27432"/>
          </a:xfrm>
          <a:prstGeom prst="rect">
            <a:avLst/>
          </a:prstGeom>
          <a:solidFill>
            <a:srgbClr val="C9A84C"/>
          </a:solidFill>
          <a:ln w="12700">
            <a:solidFill>
              <a:srgbClr val="C9A84C"/>
            </a:solidFill>
            <a:prstDash val="solid"/>
          </a:ln>
        </p:spPr>
      </p:sp>
      <p:sp>
        <p:nvSpPr>
          <p:cNvPr id="10" name="Text 8"/>
          <p:cNvSpPr/>
          <p:nvPr/>
        </p:nvSpPr>
        <p:spPr>
          <a:xfrm>
            <a:off x="3977640" y="3749040"/>
            <a:ext cx="4846320" cy="274320"/>
          </a:xfrm>
          <a:prstGeom prst="rect">
            <a:avLst/>
          </a:prstGeom>
          <a:noFill/>
          <a:ln/>
        </p:spPr>
        <p:txBody>
          <a:bodyPr wrap="square" lIns="0" tIns="0" rIns="0" bIns="0" rtlCol="0" anchor="ctr"/>
          <a:lstStyle/>
          <a:p>
            <a:pPr indent="0" marL="0">
              <a:buNone/>
            </a:pPr>
            <a:r>
              <a:rPr lang="en-US" sz="900" dirty="0">
                <a:solidFill>
                  <a:srgbClr val="6B6B6B"/>
                </a:solidFill>
                <a:latin typeface="Calibri" pitchFamily="34" charset="0"/>
                <a:ea typeface="Calibri" pitchFamily="34" charset="-122"/>
                <a:cs typeface="Calibri" pitchFamily="34" charset="-120"/>
              </a:rPr>
              <a:t xml:space="preserve">Prepared for the EInvite Team  ·  </a:t>
            </a:r>
            <a:pPr indent="0" marL="0">
              <a:buNone/>
            </a:pPr>
            <a:r>
              <a:rPr lang="en-US" sz="900" b="1" dirty="0">
                <a:solidFill>
                  <a:srgbClr val="C9A84C"/>
                </a:solidFill>
                <a:latin typeface="Calibri" pitchFamily="34" charset="0"/>
                <a:ea typeface="Calibri" pitchFamily="34" charset="-122"/>
                <a:cs typeface="Calibri" pitchFamily="34" charset="-120"/>
              </a:rPr>
              <a:t>June 2026</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503920" y="256032"/>
            <a:ext cx="457200" cy="228600"/>
          </a:xfrm>
          <a:prstGeom prst="rect">
            <a:avLst/>
          </a:prstGeom>
          <a:noFill/>
          <a:ln/>
        </p:spPr>
        <p:txBody>
          <a:bodyPr wrap="square" lIns="0" tIns="0" rIns="0" bIns="0" rtlCol="0" anchor="ctr"/>
          <a:lstStyle/>
          <a:p>
            <a:pPr indent="0" marL="0">
              <a:buNone/>
            </a:pPr>
            <a:r>
              <a:rPr lang="en-US" sz="800" b="1" spc="200" kern="0" dirty="0">
                <a:solidFill>
                  <a:srgbClr val="C9A84C"/>
                </a:solidFill>
                <a:latin typeface="Calibri" pitchFamily="34" charset="0"/>
                <a:ea typeface="Calibri" pitchFamily="34" charset="-122"/>
                <a:cs typeface="Calibri" pitchFamily="34" charset="-120"/>
              </a:rPr>
              <a:t>02</a:t>
            </a:r>
            <a:endParaRPr lang="en-US" sz="800" dirty="0"/>
          </a:p>
        </p:txBody>
      </p:sp>
      <p:sp>
        <p:nvSpPr>
          <p:cNvPr id="3" name="Text 1"/>
          <p:cNvSpPr/>
          <p:nvPr/>
        </p:nvSpPr>
        <p:spPr>
          <a:xfrm>
            <a:off x="457200" y="256032"/>
            <a:ext cx="5029200" cy="475488"/>
          </a:xfrm>
          <a:prstGeom prst="rect">
            <a:avLst/>
          </a:prstGeom>
          <a:noFill/>
          <a:ln/>
        </p:spPr>
        <p:txBody>
          <a:bodyPr wrap="square" lIns="0" tIns="0" rIns="0" bIns="0" rtlCol="0" anchor="ctr"/>
          <a:lstStyle/>
          <a:p>
            <a:pPr indent="0" marL="0">
              <a:buNone/>
            </a:pPr>
            <a:r>
              <a:rPr lang="en-US" sz="2600" b="1" dirty="0">
                <a:solidFill>
                  <a:srgbClr val="111111"/>
                </a:solidFill>
                <a:latin typeface="Cambria" pitchFamily="34" charset="0"/>
                <a:ea typeface="Cambria" pitchFamily="34" charset="-122"/>
                <a:cs typeface="Cambria" pitchFamily="34" charset="-120"/>
              </a:rPr>
              <a:t>Project Overview</a:t>
            </a:r>
            <a:endParaRPr lang="en-US" sz="2600" dirty="0"/>
          </a:p>
        </p:txBody>
      </p:sp>
      <p:sp>
        <p:nvSpPr>
          <p:cNvPr id="4" name="Shape 2"/>
          <p:cNvSpPr/>
          <p:nvPr/>
        </p:nvSpPr>
        <p:spPr>
          <a:xfrm>
            <a:off x="457200" y="768096"/>
            <a:ext cx="1371600" cy="27432"/>
          </a:xfrm>
          <a:prstGeom prst="rect">
            <a:avLst/>
          </a:prstGeom>
          <a:solidFill>
            <a:srgbClr val="C9A84C"/>
          </a:solidFill>
          <a:ln w="12700">
            <a:solidFill>
              <a:srgbClr val="C9A84C"/>
            </a:solidFill>
            <a:prstDash val="solid"/>
          </a:ln>
        </p:spPr>
      </p:sp>
      <p:sp>
        <p:nvSpPr>
          <p:cNvPr id="5" name="Text 3"/>
          <p:cNvSpPr/>
          <p:nvPr/>
        </p:nvSpPr>
        <p:spPr>
          <a:xfrm>
            <a:off x="457200" y="932688"/>
            <a:ext cx="4663440" cy="201168"/>
          </a:xfrm>
          <a:prstGeom prst="rect">
            <a:avLst/>
          </a:prstGeom>
          <a:noFill/>
          <a:ln/>
        </p:spPr>
        <p:txBody>
          <a:bodyPr wrap="square" lIns="0" tIns="0" rIns="0" bIns="0" rtlCol="0" anchor="ctr"/>
          <a:lstStyle/>
          <a:p>
            <a:pPr indent="0" marL="0">
              <a:buNone/>
            </a:pPr>
            <a:r>
              <a:rPr lang="en-US" sz="750" b="1" spc="400" kern="0" dirty="0">
                <a:solidFill>
                  <a:srgbClr val="C9A84C"/>
                </a:solidFill>
                <a:latin typeface="Calibri" pitchFamily="34" charset="0"/>
                <a:ea typeface="Calibri" pitchFamily="34" charset="-122"/>
                <a:cs typeface="Calibri" pitchFamily="34" charset="-120"/>
              </a:rPr>
              <a:t>OBJECTIVE</a:t>
            </a:r>
            <a:endParaRPr lang="en-US" sz="750" dirty="0"/>
          </a:p>
        </p:txBody>
      </p:sp>
      <p:sp>
        <p:nvSpPr>
          <p:cNvPr id="6" name="Text 4"/>
          <p:cNvSpPr/>
          <p:nvPr/>
        </p:nvSpPr>
        <p:spPr>
          <a:xfrm>
            <a:off x="457200" y="1161288"/>
            <a:ext cx="4663440" cy="658368"/>
          </a:xfrm>
          <a:prstGeom prst="rect">
            <a:avLst/>
          </a:prstGeom>
          <a:noFill/>
          <a:ln/>
        </p:spPr>
        <p:txBody>
          <a:bodyPr wrap="square" lIns="0" tIns="0" rIns="0" bIns="0" rtlCol="0" anchor="ctr"/>
          <a:lstStyle/>
          <a:p>
            <a:pPr indent="0" marL="0">
              <a:buNone/>
            </a:pPr>
            <a:r>
              <a:rPr lang="en-US" sz="1000" dirty="0">
                <a:solidFill>
                  <a:srgbClr val="2C2C2C"/>
                </a:solidFill>
                <a:latin typeface="Calibri" pitchFamily="34" charset="0"/>
                <a:ea typeface="Calibri" pitchFamily="34" charset="-122"/>
                <a:cs typeface="Calibri" pitchFamily="34" charset="-120"/>
              </a:rPr>
              <a:t>Conduct an independent audit of EInvite's public website to identify opportunities for improving user experience, conversion, performance, SEO, and overall product quality.</a:t>
            </a:r>
            <a:endParaRPr lang="en-US" sz="1000" dirty="0"/>
          </a:p>
        </p:txBody>
      </p:sp>
      <p:sp>
        <p:nvSpPr>
          <p:cNvPr id="7" name="Shape 5"/>
          <p:cNvSpPr/>
          <p:nvPr/>
        </p:nvSpPr>
        <p:spPr>
          <a:xfrm>
            <a:off x="457200" y="1856232"/>
            <a:ext cx="4206240" cy="18288"/>
          </a:xfrm>
          <a:prstGeom prst="rect">
            <a:avLst/>
          </a:prstGeom>
          <a:solidFill>
            <a:srgbClr val="E0E0E0"/>
          </a:solidFill>
          <a:ln w="12700">
            <a:solidFill>
              <a:srgbClr val="E0E0E0"/>
            </a:solidFill>
            <a:prstDash val="solid"/>
          </a:ln>
        </p:spPr>
      </p:sp>
      <p:sp>
        <p:nvSpPr>
          <p:cNvPr id="8" name="Text 6"/>
          <p:cNvSpPr/>
          <p:nvPr/>
        </p:nvSpPr>
        <p:spPr>
          <a:xfrm>
            <a:off x="457200" y="1947672"/>
            <a:ext cx="4663440" cy="201168"/>
          </a:xfrm>
          <a:prstGeom prst="rect">
            <a:avLst/>
          </a:prstGeom>
          <a:noFill/>
          <a:ln/>
        </p:spPr>
        <p:txBody>
          <a:bodyPr wrap="square" lIns="0" tIns="0" rIns="0" bIns="0" rtlCol="0" anchor="ctr"/>
          <a:lstStyle/>
          <a:p>
            <a:pPr indent="0" marL="0">
              <a:buNone/>
            </a:pPr>
            <a:r>
              <a:rPr lang="en-US" sz="750" b="1" spc="400" kern="0" dirty="0">
                <a:solidFill>
                  <a:srgbClr val="C9A84C"/>
                </a:solidFill>
                <a:latin typeface="Calibri" pitchFamily="34" charset="0"/>
                <a:ea typeface="Calibri" pitchFamily="34" charset="-122"/>
                <a:cs typeface="Calibri" pitchFamily="34" charset="-120"/>
              </a:rPr>
              <a:t>SCOPE</a:t>
            </a:r>
            <a:endParaRPr lang="en-US" sz="750" dirty="0"/>
          </a:p>
        </p:txBody>
      </p:sp>
      <p:sp>
        <p:nvSpPr>
          <p:cNvPr id="9" name="Text 7"/>
          <p:cNvSpPr/>
          <p:nvPr/>
        </p:nvSpPr>
        <p:spPr>
          <a:xfrm>
            <a:off x="457200" y="2167128"/>
            <a:ext cx="4663440" cy="201168"/>
          </a:xfrm>
          <a:prstGeom prst="rect">
            <a:avLst/>
          </a:prstGeom>
          <a:noFill/>
          <a:ln/>
        </p:spPr>
        <p:txBody>
          <a:bodyPr wrap="square" lIns="0" tIns="0" rIns="0" bIns="0" rtlCol="0" anchor="ctr"/>
          <a:lstStyle/>
          <a:p>
            <a:pPr indent="0" marL="0">
              <a:buNone/>
            </a:pPr>
            <a:r>
              <a:rPr lang="en-US" sz="950" dirty="0">
                <a:solidFill>
                  <a:srgbClr val="6B6B6B"/>
                </a:solidFill>
                <a:latin typeface="Calibri" pitchFamily="34" charset="0"/>
                <a:ea typeface="Calibri" pitchFamily="34" charset="-122"/>
                <a:cs typeface="Calibri" pitchFamily="34" charset="-120"/>
              </a:rPr>
              <a:t>Pages audited across the public website:</a:t>
            </a:r>
            <a:endParaRPr lang="en-US" sz="950" dirty="0"/>
          </a:p>
        </p:txBody>
      </p:sp>
      <p:sp>
        <p:nvSpPr>
          <p:cNvPr id="10" name="Shape 8"/>
          <p:cNvSpPr/>
          <p:nvPr/>
        </p:nvSpPr>
        <p:spPr>
          <a:xfrm>
            <a:off x="457200" y="2404872"/>
            <a:ext cx="859536" cy="228600"/>
          </a:xfrm>
          <a:prstGeom prst="roundRect">
            <a:avLst>
              <a:gd name="adj" fmla="val 20000"/>
            </a:avLst>
          </a:prstGeom>
          <a:solidFill>
            <a:srgbClr val="F2F2F2"/>
          </a:solidFill>
          <a:ln w="12700">
            <a:solidFill>
              <a:srgbClr val="E0E0E0"/>
            </a:solidFill>
            <a:prstDash val="solid"/>
          </a:ln>
        </p:spPr>
      </p:sp>
      <p:sp>
        <p:nvSpPr>
          <p:cNvPr id="11" name="Text 9"/>
          <p:cNvSpPr/>
          <p:nvPr/>
        </p:nvSpPr>
        <p:spPr>
          <a:xfrm>
            <a:off x="457200" y="2404872"/>
            <a:ext cx="859536" cy="228600"/>
          </a:xfrm>
          <a:prstGeom prst="rect">
            <a:avLst/>
          </a:prstGeom>
          <a:noFill/>
          <a:ln/>
        </p:spPr>
        <p:txBody>
          <a:bodyPr wrap="square" lIns="0" tIns="0" rIns="0" bIns="0" rtlCol="0" anchor="ctr"/>
          <a:lstStyle/>
          <a:p>
            <a:pPr algn="ctr" indent="0" marL="0">
              <a:buNone/>
            </a:pPr>
            <a:r>
              <a:rPr lang="en-US" sz="850" dirty="0">
                <a:solidFill>
                  <a:srgbClr val="2C2C2C"/>
                </a:solidFill>
                <a:latin typeface="Calibri" pitchFamily="34" charset="0"/>
                <a:ea typeface="Calibri" pitchFamily="34" charset="-122"/>
                <a:cs typeface="Calibri" pitchFamily="34" charset="-120"/>
              </a:rPr>
              <a:t>Homepage</a:t>
            </a:r>
            <a:endParaRPr lang="en-US" sz="850" dirty="0"/>
          </a:p>
        </p:txBody>
      </p:sp>
      <p:sp>
        <p:nvSpPr>
          <p:cNvPr id="12" name="Shape 10"/>
          <p:cNvSpPr/>
          <p:nvPr/>
        </p:nvSpPr>
        <p:spPr>
          <a:xfrm>
            <a:off x="1399032" y="2404872"/>
            <a:ext cx="859536" cy="228600"/>
          </a:xfrm>
          <a:prstGeom prst="roundRect">
            <a:avLst>
              <a:gd name="adj" fmla="val 20000"/>
            </a:avLst>
          </a:prstGeom>
          <a:solidFill>
            <a:srgbClr val="F2F2F2"/>
          </a:solidFill>
          <a:ln w="12700">
            <a:solidFill>
              <a:srgbClr val="E0E0E0"/>
            </a:solidFill>
            <a:prstDash val="solid"/>
          </a:ln>
        </p:spPr>
      </p:sp>
      <p:sp>
        <p:nvSpPr>
          <p:cNvPr id="13" name="Text 11"/>
          <p:cNvSpPr/>
          <p:nvPr/>
        </p:nvSpPr>
        <p:spPr>
          <a:xfrm>
            <a:off x="1399032" y="2404872"/>
            <a:ext cx="859536" cy="228600"/>
          </a:xfrm>
          <a:prstGeom prst="rect">
            <a:avLst/>
          </a:prstGeom>
          <a:noFill/>
          <a:ln/>
        </p:spPr>
        <p:txBody>
          <a:bodyPr wrap="square" lIns="0" tIns="0" rIns="0" bIns="0" rtlCol="0" anchor="ctr"/>
          <a:lstStyle/>
          <a:p>
            <a:pPr algn="ctr" indent="0" marL="0">
              <a:buNone/>
            </a:pPr>
            <a:r>
              <a:rPr lang="en-US" sz="850" dirty="0">
                <a:solidFill>
                  <a:srgbClr val="2C2C2C"/>
                </a:solidFill>
                <a:latin typeface="Calibri" pitchFamily="34" charset="0"/>
                <a:ea typeface="Calibri" pitchFamily="34" charset="-122"/>
                <a:cs typeface="Calibri" pitchFamily="34" charset="-120"/>
              </a:rPr>
              <a:t>Templates</a:t>
            </a:r>
            <a:endParaRPr lang="en-US" sz="850" dirty="0"/>
          </a:p>
        </p:txBody>
      </p:sp>
      <p:sp>
        <p:nvSpPr>
          <p:cNvPr id="14" name="Shape 12"/>
          <p:cNvSpPr/>
          <p:nvPr/>
        </p:nvSpPr>
        <p:spPr>
          <a:xfrm>
            <a:off x="2340864" y="2404872"/>
            <a:ext cx="859536" cy="228600"/>
          </a:xfrm>
          <a:prstGeom prst="roundRect">
            <a:avLst>
              <a:gd name="adj" fmla="val 20000"/>
            </a:avLst>
          </a:prstGeom>
          <a:solidFill>
            <a:srgbClr val="F2F2F2"/>
          </a:solidFill>
          <a:ln w="12700">
            <a:solidFill>
              <a:srgbClr val="E0E0E0"/>
            </a:solidFill>
            <a:prstDash val="solid"/>
          </a:ln>
        </p:spPr>
      </p:sp>
      <p:sp>
        <p:nvSpPr>
          <p:cNvPr id="15" name="Text 13"/>
          <p:cNvSpPr/>
          <p:nvPr/>
        </p:nvSpPr>
        <p:spPr>
          <a:xfrm>
            <a:off x="2340864" y="2404872"/>
            <a:ext cx="859536" cy="228600"/>
          </a:xfrm>
          <a:prstGeom prst="rect">
            <a:avLst/>
          </a:prstGeom>
          <a:noFill/>
          <a:ln/>
        </p:spPr>
        <p:txBody>
          <a:bodyPr wrap="square" lIns="0" tIns="0" rIns="0" bIns="0" rtlCol="0" anchor="ctr"/>
          <a:lstStyle/>
          <a:p>
            <a:pPr algn="ctr" indent="0" marL="0">
              <a:buNone/>
            </a:pPr>
            <a:r>
              <a:rPr lang="en-US" sz="850" dirty="0">
                <a:solidFill>
                  <a:srgbClr val="2C2C2C"/>
                </a:solidFill>
                <a:latin typeface="Calibri" pitchFamily="34" charset="0"/>
                <a:ea typeface="Calibri" pitchFamily="34" charset="-122"/>
                <a:cs typeface="Calibri" pitchFamily="34" charset="-120"/>
              </a:rPr>
              <a:t>Pricing</a:t>
            </a:r>
            <a:endParaRPr lang="en-US" sz="850" dirty="0"/>
          </a:p>
        </p:txBody>
      </p:sp>
      <p:sp>
        <p:nvSpPr>
          <p:cNvPr id="16" name="Shape 14"/>
          <p:cNvSpPr/>
          <p:nvPr/>
        </p:nvSpPr>
        <p:spPr>
          <a:xfrm>
            <a:off x="3282696" y="2404872"/>
            <a:ext cx="859536" cy="228600"/>
          </a:xfrm>
          <a:prstGeom prst="roundRect">
            <a:avLst>
              <a:gd name="adj" fmla="val 20000"/>
            </a:avLst>
          </a:prstGeom>
          <a:solidFill>
            <a:srgbClr val="F2F2F2"/>
          </a:solidFill>
          <a:ln w="12700">
            <a:solidFill>
              <a:srgbClr val="E0E0E0"/>
            </a:solidFill>
            <a:prstDash val="solid"/>
          </a:ln>
        </p:spPr>
      </p:sp>
      <p:sp>
        <p:nvSpPr>
          <p:cNvPr id="17" name="Text 15"/>
          <p:cNvSpPr/>
          <p:nvPr/>
        </p:nvSpPr>
        <p:spPr>
          <a:xfrm>
            <a:off x="3282696" y="2404872"/>
            <a:ext cx="859536" cy="228600"/>
          </a:xfrm>
          <a:prstGeom prst="rect">
            <a:avLst/>
          </a:prstGeom>
          <a:noFill/>
          <a:ln/>
        </p:spPr>
        <p:txBody>
          <a:bodyPr wrap="square" lIns="0" tIns="0" rIns="0" bIns="0" rtlCol="0" anchor="ctr"/>
          <a:lstStyle/>
          <a:p>
            <a:pPr algn="ctr" indent="0" marL="0">
              <a:buNone/>
            </a:pPr>
            <a:r>
              <a:rPr lang="en-US" sz="850" dirty="0">
                <a:solidFill>
                  <a:srgbClr val="2C2C2C"/>
                </a:solidFill>
                <a:latin typeface="Calibri" pitchFamily="34" charset="0"/>
                <a:ea typeface="Calibri" pitchFamily="34" charset="-122"/>
                <a:cs typeface="Calibri" pitchFamily="34" charset="-120"/>
              </a:rPr>
              <a:t>Articles</a:t>
            </a:r>
            <a:endParaRPr lang="en-US" sz="850" dirty="0"/>
          </a:p>
        </p:txBody>
      </p:sp>
      <p:sp>
        <p:nvSpPr>
          <p:cNvPr id="18" name="Shape 16"/>
          <p:cNvSpPr/>
          <p:nvPr/>
        </p:nvSpPr>
        <p:spPr>
          <a:xfrm>
            <a:off x="4224528" y="2404872"/>
            <a:ext cx="859536" cy="228600"/>
          </a:xfrm>
          <a:prstGeom prst="roundRect">
            <a:avLst>
              <a:gd name="adj" fmla="val 20000"/>
            </a:avLst>
          </a:prstGeom>
          <a:solidFill>
            <a:srgbClr val="F2F2F2"/>
          </a:solidFill>
          <a:ln w="12700">
            <a:solidFill>
              <a:srgbClr val="E0E0E0"/>
            </a:solidFill>
            <a:prstDash val="solid"/>
          </a:ln>
        </p:spPr>
      </p:sp>
      <p:sp>
        <p:nvSpPr>
          <p:cNvPr id="19" name="Text 17"/>
          <p:cNvSpPr/>
          <p:nvPr/>
        </p:nvSpPr>
        <p:spPr>
          <a:xfrm>
            <a:off x="4224528" y="2404872"/>
            <a:ext cx="859536" cy="228600"/>
          </a:xfrm>
          <a:prstGeom prst="rect">
            <a:avLst/>
          </a:prstGeom>
          <a:noFill/>
          <a:ln/>
        </p:spPr>
        <p:txBody>
          <a:bodyPr wrap="square" lIns="0" tIns="0" rIns="0" bIns="0" rtlCol="0" anchor="ctr"/>
          <a:lstStyle/>
          <a:p>
            <a:pPr algn="ctr" indent="0" marL="0">
              <a:buNone/>
            </a:pPr>
            <a:r>
              <a:rPr lang="en-US" sz="850" dirty="0">
                <a:solidFill>
                  <a:srgbClr val="2C2C2C"/>
                </a:solidFill>
                <a:latin typeface="Calibri" pitchFamily="34" charset="0"/>
                <a:ea typeface="Calibri" pitchFamily="34" charset="-122"/>
                <a:cs typeface="Calibri" pitchFamily="34" charset="-120"/>
              </a:rPr>
              <a:t>FAQ</a:t>
            </a:r>
            <a:endParaRPr lang="en-US" sz="850" dirty="0"/>
          </a:p>
        </p:txBody>
      </p:sp>
      <p:sp>
        <p:nvSpPr>
          <p:cNvPr id="20" name="Shape 18"/>
          <p:cNvSpPr/>
          <p:nvPr/>
        </p:nvSpPr>
        <p:spPr>
          <a:xfrm>
            <a:off x="457200" y="2715768"/>
            <a:ext cx="859536" cy="228600"/>
          </a:xfrm>
          <a:prstGeom prst="roundRect">
            <a:avLst>
              <a:gd name="adj" fmla="val 20000"/>
            </a:avLst>
          </a:prstGeom>
          <a:solidFill>
            <a:srgbClr val="F2F2F2"/>
          </a:solidFill>
          <a:ln w="12700">
            <a:solidFill>
              <a:srgbClr val="E0E0E0"/>
            </a:solidFill>
            <a:prstDash val="solid"/>
          </a:ln>
        </p:spPr>
      </p:sp>
      <p:sp>
        <p:nvSpPr>
          <p:cNvPr id="21" name="Text 19"/>
          <p:cNvSpPr/>
          <p:nvPr/>
        </p:nvSpPr>
        <p:spPr>
          <a:xfrm>
            <a:off x="457200" y="2715768"/>
            <a:ext cx="859536" cy="228600"/>
          </a:xfrm>
          <a:prstGeom prst="rect">
            <a:avLst/>
          </a:prstGeom>
          <a:noFill/>
          <a:ln/>
        </p:spPr>
        <p:txBody>
          <a:bodyPr wrap="square" lIns="0" tIns="0" rIns="0" bIns="0" rtlCol="0" anchor="ctr"/>
          <a:lstStyle/>
          <a:p>
            <a:pPr algn="ctr" indent="0" marL="0">
              <a:buNone/>
            </a:pPr>
            <a:r>
              <a:rPr lang="en-US" sz="850" dirty="0">
                <a:solidFill>
                  <a:srgbClr val="2C2C2C"/>
                </a:solidFill>
                <a:latin typeface="Calibri" pitchFamily="34" charset="0"/>
                <a:ea typeface="Calibri" pitchFamily="34" charset="-122"/>
                <a:cs typeface="Calibri" pitchFamily="34" charset="-120"/>
              </a:rPr>
              <a:t>Contact</a:t>
            </a:r>
            <a:endParaRPr lang="en-US" sz="850" dirty="0"/>
          </a:p>
        </p:txBody>
      </p:sp>
      <p:sp>
        <p:nvSpPr>
          <p:cNvPr id="22" name="Shape 20"/>
          <p:cNvSpPr/>
          <p:nvPr/>
        </p:nvSpPr>
        <p:spPr>
          <a:xfrm>
            <a:off x="1399032" y="2715768"/>
            <a:ext cx="859536" cy="228600"/>
          </a:xfrm>
          <a:prstGeom prst="roundRect">
            <a:avLst>
              <a:gd name="adj" fmla="val 20000"/>
            </a:avLst>
          </a:prstGeom>
          <a:solidFill>
            <a:srgbClr val="F2F2F2"/>
          </a:solidFill>
          <a:ln w="12700">
            <a:solidFill>
              <a:srgbClr val="E0E0E0"/>
            </a:solidFill>
            <a:prstDash val="solid"/>
          </a:ln>
        </p:spPr>
      </p:sp>
      <p:sp>
        <p:nvSpPr>
          <p:cNvPr id="23" name="Text 21"/>
          <p:cNvSpPr/>
          <p:nvPr/>
        </p:nvSpPr>
        <p:spPr>
          <a:xfrm>
            <a:off x="1399032" y="2715768"/>
            <a:ext cx="859536" cy="228600"/>
          </a:xfrm>
          <a:prstGeom prst="rect">
            <a:avLst/>
          </a:prstGeom>
          <a:noFill/>
          <a:ln/>
        </p:spPr>
        <p:txBody>
          <a:bodyPr wrap="square" lIns="0" tIns="0" rIns="0" bIns="0" rtlCol="0" anchor="ctr"/>
          <a:lstStyle/>
          <a:p>
            <a:pPr algn="ctr" indent="0" marL="0">
              <a:buNone/>
            </a:pPr>
            <a:r>
              <a:rPr lang="en-US" sz="850" dirty="0">
                <a:solidFill>
                  <a:srgbClr val="2C2C2C"/>
                </a:solidFill>
                <a:latin typeface="Calibri" pitchFamily="34" charset="0"/>
                <a:ea typeface="Calibri" pitchFamily="34" charset="-122"/>
                <a:cs typeface="Calibri" pitchFamily="34" charset="-120"/>
              </a:rPr>
              <a:t>About</a:t>
            </a:r>
            <a:endParaRPr lang="en-US" sz="850" dirty="0"/>
          </a:p>
        </p:txBody>
      </p:sp>
      <p:sp>
        <p:nvSpPr>
          <p:cNvPr id="24" name="Shape 22"/>
          <p:cNvSpPr/>
          <p:nvPr/>
        </p:nvSpPr>
        <p:spPr>
          <a:xfrm>
            <a:off x="2340864" y="2715768"/>
            <a:ext cx="859536" cy="228600"/>
          </a:xfrm>
          <a:prstGeom prst="roundRect">
            <a:avLst>
              <a:gd name="adj" fmla="val 20000"/>
            </a:avLst>
          </a:prstGeom>
          <a:solidFill>
            <a:srgbClr val="F2F2F2"/>
          </a:solidFill>
          <a:ln w="12700">
            <a:solidFill>
              <a:srgbClr val="E0E0E0"/>
            </a:solidFill>
            <a:prstDash val="solid"/>
          </a:ln>
        </p:spPr>
      </p:sp>
      <p:sp>
        <p:nvSpPr>
          <p:cNvPr id="25" name="Text 23"/>
          <p:cNvSpPr/>
          <p:nvPr/>
        </p:nvSpPr>
        <p:spPr>
          <a:xfrm>
            <a:off x="2340864" y="2715768"/>
            <a:ext cx="859536" cy="228600"/>
          </a:xfrm>
          <a:prstGeom prst="rect">
            <a:avLst/>
          </a:prstGeom>
          <a:noFill/>
          <a:ln/>
        </p:spPr>
        <p:txBody>
          <a:bodyPr wrap="square" lIns="0" tIns="0" rIns="0" bIns="0" rtlCol="0" anchor="ctr"/>
          <a:lstStyle/>
          <a:p>
            <a:pPr algn="ctr" indent="0" marL="0">
              <a:buNone/>
            </a:pPr>
            <a:r>
              <a:rPr lang="en-US" sz="850" dirty="0">
                <a:solidFill>
                  <a:srgbClr val="2C2C2C"/>
                </a:solidFill>
                <a:latin typeface="Calibri" pitchFamily="34" charset="0"/>
                <a:ea typeface="Calibri" pitchFamily="34" charset="-122"/>
                <a:cs typeface="Calibri" pitchFamily="34" charset="-120"/>
              </a:rPr>
              <a:t>Live Demo</a:t>
            </a:r>
            <a:endParaRPr lang="en-US" sz="850" dirty="0"/>
          </a:p>
        </p:txBody>
      </p:sp>
      <p:sp>
        <p:nvSpPr>
          <p:cNvPr id="26" name="Shape 24"/>
          <p:cNvSpPr/>
          <p:nvPr/>
        </p:nvSpPr>
        <p:spPr>
          <a:xfrm>
            <a:off x="3282696" y="2715768"/>
            <a:ext cx="859536" cy="228600"/>
          </a:xfrm>
          <a:prstGeom prst="roundRect">
            <a:avLst>
              <a:gd name="adj" fmla="val 20000"/>
            </a:avLst>
          </a:prstGeom>
          <a:solidFill>
            <a:srgbClr val="F2F2F2"/>
          </a:solidFill>
          <a:ln w="12700">
            <a:solidFill>
              <a:srgbClr val="E0E0E0"/>
            </a:solidFill>
            <a:prstDash val="solid"/>
          </a:ln>
        </p:spPr>
      </p:sp>
      <p:sp>
        <p:nvSpPr>
          <p:cNvPr id="27" name="Text 25"/>
          <p:cNvSpPr/>
          <p:nvPr/>
        </p:nvSpPr>
        <p:spPr>
          <a:xfrm>
            <a:off x="3282696" y="2715768"/>
            <a:ext cx="859536" cy="228600"/>
          </a:xfrm>
          <a:prstGeom prst="rect">
            <a:avLst/>
          </a:prstGeom>
          <a:noFill/>
          <a:ln/>
        </p:spPr>
        <p:txBody>
          <a:bodyPr wrap="square" lIns="0" tIns="0" rIns="0" bIns="0" rtlCol="0" anchor="ctr"/>
          <a:lstStyle/>
          <a:p>
            <a:pPr algn="ctr" indent="0" marL="0">
              <a:buNone/>
            </a:pPr>
            <a:r>
              <a:rPr lang="en-US" sz="850" dirty="0">
                <a:solidFill>
                  <a:srgbClr val="2C2C2C"/>
                </a:solidFill>
                <a:latin typeface="Calibri" pitchFamily="34" charset="0"/>
                <a:ea typeface="Calibri" pitchFamily="34" charset="-122"/>
                <a:cs typeface="Calibri" pitchFamily="34" charset="-120"/>
              </a:rPr>
              <a:t>Signup</a:t>
            </a:r>
            <a:endParaRPr lang="en-US" sz="850" dirty="0"/>
          </a:p>
        </p:txBody>
      </p:sp>
      <p:sp>
        <p:nvSpPr>
          <p:cNvPr id="28" name="Shape 26"/>
          <p:cNvSpPr/>
          <p:nvPr/>
        </p:nvSpPr>
        <p:spPr>
          <a:xfrm>
            <a:off x="457200" y="2990088"/>
            <a:ext cx="4206240" cy="18288"/>
          </a:xfrm>
          <a:prstGeom prst="rect">
            <a:avLst/>
          </a:prstGeom>
          <a:solidFill>
            <a:srgbClr val="E0E0E0"/>
          </a:solidFill>
          <a:ln w="12700">
            <a:solidFill>
              <a:srgbClr val="E0E0E0"/>
            </a:solidFill>
            <a:prstDash val="solid"/>
          </a:ln>
        </p:spPr>
      </p:sp>
      <p:sp>
        <p:nvSpPr>
          <p:cNvPr id="29" name="Text 27"/>
          <p:cNvSpPr/>
          <p:nvPr/>
        </p:nvSpPr>
        <p:spPr>
          <a:xfrm>
            <a:off x="457200" y="3063240"/>
            <a:ext cx="4663440" cy="201168"/>
          </a:xfrm>
          <a:prstGeom prst="rect">
            <a:avLst/>
          </a:prstGeom>
          <a:noFill/>
          <a:ln/>
        </p:spPr>
        <p:txBody>
          <a:bodyPr wrap="square" lIns="0" tIns="0" rIns="0" bIns="0" rtlCol="0" anchor="ctr"/>
          <a:lstStyle/>
          <a:p>
            <a:pPr indent="0" marL="0">
              <a:buNone/>
            </a:pPr>
            <a:r>
              <a:rPr lang="en-US" sz="750" b="1" spc="400" kern="0" dirty="0">
                <a:solidFill>
                  <a:srgbClr val="C9A84C"/>
                </a:solidFill>
                <a:latin typeface="Calibri" pitchFamily="34" charset="0"/>
                <a:ea typeface="Calibri" pitchFamily="34" charset="-122"/>
                <a:cs typeface="Calibri" pitchFamily="34" charset="-120"/>
              </a:rPr>
              <a:t>DELIVERABLES</a:t>
            </a:r>
            <a:endParaRPr lang="en-US" sz="750" dirty="0"/>
          </a:p>
        </p:txBody>
      </p:sp>
      <p:sp>
        <p:nvSpPr>
          <p:cNvPr id="30" name="Shape 28"/>
          <p:cNvSpPr/>
          <p:nvPr/>
        </p:nvSpPr>
        <p:spPr>
          <a:xfrm>
            <a:off x="457200" y="3328416"/>
            <a:ext cx="137160" cy="137160"/>
          </a:xfrm>
          <a:prstGeom prst="ellipse">
            <a:avLst/>
          </a:prstGeom>
          <a:solidFill>
            <a:srgbClr val="C9A84C"/>
          </a:solidFill>
          <a:ln w="12700">
            <a:solidFill>
              <a:srgbClr val="C9A84C"/>
            </a:solidFill>
            <a:prstDash val="solid"/>
          </a:ln>
        </p:spPr>
      </p:sp>
      <p:sp>
        <p:nvSpPr>
          <p:cNvPr id="31" name="Text 29"/>
          <p:cNvSpPr/>
          <p:nvPr/>
        </p:nvSpPr>
        <p:spPr>
          <a:xfrm>
            <a:off x="457200" y="3310128"/>
            <a:ext cx="137160" cy="164592"/>
          </a:xfrm>
          <a:prstGeom prst="rect">
            <a:avLst/>
          </a:prstGeom>
          <a:noFill/>
          <a:ln/>
        </p:spPr>
        <p:txBody>
          <a:bodyPr wrap="square" lIns="0" tIns="0" rIns="0" bIns="0" rtlCol="0" anchor="ctr"/>
          <a:lstStyle/>
          <a:p>
            <a:pPr algn="ctr" indent="0" marL="0">
              <a:buNone/>
            </a:pPr>
            <a:r>
              <a:rPr lang="en-US" sz="650" b="1" dirty="0">
                <a:solidFill>
                  <a:srgbClr val="FFFFFF"/>
                </a:solidFill>
                <a:latin typeface="Calibri" pitchFamily="34" charset="0"/>
                <a:ea typeface="Calibri" pitchFamily="34" charset="-122"/>
                <a:cs typeface="Calibri" pitchFamily="34" charset="-120"/>
              </a:rPr>
              <a:t>✓</a:t>
            </a:r>
            <a:endParaRPr lang="en-US" sz="650" dirty="0"/>
          </a:p>
        </p:txBody>
      </p:sp>
      <p:sp>
        <p:nvSpPr>
          <p:cNvPr id="32" name="Text 30"/>
          <p:cNvSpPr/>
          <p:nvPr/>
        </p:nvSpPr>
        <p:spPr>
          <a:xfrm>
            <a:off x="667512" y="3300984"/>
            <a:ext cx="4389120" cy="182880"/>
          </a:xfrm>
          <a:prstGeom prst="rect">
            <a:avLst/>
          </a:prstGeom>
          <a:noFill/>
          <a:ln/>
        </p:spPr>
        <p:txBody>
          <a:bodyPr wrap="square" lIns="0" tIns="0" rIns="0" bIns="0" rtlCol="0" anchor="ctr"/>
          <a:lstStyle/>
          <a:p>
            <a:pPr indent="0" marL="0">
              <a:buNone/>
            </a:pPr>
            <a:r>
              <a:rPr lang="en-US" sz="950" dirty="0">
                <a:solidFill>
                  <a:srgbClr val="2C2C2C"/>
                </a:solidFill>
                <a:latin typeface="Calibri" pitchFamily="34" charset="0"/>
                <a:ea typeface="Calibri" pitchFamily="34" charset="-122"/>
                <a:cs typeface="Calibri" pitchFamily="34" charset="-120"/>
              </a:rPr>
              <a:t>Comprehensive Product Audit</a:t>
            </a:r>
            <a:endParaRPr lang="en-US" sz="950" dirty="0"/>
          </a:p>
        </p:txBody>
      </p:sp>
      <p:sp>
        <p:nvSpPr>
          <p:cNvPr id="33" name="Shape 31"/>
          <p:cNvSpPr/>
          <p:nvPr/>
        </p:nvSpPr>
        <p:spPr>
          <a:xfrm>
            <a:off x="457200" y="3525012"/>
            <a:ext cx="137160" cy="137160"/>
          </a:xfrm>
          <a:prstGeom prst="ellipse">
            <a:avLst/>
          </a:prstGeom>
          <a:solidFill>
            <a:srgbClr val="C9A84C"/>
          </a:solidFill>
          <a:ln w="12700">
            <a:solidFill>
              <a:srgbClr val="C9A84C"/>
            </a:solidFill>
            <a:prstDash val="solid"/>
          </a:ln>
        </p:spPr>
      </p:sp>
      <p:sp>
        <p:nvSpPr>
          <p:cNvPr id="34" name="Text 32"/>
          <p:cNvSpPr/>
          <p:nvPr/>
        </p:nvSpPr>
        <p:spPr>
          <a:xfrm>
            <a:off x="457200" y="3506724"/>
            <a:ext cx="137160" cy="164592"/>
          </a:xfrm>
          <a:prstGeom prst="rect">
            <a:avLst/>
          </a:prstGeom>
          <a:noFill/>
          <a:ln/>
        </p:spPr>
        <p:txBody>
          <a:bodyPr wrap="square" lIns="0" tIns="0" rIns="0" bIns="0" rtlCol="0" anchor="ctr"/>
          <a:lstStyle/>
          <a:p>
            <a:pPr algn="ctr" indent="0" marL="0">
              <a:buNone/>
            </a:pPr>
            <a:r>
              <a:rPr lang="en-US" sz="650" b="1" dirty="0">
                <a:solidFill>
                  <a:srgbClr val="FFFFFF"/>
                </a:solidFill>
                <a:latin typeface="Calibri" pitchFamily="34" charset="0"/>
                <a:ea typeface="Calibri" pitchFamily="34" charset="-122"/>
                <a:cs typeface="Calibri" pitchFamily="34" charset="-120"/>
              </a:rPr>
              <a:t>✓</a:t>
            </a:r>
            <a:endParaRPr lang="en-US" sz="650" dirty="0"/>
          </a:p>
        </p:txBody>
      </p:sp>
      <p:sp>
        <p:nvSpPr>
          <p:cNvPr id="35" name="Text 33"/>
          <p:cNvSpPr/>
          <p:nvPr/>
        </p:nvSpPr>
        <p:spPr>
          <a:xfrm>
            <a:off x="667512" y="3497580"/>
            <a:ext cx="4389120" cy="182880"/>
          </a:xfrm>
          <a:prstGeom prst="rect">
            <a:avLst/>
          </a:prstGeom>
          <a:noFill/>
          <a:ln/>
        </p:spPr>
        <p:txBody>
          <a:bodyPr wrap="square" lIns="0" tIns="0" rIns="0" bIns="0" rtlCol="0" anchor="ctr"/>
          <a:lstStyle/>
          <a:p>
            <a:pPr indent="0" marL="0">
              <a:buNone/>
            </a:pPr>
            <a:r>
              <a:rPr lang="en-US" sz="950" dirty="0">
                <a:solidFill>
                  <a:srgbClr val="2C2C2C"/>
                </a:solidFill>
                <a:latin typeface="Calibri" pitchFamily="34" charset="0"/>
                <a:ea typeface="Calibri" pitchFamily="34" charset="-122"/>
                <a:cs typeface="Calibri" pitchFamily="34" charset="-120"/>
              </a:rPr>
              <a:t>Pricing Page Redesign (Implemented)</a:t>
            </a:r>
            <a:endParaRPr lang="en-US" sz="950" dirty="0"/>
          </a:p>
        </p:txBody>
      </p:sp>
      <p:sp>
        <p:nvSpPr>
          <p:cNvPr id="36" name="Shape 34"/>
          <p:cNvSpPr/>
          <p:nvPr/>
        </p:nvSpPr>
        <p:spPr>
          <a:xfrm>
            <a:off x="457200" y="3721608"/>
            <a:ext cx="137160" cy="137160"/>
          </a:xfrm>
          <a:prstGeom prst="ellipse">
            <a:avLst/>
          </a:prstGeom>
          <a:solidFill>
            <a:srgbClr val="C9A84C"/>
          </a:solidFill>
          <a:ln w="12700">
            <a:solidFill>
              <a:srgbClr val="C9A84C"/>
            </a:solidFill>
            <a:prstDash val="solid"/>
          </a:ln>
        </p:spPr>
      </p:sp>
      <p:sp>
        <p:nvSpPr>
          <p:cNvPr id="37" name="Text 35"/>
          <p:cNvSpPr/>
          <p:nvPr/>
        </p:nvSpPr>
        <p:spPr>
          <a:xfrm>
            <a:off x="457200" y="3703320"/>
            <a:ext cx="137160" cy="164592"/>
          </a:xfrm>
          <a:prstGeom prst="rect">
            <a:avLst/>
          </a:prstGeom>
          <a:noFill/>
          <a:ln/>
        </p:spPr>
        <p:txBody>
          <a:bodyPr wrap="square" lIns="0" tIns="0" rIns="0" bIns="0" rtlCol="0" anchor="ctr"/>
          <a:lstStyle/>
          <a:p>
            <a:pPr algn="ctr" indent="0" marL="0">
              <a:buNone/>
            </a:pPr>
            <a:r>
              <a:rPr lang="en-US" sz="650" b="1" dirty="0">
                <a:solidFill>
                  <a:srgbClr val="FFFFFF"/>
                </a:solidFill>
                <a:latin typeface="Calibri" pitchFamily="34" charset="0"/>
                <a:ea typeface="Calibri" pitchFamily="34" charset="-122"/>
                <a:cs typeface="Calibri" pitchFamily="34" charset="-120"/>
              </a:rPr>
              <a:t>✓</a:t>
            </a:r>
            <a:endParaRPr lang="en-US" sz="650" dirty="0"/>
          </a:p>
        </p:txBody>
      </p:sp>
      <p:sp>
        <p:nvSpPr>
          <p:cNvPr id="38" name="Text 36"/>
          <p:cNvSpPr/>
          <p:nvPr/>
        </p:nvSpPr>
        <p:spPr>
          <a:xfrm>
            <a:off x="667512" y="3694176"/>
            <a:ext cx="4389120" cy="182880"/>
          </a:xfrm>
          <a:prstGeom prst="rect">
            <a:avLst/>
          </a:prstGeom>
          <a:noFill/>
          <a:ln/>
        </p:spPr>
        <p:txBody>
          <a:bodyPr wrap="square" lIns="0" tIns="0" rIns="0" bIns="0" rtlCol="0" anchor="ctr"/>
          <a:lstStyle/>
          <a:p>
            <a:pPr indent="0" marL="0">
              <a:buNone/>
            </a:pPr>
            <a:r>
              <a:rPr lang="en-US" sz="950" dirty="0">
                <a:solidFill>
                  <a:srgbClr val="2C2C2C"/>
                </a:solidFill>
                <a:latin typeface="Calibri" pitchFamily="34" charset="0"/>
                <a:ea typeface="Calibri" pitchFamily="34" charset="-122"/>
                <a:cs typeface="Calibri" pitchFamily="34" charset="-120"/>
              </a:rPr>
              <a:t>Articles Page Redesign (Implemented)</a:t>
            </a:r>
            <a:endParaRPr lang="en-US" sz="950" dirty="0"/>
          </a:p>
        </p:txBody>
      </p:sp>
      <p:sp>
        <p:nvSpPr>
          <p:cNvPr id="39" name="Shape 37"/>
          <p:cNvSpPr/>
          <p:nvPr/>
        </p:nvSpPr>
        <p:spPr>
          <a:xfrm>
            <a:off x="457200" y="3918204"/>
            <a:ext cx="137160" cy="137160"/>
          </a:xfrm>
          <a:prstGeom prst="ellipse">
            <a:avLst/>
          </a:prstGeom>
          <a:solidFill>
            <a:srgbClr val="C9A84C"/>
          </a:solidFill>
          <a:ln w="12700">
            <a:solidFill>
              <a:srgbClr val="C9A84C"/>
            </a:solidFill>
            <a:prstDash val="solid"/>
          </a:ln>
        </p:spPr>
      </p:sp>
      <p:sp>
        <p:nvSpPr>
          <p:cNvPr id="40" name="Text 38"/>
          <p:cNvSpPr/>
          <p:nvPr/>
        </p:nvSpPr>
        <p:spPr>
          <a:xfrm>
            <a:off x="457200" y="3899916"/>
            <a:ext cx="137160" cy="164592"/>
          </a:xfrm>
          <a:prstGeom prst="rect">
            <a:avLst/>
          </a:prstGeom>
          <a:noFill/>
          <a:ln/>
        </p:spPr>
        <p:txBody>
          <a:bodyPr wrap="square" lIns="0" tIns="0" rIns="0" bIns="0" rtlCol="0" anchor="ctr"/>
          <a:lstStyle/>
          <a:p>
            <a:pPr algn="ctr" indent="0" marL="0">
              <a:buNone/>
            </a:pPr>
            <a:r>
              <a:rPr lang="en-US" sz="650" b="1" dirty="0">
                <a:solidFill>
                  <a:srgbClr val="FFFFFF"/>
                </a:solidFill>
                <a:latin typeface="Calibri" pitchFamily="34" charset="0"/>
                <a:ea typeface="Calibri" pitchFamily="34" charset="-122"/>
                <a:cs typeface="Calibri" pitchFamily="34" charset="-120"/>
              </a:rPr>
              <a:t>✓</a:t>
            </a:r>
            <a:endParaRPr lang="en-US" sz="650" dirty="0"/>
          </a:p>
        </p:txBody>
      </p:sp>
      <p:sp>
        <p:nvSpPr>
          <p:cNvPr id="41" name="Text 39"/>
          <p:cNvSpPr/>
          <p:nvPr/>
        </p:nvSpPr>
        <p:spPr>
          <a:xfrm>
            <a:off x="667512" y="3890772"/>
            <a:ext cx="4389120" cy="182880"/>
          </a:xfrm>
          <a:prstGeom prst="rect">
            <a:avLst/>
          </a:prstGeom>
          <a:noFill/>
          <a:ln/>
        </p:spPr>
        <p:txBody>
          <a:bodyPr wrap="square" lIns="0" tIns="0" rIns="0" bIns="0" rtlCol="0" anchor="ctr"/>
          <a:lstStyle/>
          <a:p>
            <a:pPr indent="0" marL="0">
              <a:buNone/>
            </a:pPr>
            <a:r>
              <a:rPr lang="en-US" sz="950" dirty="0">
                <a:solidFill>
                  <a:srgbClr val="2C2C2C"/>
                </a:solidFill>
                <a:latin typeface="Calibri" pitchFamily="34" charset="0"/>
                <a:ea typeface="Calibri" pitchFamily="34" charset="-122"/>
                <a:cs typeface="Calibri" pitchFamily="34" charset="-120"/>
              </a:rPr>
              <a:t>Performance &amp; Lighthouse Analysis</a:t>
            </a:r>
            <a:endParaRPr lang="en-US" sz="950" dirty="0"/>
          </a:p>
        </p:txBody>
      </p:sp>
      <p:sp>
        <p:nvSpPr>
          <p:cNvPr id="42" name="Shape 40"/>
          <p:cNvSpPr/>
          <p:nvPr/>
        </p:nvSpPr>
        <p:spPr>
          <a:xfrm>
            <a:off x="457200" y="4114800"/>
            <a:ext cx="137160" cy="137160"/>
          </a:xfrm>
          <a:prstGeom prst="ellipse">
            <a:avLst/>
          </a:prstGeom>
          <a:solidFill>
            <a:srgbClr val="C9A84C"/>
          </a:solidFill>
          <a:ln w="12700">
            <a:solidFill>
              <a:srgbClr val="C9A84C"/>
            </a:solidFill>
            <a:prstDash val="solid"/>
          </a:ln>
        </p:spPr>
      </p:sp>
      <p:sp>
        <p:nvSpPr>
          <p:cNvPr id="43" name="Text 41"/>
          <p:cNvSpPr/>
          <p:nvPr/>
        </p:nvSpPr>
        <p:spPr>
          <a:xfrm>
            <a:off x="457200" y="4096512"/>
            <a:ext cx="137160" cy="164592"/>
          </a:xfrm>
          <a:prstGeom prst="rect">
            <a:avLst/>
          </a:prstGeom>
          <a:noFill/>
          <a:ln/>
        </p:spPr>
        <p:txBody>
          <a:bodyPr wrap="square" lIns="0" tIns="0" rIns="0" bIns="0" rtlCol="0" anchor="ctr"/>
          <a:lstStyle/>
          <a:p>
            <a:pPr algn="ctr" indent="0" marL="0">
              <a:buNone/>
            </a:pPr>
            <a:r>
              <a:rPr lang="en-US" sz="650" b="1" dirty="0">
                <a:solidFill>
                  <a:srgbClr val="FFFFFF"/>
                </a:solidFill>
                <a:latin typeface="Calibri" pitchFamily="34" charset="0"/>
                <a:ea typeface="Calibri" pitchFamily="34" charset="-122"/>
                <a:cs typeface="Calibri" pitchFamily="34" charset="-120"/>
              </a:rPr>
              <a:t>✓</a:t>
            </a:r>
            <a:endParaRPr lang="en-US" sz="650" dirty="0"/>
          </a:p>
        </p:txBody>
      </p:sp>
      <p:sp>
        <p:nvSpPr>
          <p:cNvPr id="44" name="Text 42"/>
          <p:cNvSpPr/>
          <p:nvPr/>
        </p:nvSpPr>
        <p:spPr>
          <a:xfrm>
            <a:off x="667512" y="4087368"/>
            <a:ext cx="4389120" cy="182880"/>
          </a:xfrm>
          <a:prstGeom prst="rect">
            <a:avLst/>
          </a:prstGeom>
          <a:noFill/>
          <a:ln/>
        </p:spPr>
        <p:txBody>
          <a:bodyPr wrap="square" lIns="0" tIns="0" rIns="0" bIns="0" rtlCol="0" anchor="ctr"/>
          <a:lstStyle/>
          <a:p>
            <a:pPr indent="0" marL="0">
              <a:buNone/>
            </a:pPr>
            <a:r>
              <a:rPr lang="en-US" sz="950" dirty="0">
                <a:solidFill>
                  <a:srgbClr val="2C2C2C"/>
                </a:solidFill>
                <a:latin typeface="Calibri" pitchFamily="34" charset="0"/>
                <a:ea typeface="Calibri" pitchFamily="34" charset="-122"/>
                <a:cs typeface="Calibri" pitchFamily="34" charset="-120"/>
              </a:rPr>
              <a:t>Technical Recommendations</a:t>
            </a:r>
            <a:endParaRPr lang="en-US" sz="950" dirty="0"/>
          </a:p>
        </p:txBody>
      </p:sp>
      <p:sp>
        <p:nvSpPr>
          <p:cNvPr id="45" name="Shape 43"/>
          <p:cNvSpPr/>
          <p:nvPr/>
        </p:nvSpPr>
        <p:spPr>
          <a:xfrm>
            <a:off x="457200" y="4311396"/>
            <a:ext cx="137160" cy="137160"/>
          </a:xfrm>
          <a:prstGeom prst="ellipse">
            <a:avLst/>
          </a:prstGeom>
          <a:solidFill>
            <a:srgbClr val="C9A84C"/>
          </a:solidFill>
          <a:ln w="12700">
            <a:solidFill>
              <a:srgbClr val="C9A84C"/>
            </a:solidFill>
            <a:prstDash val="solid"/>
          </a:ln>
        </p:spPr>
      </p:sp>
      <p:sp>
        <p:nvSpPr>
          <p:cNvPr id="46" name="Text 44"/>
          <p:cNvSpPr/>
          <p:nvPr/>
        </p:nvSpPr>
        <p:spPr>
          <a:xfrm>
            <a:off x="457200" y="4293108"/>
            <a:ext cx="137160" cy="164592"/>
          </a:xfrm>
          <a:prstGeom prst="rect">
            <a:avLst/>
          </a:prstGeom>
          <a:noFill/>
          <a:ln/>
        </p:spPr>
        <p:txBody>
          <a:bodyPr wrap="square" lIns="0" tIns="0" rIns="0" bIns="0" rtlCol="0" anchor="ctr"/>
          <a:lstStyle/>
          <a:p>
            <a:pPr algn="ctr" indent="0" marL="0">
              <a:buNone/>
            </a:pPr>
            <a:r>
              <a:rPr lang="en-US" sz="650" b="1" dirty="0">
                <a:solidFill>
                  <a:srgbClr val="FFFFFF"/>
                </a:solidFill>
                <a:latin typeface="Calibri" pitchFamily="34" charset="0"/>
                <a:ea typeface="Calibri" pitchFamily="34" charset="-122"/>
                <a:cs typeface="Calibri" pitchFamily="34" charset="-120"/>
              </a:rPr>
              <a:t>✓</a:t>
            </a:r>
            <a:endParaRPr lang="en-US" sz="650" dirty="0"/>
          </a:p>
        </p:txBody>
      </p:sp>
      <p:sp>
        <p:nvSpPr>
          <p:cNvPr id="47" name="Text 45"/>
          <p:cNvSpPr/>
          <p:nvPr/>
        </p:nvSpPr>
        <p:spPr>
          <a:xfrm>
            <a:off x="667512" y="4283964"/>
            <a:ext cx="4389120" cy="182880"/>
          </a:xfrm>
          <a:prstGeom prst="rect">
            <a:avLst/>
          </a:prstGeom>
          <a:noFill/>
          <a:ln/>
        </p:spPr>
        <p:txBody>
          <a:bodyPr wrap="square" lIns="0" tIns="0" rIns="0" bIns="0" rtlCol="0" anchor="ctr"/>
          <a:lstStyle/>
          <a:p>
            <a:pPr indent="0" marL="0">
              <a:buNone/>
            </a:pPr>
            <a:r>
              <a:rPr lang="en-US" sz="950" dirty="0">
                <a:solidFill>
                  <a:srgbClr val="2C2C2C"/>
                </a:solidFill>
                <a:latin typeface="Calibri" pitchFamily="34" charset="0"/>
                <a:ea typeface="Calibri" pitchFamily="34" charset="-122"/>
                <a:cs typeface="Calibri" pitchFamily="34" charset="-120"/>
              </a:rPr>
              <a:t>Live Frontend Demonstration</a:t>
            </a:r>
            <a:endParaRPr lang="en-US" sz="950" dirty="0"/>
          </a:p>
        </p:txBody>
      </p:sp>
      <p:sp>
        <p:nvSpPr>
          <p:cNvPr id="48" name="Shape 46"/>
          <p:cNvSpPr/>
          <p:nvPr/>
        </p:nvSpPr>
        <p:spPr>
          <a:xfrm>
            <a:off x="5394960" y="841248"/>
            <a:ext cx="3520440" cy="562356"/>
          </a:xfrm>
          <a:prstGeom prst="roundRect">
            <a:avLst>
              <a:gd name="adj" fmla="val 9756"/>
            </a:avLst>
          </a:prstGeom>
          <a:solidFill>
            <a:srgbClr val="F2F2F2"/>
          </a:solidFill>
          <a:ln w="12700">
            <a:solidFill>
              <a:srgbClr val="E0E0E0"/>
            </a:solidFill>
            <a:prstDash val="solid"/>
          </a:ln>
          <a:effectLst>
            <a:outerShdw sx="100000" sy="100000" kx="0" ky="0" algn="bl" rotWithShape="0" blurRad="50800" dist="12700" dir="5400000">
              <a:srgbClr val="000000">
                <a:alpha val="7000"/>
              </a:srgbClr>
            </a:outerShdw>
          </a:effectLst>
        </p:spPr>
      </p:sp>
      <p:sp>
        <p:nvSpPr>
          <p:cNvPr id="49" name="Text 47"/>
          <p:cNvSpPr/>
          <p:nvPr/>
        </p:nvSpPr>
        <p:spPr>
          <a:xfrm>
            <a:off x="5577840" y="914400"/>
            <a:ext cx="502920" cy="274320"/>
          </a:xfrm>
          <a:prstGeom prst="rect">
            <a:avLst/>
          </a:prstGeom>
          <a:noFill/>
          <a:ln/>
        </p:spPr>
        <p:txBody>
          <a:bodyPr wrap="square" lIns="0" tIns="0" rIns="0" bIns="0" rtlCol="0" anchor="ctr"/>
          <a:lstStyle/>
          <a:p>
            <a:pPr indent="0" marL="0">
              <a:buNone/>
            </a:pPr>
            <a:r>
              <a:rPr lang="en-US" sz="2200" b="1" dirty="0">
                <a:solidFill>
                  <a:srgbClr val="2C2C2C"/>
                </a:solidFill>
                <a:latin typeface="Cambria" pitchFamily="34" charset="0"/>
                <a:ea typeface="Cambria" pitchFamily="34" charset="-122"/>
                <a:cs typeface="Cambria" pitchFamily="34" charset="-120"/>
              </a:rPr>
              <a:t>9</a:t>
            </a:r>
            <a:endParaRPr lang="en-US" sz="2200" dirty="0"/>
          </a:p>
        </p:txBody>
      </p:sp>
      <p:sp>
        <p:nvSpPr>
          <p:cNvPr id="50" name="Text 48"/>
          <p:cNvSpPr/>
          <p:nvPr/>
        </p:nvSpPr>
        <p:spPr>
          <a:xfrm>
            <a:off x="5577840" y="1179576"/>
            <a:ext cx="3108960" cy="173736"/>
          </a:xfrm>
          <a:prstGeom prst="rect">
            <a:avLst/>
          </a:prstGeom>
          <a:noFill/>
          <a:ln/>
        </p:spPr>
        <p:txBody>
          <a:bodyPr wrap="square" lIns="0" tIns="0" rIns="0" bIns="0" rtlCol="0" anchor="ctr"/>
          <a:lstStyle/>
          <a:p>
            <a:pPr indent="0" marL="0">
              <a:buNone/>
            </a:pPr>
            <a:r>
              <a:rPr lang="en-US" sz="850" dirty="0">
                <a:solidFill>
                  <a:srgbClr val="6B6B6B"/>
                </a:solidFill>
                <a:latin typeface="Calibri" pitchFamily="34" charset="0"/>
                <a:ea typeface="Calibri" pitchFamily="34" charset="-122"/>
                <a:cs typeface="Calibri" pitchFamily="34" charset="-120"/>
              </a:rPr>
              <a:t>Pages Audited</a:t>
            </a:r>
            <a:endParaRPr lang="en-US" sz="850" dirty="0"/>
          </a:p>
        </p:txBody>
      </p:sp>
      <p:sp>
        <p:nvSpPr>
          <p:cNvPr id="51" name="Shape 49"/>
          <p:cNvSpPr/>
          <p:nvPr/>
        </p:nvSpPr>
        <p:spPr>
          <a:xfrm>
            <a:off x="5394960" y="1481328"/>
            <a:ext cx="3520440" cy="562356"/>
          </a:xfrm>
          <a:prstGeom prst="roundRect">
            <a:avLst>
              <a:gd name="adj" fmla="val 9756"/>
            </a:avLst>
          </a:prstGeom>
          <a:solidFill>
            <a:srgbClr val="F2F2F2"/>
          </a:solidFill>
          <a:ln w="12700">
            <a:solidFill>
              <a:srgbClr val="E0E0E0"/>
            </a:solidFill>
            <a:prstDash val="solid"/>
          </a:ln>
          <a:effectLst>
            <a:outerShdw sx="100000" sy="100000" kx="0" ky="0" algn="bl" rotWithShape="0" blurRad="50800" dist="12700" dir="5400000">
              <a:srgbClr val="000000">
                <a:alpha val="7000"/>
              </a:srgbClr>
            </a:outerShdw>
          </a:effectLst>
        </p:spPr>
      </p:sp>
      <p:sp>
        <p:nvSpPr>
          <p:cNvPr id="52" name="Text 50"/>
          <p:cNvSpPr/>
          <p:nvPr/>
        </p:nvSpPr>
        <p:spPr>
          <a:xfrm>
            <a:off x="5577840" y="1554480"/>
            <a:ext cx="1737360" cy="274320"/>
          </a:xfrm>
          <a:prstGeom prst="rect">
            <a:avLst/>
          </a:prstGeom>
          <a:noFill/>
          <a:ln/>
        </p:spPr>
        <p:txBody>
          <a:bodyPr wrap="square" lIns="0" tIns="0" rIns="0" bIns="0" rtlCol="0" anchor="ctr"/>
          <a:lstStyle/>
          <a:p>
            <a:pPr indent="0" marL="0">
              <a:buNone/>
            </a:pPr>
            <a:r>
              <a:rPr lang="en-US" sz="1400" b="1" dirty="0">
                <a:solidFill>
                  <a:srgbClr val="2C2C2C"/>
                </a:solidFill>
                <a:latin typeface="Cambria" pitchFamily="34" charset="0"/>
                <a:ea typeface="Cambria" pitchFamily="34" charset="-122"/>
                <a:cs typeface="Cambria" pitchFamily="34" charset="-120"/>
              </a:rPr>
              <a:t>Complete</a:t>
            </a:r>
            <a:endParaRPr lang="en-US" sz="1400" dirty="0"/>
          </a:p>
        </p:txBody>
      </p:sp>
      <p:sp>
        <p:nvSpPr>
          <p:cNvPr id="53" name="Text 51"/>
          <p:cNvSpPr/>
          <p:nvPr/>
        </p:nvSpPr>
        <p:spPr>
          <a:xfrm>
            <a:off x="5577840" y="1819656"/>
            <a:ext cx="3108960" cy="173736"/>
          </a:xfrm>
          <a:prstGeom prst="rect">
            <a:avLst/>
          </a:prstGeom>
          <a:noFill/>
          <a:ln/>
        </p:spPr>
        <p:txBody>
          <a:bodyPr wrap="square" lIns="0" tIns="0" rIns="0" bIns="0" rtlCol="0" anchor="ctr"/>
          <a:lstStyle/>
          <a:p>
            <a:pPr indent="0" marL="0">
              <a:buNone/>
            </a:pPr>
            <a:r>
              <a:rPr lang="en-US" sz="850" dirty="0">
                <a:solidFill>
                  <a:srgbClr val="6B6B6B"/>
                </a:solidFill>
                <a:latin typeface="Calibri" pitchFamily="34" charset="0"/>
                <a:ea typeface="Calibri" pitchFamily="34" charset="-122"/>
                <a:cs typeface="Calibri" pitchFamily="34" charset="-120"/>
              </a:rPr>
              <a:t>Product Audit</a:t>
            </a:r>
            <a:endParaRPr lang="en-US" sz="850" dirty="0"/>
          </a:p>
        </p:txBody>
      </p:sp>
      <p:sp>
        <p:nvSpPr>
          <p:cNvPr id="54" name="Shape 52"/>
          <p:cNvSpPr/>
          <p:nvPr/>
        </p:nvSpPr>
        <p:spPr>
          <a:xfrm>
            <a:off x="5394960" y="2121408"/>
            <a:ext cx="3520440" cy="562356"/>
          </a:xfrm>
          <a:prstGeom prst="roundRect">
            <a:avLst>
              <a:gd name="adj" fmla="val 9756"/>
            </a:avLst>
          </a:prstGeom>
          <a:solidFill>
            <a:srgbClr val="FBF5E6"/>
          </a:solidFill>
          <a:ln w="12700">
            <a:solidFill>
              <a:srgbClr val="C9A84C"/>
            </a:solidFill>
            <a:prstDash val="solid"/>
          </a:ln>
          <a:effectLst>
            <a:outerShdw sx="100000" sy="100000" kx="0" ky="0" algn="bl" rotWithShape="0" blurRad="50800" dist="12700" dir="5400000">
              <a:srgbClr val="000000">
                <a:alpha val="7000"/>
              </a:srgbClr>
            </a:outerShdw>
          </a:effectLst>
        </p:spPr>
      </p:sp>
      <p:sp>
        <p:nvSpPr>
          <p:cNvPr id="55" name="Text 53"/>
          <p:cNvSpPr/>
          <p:nvPr/>
        </p:nvSpPr>
        <p:spPr>
          <a:xfrm>
            <a:off x="5577840" y="2194560"/>
            <a:ext cx="1737360" cy="274320"/>
          </a:xfrm>
          <a:prstGeom prst="rect">
            <a:avLst/>
          </a:prstGeom>
          <a:noFill/>
          <a:ln/>
        </p:spPr>
        <p:txBody>
          <a:bodyPr wrap="square" lIns="0" tIns="0" rIns="0" bIns="0" rtlCol="0" anchor="ctr"/>
          <a:lstStyle/>
          <a:p>
            <a:pPr indent="0" marL="0">
              <a:buNone/>
            </a:pPr>
            <a:r>
              <a:rPr lang="en-US" sz="1400" b="1" dirty="0">
                <a:solidFill>
                  <a:srgbClr val="C9A84C"/>
                </a:solidFill>
                <a:latin typeface="Cambria" pitchFamily="34" charset="0"/>
                <a:ea typeface="Cambria" pitchFamily="34" charset="-122"/>
                <a:cs typeface="Cambria" pitchFamily="34" charset="-120"/>
              </a:rPr>
              <a:t>Live</a:t>
            </a:r>
            <a:endParaRPr lang="en-US" sz="1400" dirty="0"/>
          </a:p>
        </p:txBody>
      </p:sp>
      <p:sp>
        <p:nvSpPr>
          <p:cNvPr id="56" name="Text 54"/>
          <p:cNvSpPr/>
          <p:nvPr/>
        </p:nvSpPr>
        <p:spPr>
          <a:xfrm>
            <a:off x="5577840" y="2459736"/>
            <a:ext cx="3108960" cy="173736"/>
          </a:xfrm>
          <a:prstGeom prst="rect">
            <a:avLst/>
          </a:prstGeom>
          <a:noFill/>
          <a:ln/>
        </p:spPr>
        <p:txBody>
          <a:bodyPr wrap="square" lIns="0" tIns="0" rIns="0" bIns="0" rtlCol="0" anchor="ctr"/>
          <a:lstStyle/>
          <a:p>
            <a:pPr indent="0" marL="0">
              <a:buNone/>
            </a:pPr>
            <a:r>
              <a:rPr lang="en-US" sz="850" dirty="0">
                <a:solidFill>
                  <a:srgbClr val="6B6B6B"/>
                </a:solidFill>
                <a:latin typeface="Calibri" pitchFamily="34" charset="0"/>
                <a:ea typeface="Calibri" pitchFamily="34" charset="-122"/>
                <a:cs typeface="Calibri" pitchFamily="34" charset="-120"/>
              </a:rPr>
              <a:t>Pricing Redesign</a:t>
            </a:r>
            <a:endParaRPr lang="en-US" sz="850" dirty="0"/>
          </a:p>
        </p:txBody>
      </p:sp>
      <p:sp>
        <p:nvSpPr>
          <p:cNvPr id="57" name="Text 55">
            <a:hlinkClick r:id="rId1" tooltip=""/>
          </p:cNvPr>
          <p:cNvSpPr/>
          <p:nvPr/>
        </p:nvSpPr>
        <p:spPr>
          <a:xfrm>
            <a:off x="7269480" y="2194560"/>
            <a:ext cx="1463040" cy="256032"/>
          </a:xfrm>
          <a:prstGeom prst="rect">
            <a:avLst/>
          </a:prstGeom>
          <a:noFill/>
          <a:ln/>
        </p:spPr>
        <p:txBody>
          <a:bodyPr wrap="square" lIns="0" tIns="0" rIns="0" bIns="0" rtlCol="0" anchor="ctr"/>
          <a:lstStyle/>
          <a:p>
            <a:pPr algn="r" indent="0" marL="0">
              <a:buNone/>
            </a:pPr>
            <a:r>
              <a:rPr lang="en-US" sz="850" u="sng" dirty="0">
                <a:solidFill>
                  <a:srgbClr val="C9A84C"/>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View live →</a:t>
            </a:r>
            <a:endParaRPr lang="en-US" sz="850" dirty="0"/>
          </a:p>
        </p:txBody>
      </p:sp>
      <p:sp>
        <p:nvSpPr>
          <p:cNvPr id="58" name="Shape 56"/>
          <p:cNvSpPr/>
          <p:nvPr/>
        </p:nvSpPr>
        <p:spPr>
          <a:xfrm>
            <a:off x="5394960" y="2761488"/>
            <a:ext cx="3520440" cy="562356"/>
          </a:xfrm>
          <a:prstGeom prst="roundRect">
            <a:avLst>
              <a:gd name="adj" fmla="val 9756"/>
            </a:avLst>
          </a:prstGeom>
          <a:solidFill>
            <a:srgbClr val="FBF5E6"/>
          </a:solidFill>
          <a:ln w="12700">
            <a:solidFill>
              <a:srgbClr val="C9A84C"/>
            </a:solidFill>
            <a:prstDash val="solid"/>
          </a:ln>
          <a:effectLst>
            <a:outerShdw sx="100000" sy="100000" kx="0" ky="0" algn="bl" rotWithShape="0" blurRad="50800" dist="12700" dir="5400000">
              <a:srgbClr val="000000">
                <a:alpha val="7000"/>
              </a:srgbClr>
            </a:outerShdw>
          </a:effectLst>
        </p:spPr>
      </p:sp>
      <p:sp>
        <p:nvSpPr>
          <p:cNvPr id="59" name="Text 57"/>
          <p:cNvSpPr/>
          <p:nvPr/>
        </p:nvSpPr>
        <p:spPr>
          <a:xfrm>
            <a:off x="5577840" y="2834640"/>
            <a:ext cx="1737360" cy="274320"/>
          </a:xfrm>
          <a:prstGeom prst="rect">
            <a:avLst/>
          </a:prstGeom>
          <a:noFill/>
          <a:ln/>
        </p:spPr>
        <p:txBody>
          <a:bodyPr wrap="square" lIns="0" tIns="0" rIns="0" bIns="0" rtlCol="0" anchor="ctr"/>
          <a:lstStyle/>
          <a:p>
            <a:pPr indent="0" marL="0">
              <a:buNone/>
            </a:pPr>
            <a:r>
              <a:rPr lang="en-US" sz="1400" b="1" dirty="0">
                <a:solidFill>
                  <a:srgbClr val="C9A84C"/>
                </a:solidFill>
                <a:latin typeface="Cambria" pitchFamily="34" charset="0"/>
                <a:ea typeface="Cambria" pitchFamily="34" charset="-122"/>
                <a:cs typeface="Cambria" pitchFamily="34" charset="-120"/>
              </a:rPr>
              <a:t>Live</a:t>
            </a:r>
            <a:endParaRPr lang="en-US" sz="1400" dirty="0"/>
          </a:p>
        </p:txBody>
      </p:sp>
      <p:sp>
        <p:nvSpPr>
          <p:cNvPr id="60" name="Text 58"/>
          <p:cNvSpPr/>
          <p:nvPr/>
        </p:nvSpPr>
        <p:spPr>
          <a:xfrm>
            <a:off x="5577840" y="3099816"/>
            <a:ext cx="3108960" cy="173736"/>
          </a:xfrm>
          <a:prstGeom prst="rect">
            <a:avLst/>
          </a:prstGeom>
          <a:noFill/>
          <a:ln/>
        </p:spPr>
        <p:txBody>
          <a:bodyPr wrap="square" lIns="0" tIns="0" rIns="0" bIns="0" rtlCol="0" anchor="ctr"/>
          <a:lstStyle/>
          <a:p>
            <a:pPr indent="0" marL="0">
              <a:buNone/>
            </a:pPr>
            <a:r>
              <a:rPr lang="en-US" sz="850" dirty="0">
                <a:solidFill>
                  <a:srgbClr val="6B6B6B"/>
                </a:solidFill>
                <a:latin typeface="Calibri" pitchFamily="34" charset="0"/>
                <a:ea typeface="Calibri" pitchFamily="34" charset="-122"/>
                <a:cs typeface="Calibri" pitchFamily="34" charset="-120"/>
              </a:rPr>
              <a:t>Articles Redesign</a:t>
            </a:r>
            <a:endParaRPr lang="en-US" sz="850" dirty="0"/>
          </a:p>
        </p:txBody>
      </p:sp>
      <p:sp>
        <p:nvSpPr>
          <p:cNvPr id="61" name="Text 59">
            <a:hlinkClick r:id="rId2" tooltip=""/>
          </p:cNvPr>
          <p:cNvSpPr/>
          <p:nvPr/>
        </p:nvSpPr>
        <p:spPr>
          <a:xfrm>
            <a:off x="7269480" y="2834640"/>
            <a:ext cx="1463040" cy="256032"/>
          </a:xfrm>
          <a:prstGeom prst="rect">
            <a:avLst/>
          </a:prstGeom>
          <a:noFill/>
          <a:ln/>
        </p:spPr>
        <p:txBody>
          <a:bodyPr wrap="square" lIns="0" tIns="0" rIns="0" bIns="0" rtlCol="0" anchor="ctr"/>
          <a:lstStyle/>
          <a:p>
            <a:pPr algn="r" indent="0" marL="0">
              <a:buNone/>
            </a:pPr>
            <a:r>
              <a:rPr lang="en-US" sz="850" u="sng" dirty="0">
                <a:solidFill>
                  <a:srgbClr val="C9A84C"/>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View live →</a:t>
            </a:r>
            <a:endParaRPr lang="en-US" sz="850" dirty="0"/>
          </a:p>
        </p:txBody>
      </p:sp>
      <p:sp>
        <p:nvSpPr>
          <p:cNvPr id="62" name="Shape 60"/>
          <p:cNvSpPr/>
          <p:nvPr/>
        </p:nvSpPr>
        <p:spPr>
          <a:xfrm>
            <a:off x="5394960" y="3401568"/>
            <a:ext cx="3520440" cy="562356"/>
          </a:xfrm>
          <a:prstGeom prst="roundRect">
            <a:avLst>
              <a:gd name="adj" fmla="val 9756"/>
            </a:avLst>
          </a:prstGeom>
          <a:solidFill>
            <a:srgbClr val="F2F2F2"/>
          </a:solidFill>
          <a:ln w="12700">
            <a:solidFill>
              <a:srgbClr val="E0E0E0"/>
            </a:solidFill>
            <a:prstDash val="solid"/>
          </a:ln>
          <a:effectLst>
            <a:outerShdw sx="100000" sy="100000" kx="0" ky="0" algn="bl" rotWithShape="0" blurRad="50800" dist="12700" dir="5400000">
              <a:srgbClr val="000000">
                <a:alpha val="7000"/>
              </a:srgbClr>
            </a:outerShdw>
          </a:effectLst>
        </p:spPr>
      </p:sp>
      <p:sp>
        <p:nvSpPr>
          <p:cNvPr id="63" name="Text 61"/>
          <p:cNvSpPr/>
          <p:nvPr/>
        </p:nvSpPr>
        <p:spPr>
          <a:xfrm>
            <a:off x="5577840" y="3474720"/>
            <a:ext cx="1737360" cy="274320"/>
          </a:xfrm>
          <a:prstGeom prst="rect">
            <a:avLst/>
          </a:prstGeom>
          <a:noFill/>
          <a:ln/>
        </p:spPr>
        <p:txBody>
          <a:bodyPr wrap="square" lIns="0" tIns="0" rIns="0" bIns="0" rtlCol="0" anchor="ctr"/>
          <a:lstStyle/>
          <a:p>
            <a:pPr indent="0" marL="0">
              <a:buNone/>
            </a:pPr>
            <a:r>
              <a:rPr lang="en-US" sz="1400" b="1" dirty="0">
                <a:solidFill>
                  <a:srgbClr val="2C2C2C"/>
                </a:solidFill>
                <a:latin typeface="Cambria" pitchFamily="34" charset="0"/>
                <a:ea typeface="Cambria" pitchFamily="34" charset="-122"/>
                <a:cs typeface="Cambria" pitchFamily="34" charset="-120"/>
              </a:rPr>
              <a:t>Complete</a:t>
            </a:r>
            <a:endParaRPr lang="en-US" sz="1400" dirty="0"/>
          </a:p>
        </p:txBody>
      </p:sp>
      <p:sp>
        <p:nvSpPr>
          <p:cNvPr id="64" name="Text 62"/>
          <p:cNvSpPr/>
          <p:nvPr/>
        </p:nvSpPr>
        <p:spPr>
          <a:xfrm>
            <a:off x="5577840" y="3739896"/>
            <a:ext cx="3108960" cy="173736"/>
          </a:xfrm>
          <a:prstGeom prst="rect">
            <a:avLst/>
          </a:prstGeom>
          <a:noFill/>
          <a:ln/>
        </p:spPr>
        <p:txBody>
          <a:bodyPr wrap="square" lIns="0" tIns="0" rIns="0" bIns="0" rtlCol="0" anchor="ctr"/>
          <a:lstStyle/>
          <a:p>
            <a:pPr indent="0" marL="0">
              <a:buNone/>
            </a:pPr>
            <a:r>
              <a:rPr lang="en-US" sz="850" dirty="0">
                <a:solidFill>
                  <a:srgbClr val="6B6B6B"/>
                </a:solidFill>
                <a:latin typeface="Calibri" pitchFamily="34" charset="0"/>
                <a:ea typeface="Calibri" pitchFamily="34" charset="-122"/>
                <a:cs typeface="Calibri" pitchFamily="34" charset="-120"/>
              </a:rPr>
              <a:t>Performance Audit</a:t>
            </a:r>
            <a:endParaRPr lang="en-US" sz="850" dirty="0"/>
          </a:p>
        </p:txBody>
      </p:sp>
      <p:sp>
        <p:nvSpPr>
          <p:cNvPr id="65" name="Shape 63"/>
          <p:cNvSpPr/>
          <p:nvPr/>
        </p:nvSpPr>
        <p:spPr>
          <a:xfrm>
            <a:off x="5394960" y="4041648"/>
            <a:ext cx="3520440" cy="562356"/>
          </a:xfrm>
          <a:prstGeom prst="roundRect">
            <a:avLst>
              <a:gd name="adj" fmla="val 9756"/>
            </a:avLst>
          </a:prstGeom>
          <a:solidFill>
            <a:srgbClr val="F2F2F2"/>
          </a:solidFill>
          <a:ln w="12700">
            <a:solidFill>
              <a:srgbClr val="E0E0E0"/>
            </a:solidFill>
            <a:prstDash val="solid"/>
          </a:ln>
          <a:effectLst>
            <a:outerShdw sx="100000" sy="100000" kx="0" ky="0" algn="bl" rotWithShape="0" blurRad="50800" dist="12700" dir="5400000">
              <a:srgbClr val="000000">
                <a:alpha val="7000"/>
              </a:srgbClr>
            </a:outerShdw>
          </a:effectLst>
        </p:spPr>
      </p:sp>
      <p:sp>
        <p:nvSpPr>
          <p:cNvPr id="66" name="Text 64"/>
          <p:cNvSpPr/>
          <p:nvPr/>
        </p:nvSpPr>
        <p:spPr>
          <a:xfrm>
            <a:off x="5577840" y="4114800"/>
            <a:ext cx="1737360" cy="274320"/>
          </a:xfrm>
          <a:prstGeom prst="rect">
            <a:avLst/>
          </a:prstGeom>
          <a:noFill/>
          <a:ln/>
        </p:spPr>
        <p:txBody>
          <a:bodyPr wrap="square" lIns="0" tIns="0" rIns="0" bIns="0" rtlCol="0" anchor="ctr"/>
          <a:lstStyle/>
          <a:p>
            <a:pPr indent="0" marL="0">
              <a:buNone/>
            </a:pPr>
            <a:r>
              <a:rPr lang="en-US" sz="1400" b="1" dirty="0">
                <a:solidFill>
                  <a:srgbClr val="2C2C2C"/>
                </a:solidFill>
                <a:latin typeface="Cambria" pitchFamily="34" charset="0"/>
                <a:ea typeface="Cambria" pitchFamily="34" charset="-122"/>
                <a:cs typeface="Cambria" pitchFamily="34" charset="-120"/>
              </a:rPr>
              <a:t>Complete</a:t>
            </a:r>
            <a:endParaRPr lang="en-US" sz="1400" dirty="0"/>
          </a:p>
        </p:txBody>
      </p:sp>
      <p:sp>
        <p:nvSpPr>
          <p:cNvPr id="67" name="Text 65"/>
          <p:cNvSpPr/>
          <p:nvPr/>
        </p:nvSpPr>
        <p:spPr>
          <a:xfrm>
            <a:off x="5577840" y="4379976"/>
            <a:ext cx="3108960" cy="173736"/>
          </a:xfrm>
          <a:prstGeom prst="rect">
            <a:avLst/>
          </a:prstGeom>
          <a:noFill/>
          <a:ln/>
        </p:spPr>
        <p:txBody>
          <a:bodyPr wrap="square" lIns="0" tIns="0" rIns="0" bIns="0" rtlCol="0" anchor="ctr"/>
          <a:lstStyle/>
          <a:p>
            <a:pPr indent="0" marL="0">
              <a:buNone/>
            </a:pPr>
            <a:r>
              <a:rPr lang="en-US" sz="850" dirty="0">
                <a:solidFill>
                  <a:srgbClr val="6B6B6B"/>
                </a:solidFill>
                <a:latin typeface="Calibri" pitchFamily="34" charset="0"/>
                <a:ea typeface="Calibri" pitchFamily="34" charset="-122"/>
                <a:cs typeface="Calibri" pitchFamily="34" charset="-120"/>
              </a:rPr>
              <a:t>Technical Report</a:t>
            </a:r>
            <a:endParaRPr lang="en-US" sz="850" dirty="0"/>
          </a:p>
        </p:txBody>
      </p:sp>
      <p:sp>
        <p:nvSpPr>
          <p:cNvPr id="68" name="Shape 66"/>
          <p:cNvSpPr/>
          <p:nvPr/>
        </p:nvSpPr>
        <p:spPr>
          <a:xfrm>
            <a:off x="0" y="4754880"/>
            <a:ext cx="9144000" cy="388620"/>
          </a:xfrm>
          <a:prstGeom prst="rect">
            <a:avLst/>
          </a:prstGeom>
          <a:solidFill>
            <a:srgbClr val="1A1A1A"/>
          </a:solidFill>
          <a:ln w="12700">
            <a:solidFill>
              <a:srgbClr val="1A1A1A"/>
            </a:solidFill>
            <a:prstDash val="solid"/>
          </a:ln>
        </p:spPr>
      </p:sp>
      <p:sp>
        <p:nvSpPr>
          <p:cNvPr id="69" name="Text 67"/>
          <p:cNvSpPr/>
          <p:nvPr/>
        </p:nvSpPr>
        <p:spPr>
          <a:xfrm>
            <a:off x="411480" y="4773168"/>
            <a:ext cx="8321040" cy="347472"/>
          </a:xfrm>
          <a:prstGeom prst="rect">
            <a:avLst/>
          </a:prstGeom>
          <a:noFill/>
          <a:ln/>
        </p:spPr>
        <p:txBody>
          <a:bodyPr wrap="square" lIns="0" tIns="0" rIns="0" bIns="0" rtlCol="0" anchor="ctr"/>
          <a:lstStyle/>
          <a:p>
            <a:pPr indent="0" marL="0">
              <a:buNone/>
            </a:pPr>
            <a:r>
              <a:rPr lang="en-US" sz="850" dirty="0">
                <a:solidFill>
                  <a:srgbClr val="BBBBBB"/>
                </a:solidFill>
                <a:latin typeface="Calibri" pitchFamily="34" charset="0"/>
                <a:ea typeface="Calibri" pitchFamily="34" charset="-122"/>
                <a:cs typeface="Calibri" pitchFamily="34" charset="-120"/>
              </a:rPr>
              <a:t>All findings were collected without access to the production codebase — using public pages, browser inspection, Lighthouse / PageSpeed, and UX analysis.</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503920" y="256032"/>
            <a:ext cx="457200" cy="228600"/>
          </a:xfrm>
          <a:prstGeom prst="rect">
            <a:avLst/>
          </a:prstGeom>
          <a:noFill/>
          <a:ln/>
        </p:spPr>
        <p:txBody>
          <a:bodyPr wrap="square" lIns="0" tIns="0" rIns="0" bIns="0" rtlCol="0" anchor="ctr"/>
          <a:lstStyle/>
          <a:p>
            <a:pPr indent="0" marL="0">
              <a:buNone/>
            </a:pPr>
            <a:r>
              <a:rPr lang="en-US" sz="800" b="1" spc="200" kern="0" dirty="0">
                <a:solidFill>
                  <a:srgbClr val="C9A84C"/>
                </a:solidFill>
                <a:latin typeface="Calibri" pitchFamily="34" charset="0"/>
                <a:ea typeface="Calibri" pitchFamily="34" charset="-122"/>
                <a:cs typeface="Calibri" pitchFamily="34" charset="-120"/>
              </a:rPr>
              <a:t>03</a:t>
            </a:r>
            <a:endParaRPr lang="en-US" sz="800" dirty="0"/>
          </a:p>
        </p:txBody>
      </p:sp>
      <p:sp>
        <p:nvSpPr>
          <p:cNvPr id="3" name="Text 1"/>
          <p:cNvSpPr/>
          <p:nvPr/>
        </p:nvSpPr>
        <p:spPr>
          <a:xfrm>
            <a:off x="457200" y="256032"/>
            <a:ext cx="6400800" cy="475488"/>
          </a:xfrm>
          <a:prstGeom prst="rect">
            <a:avLst/>
          </a:prstGeom>
          <a:noFill/>
          <a:ln/>
        </p:spPr>
        <p:txBody>
          <a:bodyPr wrap="square" lIns="0" tIns="0" rIns="0" bIns="0" rtlCol="0" anchor="ctr"/>
          <a:lstStyle/>
          <a:p>
            <a:pPr indent="0" marL="0">
              <a:buNone/>
            </a:pPr>
            <a:r>
              <a:rPr lang="en-US" sz="2600" b="1" dirty="0">
                <a:solidFill>
                  <a:srgbClr val="111111"/>
                </a:solidFill>
                <a:latin typeface="Cambria" pitchFamily="34" charset="0"/>
                <a:ea typeface="Cambria" pitchFamily="34" charset="-122"/>
                <a:cs typeface="Cambria" pitchFamily="34" charset="-120"/>
              </a:rPr>
              <a:t>Audit Scope &amp; Methodology</a:t>
            </a:r>
            <a:endParaRPr lang="en-US" sz="2600" dirty="0"/>
          </a:p>
        </p:txBody>
      </p:sp>
      <p:sp>
        <p:nvSpPr>
          <p:cNvPr id="4" name="Shape 2"/>
          <p:cNvSpPr/>
          <p:nvPr/>
        </p:nvSpPr>
        <p:spPr>
          <a:xfrm>
            <a:off x="457200" y="768096"/>
            <a:ext cx="1371600" cy="27432"/>
          </a:xfrm>
          <a:prstGeom prst="rect">
            <a:avLst/>
          </a:prstGeom>
          <a:solidFill>
            <a:srgbClr val="C9A84C"/>
          </a:solidFill>
          <a:ln w="12700">
            <a:solidFill>
              <a:srgbClr val="C9A84C"/>
            </a:solidFill>
            <a:prstDash val="solid"/>
          </a:ln>
        </p:spPr>
      </p:sp>
      <p:sp>
        <p:nvSpPr>
          <p:cNvPr id="5" name="Text 3"/>
          <p:cNvSpPr/>
          <p:nvPr/>
        </p:nvSpPr>
        <p:spPr>
          <a:xfrm>
            <a:off x="457200" y="960120"/>
            <a:ext cx="2103120" cy="201168"/>
          </a:xfrm>
          <a:prstGeom prst="rect">
            <a:avLst/>
          </a:prstGeom>
          <a:noFill/>
          <a:ln/>
        </p:spPr>
        <p:txBody>
          <a:bodyPr wrap="square" lIns="0" tIns="0" rIns="0" bIns="0" rtlCol="0" anchor="ctr"/>
          <a:lstStyle/>
          <a:p>
            <a:pPr indent="0" marL="0">
              <a:buNone/>
            </a:pPr>
            <a:r>
              <a:rPr lang="en-US" sz="750" b="1" spc="400" kern="0" dirty="0">
                <a:solidFill>
                  <a:srgbClr val="C9A84C"/>
                </a:solidFill>
                <a:latin typeface="Calibri" pitchFamily="34" charset="0"/>
                <a:ea typeface="Calibri" pitchFamily="34" charset="-122"/>
                <a:cs typeface="Calibri" pitchFamily="34" charset="-120"/>
              </a:rPr>
              <a:t>SCOPE</a:t>
            </a:r>
            <a:endParaRPr lang="en-US" sz="750" dirty="0"/>
          </a:p>
        </p:txBody>
      </p:sp>
      <p:sp>
        <p:nvSpPr>
          <p:cNvPr id="6" name="Text 4"/>
          <p:cNvSpPr/>
          <p:nvPr/>
        </p:nvSpPr>
        <p:spPr>
          <a:xfrm>
            <a:off x="457200" y="1207008"/>
            <a:ext cx="2103120" cy="219456"/>
          </a:xfrm>
          <a:prstGeom prst="rect">
            <a:avLst/>
          </a:prstGeom>
          <a:noFill/>
          <a:ln/>
        </p:spPr>
        <p:txBody>
          <a:bodyPr wrap="square" lIns="0" tIns="0" rIns="0" bIns="0" rtlCol="0" anchor="ctr"/>
          <a:lstStyle/>
          <a:p>
            <a:pPr indent="0" marL="0">
              <a:buNone/>
            </a:pPr>
            <a:r>
              <a:rPr lang="en-US" sz="1000" b="1" dirty="0">
                <a:solidFill>
                  <a:srgbClr val="2C2C2C"/>
                </a:solidFill>
                <a:latin typeface="Calibri" pitchFamily="34" charset="0"/>
                <a:ea typeface="Calibri" pitchFamily="34" charset="-122"/>
                <a:cs typeface="Calibri" pitchFamily="34" charset="-120"/>
              </a:rPr>
              <a:t>Website Pages</a:t>
            </a:r>
            <a:endParaRPr lang="en-US" sz="1000" dirty="0"/>
          </a:p>
        </p:txBody>
      </p:sp>
      <p:sp>
        <p:nvSpPr>
          <p:cNvPr id="7" name="Shape 5"/>
          <p:cNvSpPr/>
          <p:nvPr/>
        </p:nvSpPr>
        <p:spPr>
          <a:xfrm>
            <a:off x="457200" y="1508760"/>
            <a:ext cx="118872" cy="118872"/>
          </a:xfrm>
          <a:prstGeom prst="ellipse">
            <a:avLst/>
          </a:prstGeom>
          <a:solidFill>
            <a:srgbClr val="C9A84C"/>
          </a:solidFill>
          <a:ln w="12700">
            <a:solidFill>
              <a:srgbClr val="C9A84C"/>
            </a:solidFill>
            <a:prstDash val="solid"/>
          </a:ln>
        </p:spPr>
      </p:sp>
      <p:sp>
        <p:nvSpPr>
          <p:cNvPr id="8" name="Text 6"/>
          <p:cNvSpPr/>
          <p:nvPr/>
        </p:nvSpPr>
        <p:spPr>
          <a:xfrm>
            <a:off x="457200" y="1490472"/>
            <a:ext cx="118872" cy="146304"/>
          </a:xfrm>
          <a:prstGeom prst="rect">
            <a:avLst/>
          </a:prstGeom>
          <a:noFill/>
          <a:ln/>
        </p:spPr>
        <p:txBody>
          <a:bodyPr wrap="square" lIns="0" tIns="0" rIns="0" bIns="0" rtlCol="0" anchor="ctr"/>
          <a:lstStyle/>
          <a:p>
            <a:pPr algn="ctr" indent="0" marL="0">
              <a:buNone/>
            </a:pPr>
            <a:r>
              <a:rPr lang="en-US" sz="600" b="1" dirty="0">
                <a:solidFill>
                  <a:srgbClr val="FFFFFF"/>
                </a:solidFill>
                <a:latin typeface="Calibri" pitchFamily="34" charset="0"/>
                <a:ea typeface="Calibri" pitchFamily="34" charset="-122"/>
                <a:cs typeface="Calibri" pitchFamily="34" charset="-120"/>
              </a:rPr>
              <a:t>✓</a:t>
            </a:r>
            <a:endParaRPr lang="en-US" sz="600" dirty="0"/>
          </a:p>
        </p:txBody>
      </p:sp>
      <p:sp>
        <p:nvSpPr>
          <p:cNvPr id="9" name="Text 7"/>
          <p:cNvSpPr/>
          <p:nvPr/>
        </p:nvSpPr>
        <p:spPr>
          <a:xfrm>
            <a:off x="640080" y="1463040"/>
            <a:ext cx="1920240" cy="201168"/>
          </a:xfrm>
          <a:prstGeom prst="rect">
            <a:avLst/>
          </a:prstGeom>
          <a:noFill/>
          <a:ln/>
        </p:spPr>
        <p:txBody>
          <a:bodyPr wrap="square" lIns="0" tIns="0" rIns="0" bIns="0" rtlCol="0" anchor="ctr"/>
          <a:lstStyle/>
          <a:p>
            <a:pPr indent="0" marL="0">
              <a:buNone/>
            </a:pPr>
            <a:r>
              <a:rPr lang="en-US" sz="950" dirty="0">
                <a:solidFill>
                  <a:srgbClr val="2C2C2C"/>
                </a:solidFill>
                <a:latin typeface="Calibri" pitchFamily="34" charset="0"/>
                <a:ea typeface="Calibri" pitchFamily="34" charset="-122"/>
                <a:cs typeface="Calibri" pitchFamily="34" charset="-120"/>
              </a:rPr>
              <a:t>Homepage</a:t>
            </a:r>
            <a:endParaRPr lang="en-US" sz="950" dirty="0"/>
          </a:p>
        </p:txBody>
      </p:sp>
      <p:sp>
        <p:nvSpPr>
          <p:cNvPr id="10" name="Shape 8"/>
          <p:cNvSpPr/>
          <p:nvPr/>
        </p:nvSpPr>
        <p:spPr>
          <a:xfrm>
            <a:off x="457200" y="1755648"/>
            <a:ext cx="118872" cy="118872"/>
          </a:xfrm>
          <a:prstGeom prst="ellipse">
            <a:avLst/>
          </a:prstGeom>
          <a:solidFill>
            <a:srgbClr val="C9A84C"/>
          </a:solidFill>
          <a:ln w="12700">
            <a:solidFill>
              <a:srgbClr val="C9A84C"/>
            </a:solidFill>
            <a:prstDash val="solid"/>
          </a:ln>
        </p:spPr>
      </p:sp>
      <p:sp>
        <p:nvSpPr>
          <p:cNvPr id="11" name="Text 9"/>
          <p:cNvSpPr/>
          <p:nvPr/>
        </p:nvSpPr>
        <p:spPr>
          <a:xfrm>
            <a:off x="457200" y="1737360"/>
            <a:ext cx="118872" cy="146304"/>
          </a:xfrm>
          <a:prstGeom prst="rect">
            <a:avLst/>
          </a:prstGeom>
          <a:noFill/>
          <a:ln/>
        </p:spPr>
        <p:txBody>
          <a:bodyPr wrap="square" lIns="0" tIns="0" rIns="0" bIns="0" rtlCol="0" anchor="ctr"/>
          <a:lstStyle/>
          <a:p>
            <a:pPr algn="ctr" indent="0" marL="0">
              <a:buNone/>
            </a:pPr>
            <a:r>
              <a:rPr lang="en-US" sz="600" b="1" dirty="0">
                <a:solidFill>
                  <a:srgbClr val="FFFFFF"/>
                </a:solidFill>
                <a:latin typeface="Calibri" pitchFamily="34" charset="0"/>
                <a:ea typeface="Calibri" pitchFamily="34" charset="-122"/>
                <a:cs typeface="Calibri" pitchFamily="34" charset="-120"/>
              </a:rPr>
              <a:t>✓</a:t>
            </a:r>
            <a:endParaRPr lang="en-US" sz="600" dirty="0"/>
          </a:p>
        </p:txBody>
      </p:sp>
      <p:sp>
        <p:nvSpPr>
          <p:cNvPr id="12" name="Text 10"/>
          <p:cNvSpPr/>
          <p:nvPr/>
        </p:nvSpPr>
        <p:spPr>
          <a:xfrm>
            <a:off x="640080" y="1709928"/>
            <a:ext cx="1920240" cy="201168"/>
          </a:xfrm>
          <a:prstGeom prst="rect">
            <a:avLst/>
          </a:prstGeom>
          <a:noFill/>
          <a:ln/>
        </p:spPr>
        <p:txBody>
          <a:bodyPr wrap="square" lIns="0" tIns="0" rIns="0" bIns="0" rtlCol="0" anchor="ctr"/>
          <a:lstStyle/>
          <a:p>
            <a:pPr indent="0" marL="0">
              <a:buNone/>
            </a:pPr>
            <a:r>
              <a:rPr lang="en-US" sz="950" dirty="0">
                <a:solidFill>
                  <a:srgbClr val="2C2C2C"/>
                </a:solidFill>
                <a:latin typeface="Calibri" pitchFamily="34" charset="0"/>
                <a:ea typeface="Calibri" pitchFamily="34" charset="-122"/>
                <a:cs typeface="Calibri" pitchFamily="34" charset="-120"/>
              </a:rPr>
              <a:t>Templates</a:t>
            </a:r>
            <a:endParaRPr lang="en-US" sz="950" dirty="0"/>
          </a:p>
        </p:txBody>
      </p:sp>
      <p:sp>
        <p:nvSpPr>
          <p:cNvPr id="13" name="Shape 11"/>
          <p:cNvSpPr/>
          <p:nvPr/>
        </p:nvSpPr>
        <p:spPr>
          <a:xfrm>
            <a:off x="457200" y="2002536"/>
            <a:ext cx="118872" cy="118872"/>
          </a:xfrm>
          <a:prstGeom prst="ellipse">
            <a:avLst/>
          </a:prstGeom>
          <a:solidFill>
            <a:srgbClr val="C9A84C"/>
          </a:solidFill>
          <a:ln w="12700">
            <a:solidFill>
              <a:srgbClr val="C9A84C"/>
            </a:solidFill>
            <a:prstDash val="solid"/>
          </a:ln>
        </p:spPr>
      </p:sp>
      <p:sp>
        <p:nvSpPr>
          <p:cNvPr id="14" name="Text 12"/>
          <p:cNvSpPr/>
          <p:nvPr/>
        </p:nvSpPr>
        <p:spPr>
          <a:xfrm>
            <a:off x="457200" y="1984248"/>
            <a:ext cx="118872" cy="146304"/>
          </a:xfrm>
          <a:prstGeom prst="rect">
            <a:avLst/>
          </a:prstGeom>
          <a:noFill/>
          <a:ln/>
        </p:spPr>
        <p:txBody>
          <a:bodyPr wrap="square" lIns="0" tIns="0" rIns="0" bIns="0" rtlCol="0" anchor="ctr"/>
          <a:lstStyle/>
          <a:p>
            <a:pPr algn="ctr" indent="0" marL="0">
              <a:buNone/>
            </a:pPr>
            <a:r>
              <a:rPr lang="en-US" sz="600" b="1" dirty="0">
                <a:solidFill>
                  <a:srgbClr val="FFFFFF"/>
                </a:solidFill>
                <a:latin typeface="Calibri" pitchFamily="34" charset="0"/>
                <a:ea typeface="Calibri" pitchFamily="34" charset="-122"/>
                <a:cs typeface="Calibri" pitchFamily="34" charset="-120"/>
              </a:rPr>
              <a:t>✓</a:t>
            </a:r>
            <a:endParaRPr lang="en-US" sz="600" dirty="0"/>
          </a:p>
        </p:txBody>
      </p:sp>
      <p:sp>
        <p:nvSpPr>
          <p:cNvPr id="15" name="Text 13"/>
          <p:cNvSpPr/>
          <p:nvPr/>
        </p:nvSpPr>
        <p:spPr>
          <a:xfrm>
            <a:off x="640080" y="1956816"/>
            <a:ext cx="1920240" cy="201168"/>
          </a:xfrm>
          <a:prstGeom prst="rect">
            <a:avLst/>
          </a:prstGeom>
          <a:noFill/>
          <a:ln/>
        </p:spPr>
        <p:txBody>
          <a:bodyPr wrap="square" lIns="0" tIns="0" rIns="0" bIns="0" rtlCol="0" anchor="ctr"/>
          <a:lstStyle/>
          <a:p>
            <a:pPr indent="0" marL="0">
              <a:buNone/>
            </a:pPr>
            <a:r>
              <a:rPr lang="en-US" sz="950" dirty="0">
                <a:solidFill>
                  <a:srgbClr val="2C2C2C"/>
                </a:solidFill>
                <a:latin typeface="Calibri" pitchFamily="34" charset="0"/>
                <a:ea typeface="Calibri" pitchFamily="34" charset="-122"/>
                <a:cs typeface="Calibri" pitchFamily="34" charset="-120"/>
              </a:rPr>
              <a:t>Pricing</a:t>
            </a:r>
            <a:endParaRPr lang="en-US" sz="950" dirty="0"/>
          </a:p>
        </p:txBody>
      </p:sp>
      <p:sp>
        <p:nvSpPr>
          <p:cNvPr id="16" name="Shape 14"/>
          <p:cNvSpPr/>
          <p:nvPr/>
        </p:nvSpPr>
        <p:spPr>
          <a:xfrm>
            <a:off x="457200" y="2249424"/>
            <a:ext cx="118872" cy="118872"/>
          </a:xfrm>
          <a:prstGeom prst="ellipse">
            <a:avLst/>
          </a:prstGeom>
          <a:solidFill>
            <a:srgbClr val="C9A84C"/>
          </a:solidFill>
          <a:ln w="12700">
            <a:solidFill>
              <a:srgbClr val="C9A84C"/>
            </a:solidFill>
            <a:prstDash val="solid"/>
          </a:ln>
        </p:spPr>
      </p:sp>
      <p:sp>
        <p:nvSpPr>
          <p:cNvPr id="17" name="Text 15"/>
          <p:cNvSpPr/>
          <p:nvPr/>
        </p:nvSpPr>
        <p:spPr>
          <a:xfrm>
            <a:off x="457200" y="2231136"/>
            <a:ext cx="118872" cy="146304"/>
          </a:xfrm>
          <a:prstGeom prst="rect">
            <a:avLst/>
          </a:prstGeom>
          <a:noFill/>
          <a:ln/>
        </p:spPr>
        <p:txBody>
          <a:bodyPr wrap="square" lIns="0" tIns="0" rIns="0" bIns="0" rtlCol="0" anchor="ctr"/>
          <a:lstStyle/>
          <a:p>
            <a:pPr algn="ctr" indent="0" marL="0">
              <a:buNone/>
            </a:pPr>
            <a:r>
              <a:rPr lang="en-US" sz="600" b="1" dirty="0">
                <a:solidFill>
                  <a:srgbClr val="FFFFFF"/>
                </a:solidFill>
                <a:latin typeface="Calibri" pitchFamily="34" charset="0"/>
                <a:ea typeface="Calibri" pitchFamily="34" charset="-122"/>
                <a:cs typeface="Calibri" pitchFamily="34" charset="-120"/>
              </a:rPr>
              <a:t>✓</a:t>
            </a:r>
            <a:endParaRPr lang="en-US" sz="600" dirty="0"/>
          </a:p>
        </p:txBody>
      </p:sp>
      <p:sp>
        <p:nvSpPr>
          <p:cNvPr id="18" name="Text 16"/>
          <p:cNvSpPr/>
          <p:nvPr/>
        </p:nvSpPr>
        <p:spPr>
          <a:xfrm>
            <a:off x="640080" y="2203704"/>
            <a:ext cx="1920240" cy="201168"/>
          </a:xfrm>
          <a:prstGeom prst="rect">
            <a:avLst/>
          </a:prstGeom>
          <a:noFill/>
          <a:ln/>
        </p:spPr>
        <p:txBody>
          <a:bodyPr wrap="square" lIns="0" tIns="0" rIns="0" bIns="0" rtlCol="0" anchor="ctr"/>
          <a:lstStyle/>
          <a:p>
            <a:pPr indent="0" marL="0">
              <a:buNone/>
            </a:pPr>
            <a:r>
              <a:rPr lang="en-US" sz="950" dirty="0">
                <a:solidFill>
                  <a:srgbClr val="2C2C2C"/>
                </a:solidFill>
                <a:latin typeface="Calibri" pitchFamily="34" charset="0"/>
                <a:ea typeface="Calibri" pitchFamily="34" charset="-122"/>
                <a:cs typeface="Calibri" pitchFamily="34" charset="-120"/>
              </a:rPr>
              <a:t>Articles</a:t>
            </a:r>
            <a:endParaRPr lang="en-US" sz="950" dirty="0"/>
          </a:p>
        </p:txBody>
      </p:sp>
      <p:sp>
        <p:nvSpPr>
          <p:cNvPr id="19" name="Shape 17"/>
          <p:cNvSpPr/>
          <p:nvPr/>
        </p:nvSpPr>
        <p:spPr>
          <a:xfrm>
            <a:off x="457200" y="2496312"/>
            <a:ext cx="118872" cy="118872"/>
          </a:xfrm>
          <a:prstGeom prst="ellipse">
            <a:avLst/>
          </a:prstGeom>
          <a:solidFill>
            <a:srgbClr val="C9A84C"/>
          </a:solidFill>
          <a:ln w="12700">
            <a:solidFill>
              <a:srgbClr val="C9A84C"/>
            </a:solidFill>
            <a:prstDash val="solid"/>
          </a:ln>
        </p:spPr>
      </p:sp>
      <p:sp>
        <p:nvSpPr>
          <p:cNvPr id="20" name="Text 18"/>
          <p:cNvSpPr/>
          <p:nvPr/>
        </p:nvSpPr>
        <p:spPr>
          <a:xfrm>
            <a:off x="457200" y="2478024"/>
            <a:ext cx="118872" cy="146304"/>
          </a:xfrm>
          <a:prstGeom prst="rect">
            <a:avLst/>
          </a:prstGeom>
          <a:noFill/>
          <a:ln/>
        </p:spPr>
        <p:txBody>
          <a:bodyPr wrap="square" lIns="0" tIns="0" rIns="0" bIns="0" rtlCol="0" anchor="ctr"/>
          <a:lstStyle/>
          <a:p>
            <a:pPr algn="ctr" indent="0" marL="0">
              <a:buNone/>
            </a:pPr>
            <a:r>
              <a:rPr lang="en-US" sz="600" b="1" dirty="0">
                <a:solidFill>
                  <a:srgbClr val="FFFFFF"/>
                </a:solidFill>
                <a:latin typeface="Calibri" pitchFamily="34" charset="0"/>
                <a:ea typeface="Calibri" pitchFamily="34" charset="-122"/>
                <a:cs typeface="Calibri" pitchFamily="34" charset="-120"/>
              </a:rPr>
              <a:t>✓</a:t>
            </a:r>
            <a:endParaRPr lang="en-US" sz="600" dirty="0"/>
          </a:p>
        </p:txBody>
      </p:sp>
      <p:sp>
        <p:nvSpPr>
          <p:cNvPr id="21" name="Text 19"/>
          <p:cNvSpPr/>
          <p:nvPr/>
        </p:nvSpPr>
        <p:spPr>
          <a:xfrm>
            <a:off x="640080" y="2450592"/>
            <a:ext cx="1920240" cy="201168"/>
          </a:xfrm>
          <a:prstGeom prst="rect">
            <a:avLst/>
          </a:prstGeom>
          <a:noFill/>
          <a:ln/>
        </p:spPr>
        <p:txBody>
          <a:bodyPr wrap="square" lIns="0" tIns="0" rIns="0" bIns="0" rtlCol="0" anchor="ctr"/>
          <a:lstStyle/>
          <a:p>
            <a:pPr indent="0" marL="0">
              <a:buNone/>
            </a:pPr>
            <a:r>
              <a:rPr lang="en-US" sz="950" dirty="0">
                <a:solidFill>
                  <a:srgbClr val="2C2C2C"/>
                </a:solidFill>
                <a:latin typeface="Calibri" pitchFamily="34" charset="0"/>
                <a:ea typeface="Calibri" pitchFamily="34" charset="-122"/>
                <a:cs typeface="Calibri" pitchFamily="34" charset="-120"/>
              </a:rPr>
              <a:t>FAQ</a:t>
            </a:r>
            <a:endParaRPr lang="en-US" sz="950" dirty="0"/>
          </a:p>
        </p:txBody>
      </p:sp>
      <p:sp>
        <p:nvSpPr>
          <p:cNvPr id="22" name="Shape 20"/>
          <p:cNvSpPr/>
          <p:nvPr/>
        </p:nvSpPr>
        <p:spPr>
          <a:xfrm>
            <a:off x="457200" y="2743200"/>
            <a:ext cx="118872" cy="118872"/>
          </a:xfrm>
          <a:prstGeom prst="ellipse">
            <a:avLst/>
          </a:prstGeom>
          <a:solidFill>
            <a:srgbClr val="C9A84C"/>
          </a:solidFill>
          <a:ln w="12700">
            <a:solidFill>
              <a:srgbClr val="C9A84C"/>
            </a:solidFill>
            <a:prstDash val="solid"/>
          </a:ln>
        </p:spPr>
      </p:sp>
      <p:sp>
        <p:nvSpPr>
          <p:cNvPr id="23" name="Text 21"/>
          <p:cNvSpPr/>
          <p:nvPr/>
        </p:nvSpPr>
        <p:spPr>
          <a:xfrm>
            <a:off x="457200" y="2724912"/>
            <a:ext cx="118872" cy="146304"/>
          </a:xfrm>
          <a:prstGeom prst="rect">
            <a:avLst/>
          </a:prstGeom>
          <a:noFill/>
          <a:ln/>
        </p:spPr>
        <p:txBody>
          <a:bodyPr wrap="square" lIns="0" tIns="0" rIns="0" bIns="0" rtlCol="0" anchor="ctr"/>
          <a:lstStyle/>
          <a:p>
            <a:pPr algn="ctr" indent="0" marL="0">
              <a:buNone/>
            </a:pPr>
            <a:r>
              <a:rPr lang="en-US" sz="600" b="1" dirty="0">
                <a:solidFill>
                  <a:srgbClr val="FFFFFF"/>
                </a:solidFill>
                <a:latin typeface="Calibri" pitchFamily="34" charset="0"/>
                <a:ea typeface="Calibri" pitchFamily="34" charset="-122"/>
                <a:cs typeface="Calibri" pitchFamily="34" charset="-120"/>
              </a:rPr>
              <a:t>✓</a:t>
            </a:r>
            <a:endParaRPr lang="en-US" sz="600" dirty="0"/>
          </a:p>
        </p:txBody>
      </p:sp>
      <p:sp>
        <p:nvSpPr>
          <p:cNvPr id="24" name="Text 22"/>
          <p:cNvSpPr/>
          <p:nvPr/>
        </p:nvSpPr>
        <p:spPr>
          <a:xfrm>
            <a:off x="640080" y="2697480"/>
            <a:ext cx="1920240" cy="201168"/>
          </a:xfrm>
          <a:prstGeom prst="rect">
            <a:avLst/>
          </a:prstGeom>
          <a:noFill/>
          <a:ln/>
        </p:spPr>
        <p:txBody>
          <a:bodyPr wrap="square" lIns="0" tIns="0" rIns="0" bIns="0" rtlCol="0" anchor="ctr"/>
          <a:lstStyle/>
          <a:p>
            <a:pPr indent="0" marL="0">
              <a:buNone/>
            </a:pPr>
            <a:r>
              <a:rPr lang="en-US" sz="950" dirty="0">
                <a:solidFill>
                  <a:srgbClr val="2C2C2C"/>
                </a:solidFill>
                <a:latin typeface="Calibri" pitchFamily="34" charset="0"/>
                <a:ea typeface="Calibri" pitchFamily="34" charset="-122"/>
                <a:cs typeface="Calibri" pitchFamily="34" charset="-120"/>
              </a:rPr>
              <a:t>About</a:t>
            </a:r>
            <a:endParaRPr lang="en-US" sz="950" dirty="0"/>
          </a:p>
        </p:txBody>
      </p:sp>
      <p:sp>
        <p:nvSpPr>
          <p:cNvPr id="25" name="Shape 23"/>
          <p:cNvSpPr/>
          <p:nvPr/>
        </p:nvSpPr>
        <p:spPr>
          <a:xfrm>
            <a:off x="457200" y="2990088"/>
            <a:ext cx="118872" cy="118872"/>
          </a:xfrm>
          <a:prstGeom prst="ellipse">
            <a:avLst/>
          </a:prstGeom>
          <a:solidFill>
            <a:srgbClr val="C9A84C"/>
          </a:solidFill>
          <a:ln w="12700">
            <a:solidFill>
              <a:srgbClr val="C9A84C"/>
            </a:solidFill>
            <a:prstDash val="solid"/>
          </a:ln>
        </p:spPr>
      </p:sp>
      <p:sp>
        <p:nvSpPr>
          <p:cNvPr id="26" name="Text 24"/>
          <p:cNvSpPr/>
          <p:nvPr/>
        </p:nvSpPr>
        <p:spPr>
          <a:xfrm>
            <a:off x="457200" y="2971800"/>
            <a:ext cx="118872" cy="146304"/>
          </a:xfrm>
          <a:prstGeom prst="rect">
            <a:avLst/>
          </a:prstGeom>
          <a:noFill/>
          <a:ln/>
        </p:spPr>
        <p:txBody>
          <a:bodyPr wrap="square" lIns="0" tIns="0" rIns="0" bIns="0" rtlCol="0" anchor="ctr"/>
          <a:lstStyle/>
          <a:p>
            <a:pPr algn="ctr" indent="0" marL="0">
              <a:buNone/>
            </a:pPr>
            <a:r>
              <a:rPr lang="en-US" sz="600" b="1" dirty="0">
                <a:solidFill>
                  <a:srgbClr val="FFFFFF"/>
                </a:solidFill>
                <a:latin typeface="Calibri" pitchFamily="34" charset="0"/>
                <a:ea typeface="Calibri" pitchFamily="34" charset="-122"/>
                <a:cs typeface="Calibri" pitchFamily="34" charset="-120"/>
              </a:rPr>
              <a:t>✓</a:t>
            </a:r>
            <a:endParaRPr lang="en-US" sz="600" dirty="0"/>
          </a:p>
        </p:txBody>
      </p:sp>
      <p:sp>
        <p:nvSpPr>
          <p:cNvPr id="27" name="Text 25"/>
          <p:cNvSpPr/>
          <p:nvPr/>
        </p:nvSpPr>
        <p:spPr>
          <a:xfrm>
            <a:off x="640080" y="2944368"/>
            <a:ext cx="1920240" cy="201168"/>
          </a:xfrm>
          <a:prstGeom prst="rect">
            <a:avLst/>
          </a:prstGeom>
          <a:noFill/>
          <a:ln/>
        </p:spPr>
        <p:txBody>
          <a:bodyPr wrap="square" lIns="0" tIns="0" rIns="0" bIns="0" rtlCol="0" anchor="ctr"/>
          <a:lstStyle/>
          <a:p>
            <a:pPr indent="0" marL="0">
              <a:buNone/>
            </a:pPr>
            <a:r>
              <a:rPr lang="en-US" sz="950" dirty="0">
                <a:solidFill>
                  <a:srgbClr val="2C2C2C"/>
                </a:solidFill>
                <a:latin typeface="Calibri" pitchFamily="34" charset="0"/>
                <a:ea typeface="Calibri" pitchFamily="34" charset="-122"/>
                <a:cs typeface="Calibri" pitchFamily="34" charset="-120"/>
              </a:rPr>
              <a:t>Contact</a:t>
            </a:r>
            <a:endParaRPr lang="en-US" sz="950" dirty="0"/>
          </a:p>
        </p:txBody>
      </p:sp>
      <p:sp>
        <p:nvSpPr>
          <p:cNvPr id="28" name="Shape 26"/>
          <p:cNvSpPr/>
          <p:nvPr/>
        </p:nvSpPr>
        <p:spPr>
          <a:xfrm>
            <a:off x="457200" y="3282696"/>
            <a:ext cx="1828800" cy="18288"/>
          </a:xfrm>
          <a:prstGeom prst="rect">
            <a:avLst/>
          </a:prstGeom>
          <a:solidFill>
            <a:srgbClr val="E0E0E0"/>
          </a:solidFill>
          <a:ln w="12700">
            <a:solidFill>
              <a:srgbClr val="E0E0E0"/>
            </a:solidFill>
            <a:prstDash val="solid"/>
          </a:ln>
        </p:spPr>
      </p:sp>
      <p:sp>
        <p:nvSpPr>
          <p:cNvPr id="29" name="Text 27"/>
          <p:cNvSpPr/>
          <p:nvPr/>
        </p:nvSpPr>
        <p:spPr>
          <a:xfrm>
            <a:off x="457200" y="3364992"/>
            <a:ext cx="2103120" cy="219456"/>
          </a:xfrm>
          <a:prstGeom prst="rect">
            <a:avLst/>
          </a:prstGeom>
          <a:noFill/>
          <a:ln/>
        </p:spPr>
        <p:txBody>
          <a:bodyPr wrap="square" lIns="0" tIns="0" rIns="0" bIns="0" rtlCol="0" anchor="ctr"/>
          <a:lstStyle/>
          <a:p>
            <a:pPr indent="0" marL="0">
              <a:buNone/>
            </a:pPr>
            <a:r>
              <a:rPr lang="en-US" sz="1000" b="1" dirty="0">
                <a:solidFill>
                  <a:srgbClr val="2C2C2C"/>
                </a:solidFill>
                <a:latin typeface="Calibri" pitchFamily="34" charset="0"/>
                <a:ea typeface="Calibri" pitchFamily="34" charset="-122"/>
                <a:cs typeface="Calibri" pitchFamily="34" charset="-120"/>
              </a:rPr>
              <a:t>Additional Flows</a:t>
            </a:r>
            <a:endParaRPr lang="en-US" sz="1000" dirty="0"/>
          </a:p>
        </p:txBody>
      </p:sp>
      <p:sp>
        <p:nvSpPr>
          <p:cNvPr id="30" name="Shape 28"/>
          <p:cNvSpPr/>
          <p:nvPr/>
        </p:nvSpPr>
        <p:spPr>
          <a:xfrm>
            <a:off x="457200" y="3666744"/>
            <a:ext cx="118872" cy="118872"/>
          </a:xfrm>
          <a:prstGeom prst="ellipse">
            <a:avLst/>
          </a:prstGeom>
          <a:solidFill>
            <a:srgbClr val="C9A84C"/>
          </a:solidFill>
          <a:ln w="12700">
            <a:solidFill>
              <a:srgbClr val="C9A84C"/>
            </a:solidFill>
            <a:prstDash val="solid"/>
          </a:ln>
        </p:spPr>
      </p:sp>
      <p:sp>
        <p:nvSpPr>
          <p:cNvPr id="31" name="Text 29"/>
          <p:cNvSpPr/>
          <p:nvPr/>
        </p:nvSpPr>
        <p:spPr>
          <a:xfrm>
            <a:off x="457200" y="3648456"/>
            <a:ext cx="118872" cy="146304"/>
          </a:xfrm>
          <a:prstGeom prst="rect">
            <a:avLst/>
          </a:prstGeom>
          <a:noFill/>
          <a:ln/>
        </p:spPr>
        <p:txBody>
          <a:bodyPr wrap="square" lIns="0" tIns="0" rIns="0" bIns="0" rtlCol="0" anchor="ctr"/>
          <a:lstStyle/>
          <a:p>
            <a:pPr algn="ctr" indent="0" marL="0">
              <a:buNone/>
            </a:pPr>
            <a:r>
              <a:rPr lang="en-US" sz="600" b="1" dirty="0">
                <a:solidFill>
                  <a:srgbClr val="FFFFFF"/>
                </a:solidFill>
                <a:latin typeface="Calibri" pitchFamily="34" charset="0"/>
                <a:ea typeface="Calibri" pitchFamily="34" charset="-122"/>
                <a:cs typeface="Calibri" pitchFamily="34" charset="-120"/>
              </a:rPr>
              <a:t>✓</a:t>
            </a:r>
            <a:endParaRPr lang="en-US" sz="600" dirty="0"/>
          </a:p>
        </p:txBody>
      </p:sp>
      <p:sp>
        <p:nvSpPr>
          <p:cNvPr id="32" name="Text 30"/>
          <p:cNvSpPr/>
          <p:nvPr/>
        </p:nvSpPr>
        <p:spPr>
          <a:xfrm>
            <a:off x="640080" y="3621024"/>
            <a:ext cx="1920240" cy="201168"/>
          </a:xfrm>
          <a:prstGeom prst="rect">
            <a:avLst/>
          </a:prstGeom>
          <a:noFill/>
          <a:ln/>
        </p:spPr>
        <p:txBody>
          <a:bodyPr wrap="square" lIns="0" tIns="0" rIns="0" bIns="0" rtlCol="0" anchor="ctr"/>
          <a:lstStyle/>
          <a:p>
            <a:pPr indent="0" marL="0">
              <a:buNone/>
            </a:pPr>
            <a:r>
              <a:rPr lang="en-US" sz="950" dirty="0">
                <a:solidFill>
                  <a:srgbClr val="2C2C2C"/>
                </a:solidFill>
                <a:latin typeface="Calibri" pitchFamily="34" charset="0"/>
                <a:ea typeface="Calibri" pitchFamily="34" charset="-122"/>
                <a:cs typeface="Calibri" pitchFamily="34" charset="-120"/>
              </a:rPr>
              <a:t>Live Demo Flow</a:t>
            </a:r>
            <a:endParaRPr lang="en-US" sz="950" dirty="0"/>
          </a:p>
        </p:txBody>
      </p:sp>
      <p:sp>
        <p:nvSpPr>
          <p:cNvPr id="33" name="Shape 31"/>
          <p:cNvSpPr/>
          <p:nvPr/>
        </p:nvSpPr>
        <p:spPr>
          <a:xfrm>
            <a:off x="457200" y="3913632"/>
            <a:ext cx="118872" cy="118872"/>
          </a:xfrm>
          <a:prstGeom prst="ellipse">
            <a:avLst/>
          </a:prstGeom>
          <a:solidFill>
            <a:srgbClr val="C9A84C"/>
          </a:solidFill>
          <a:ln w="12700">
            <a:solidFill>
              <a:srgbClr val="C9A84C"/>
            </a:solidFill>
            <a:prstDash val="solid"/>
          </a:ln>
        </p:spPr>
      </p:sp>
      <p:sp>
        <p:nvSpPr>
          <p:cNvPr id="34" name="Text 32"/>
          <p:cNvSpPr/>
          <p:nvPr/>
        </p:nvSpPr>
        <p:spPr>
          <a:xfrm>
            <a:off x="457200" y="3895344"/>
            <a:ext cx="118872" cy="146304"/>
          </a:xfrm>
          <a:prstGeom prst="rect">
            <a:avLst/>
          </a:prstGeom>
          <a:noFill/>
          <a:ln/>
        </p:spPr>
        <p:txBody>
          <a:bodyPr wrap="square" lIns="0" tIns="0" rIns="0" bIns="0" rtlCol="0" anchor="ctr"/>
          <a:lstStyle/>
          <a:p>
            <a:pPr algn="ctr" indent="0" marL="0">
              <a:buNone/>
            </a:pPr>
            <a:r>
              <a:rPr lang="en-US" sz="600" b="1" dirty="0">
                <a:solidFill>
                  <a:srgbClr val="FFFFFF"/>
                </a:solidFill>
                <a:latin typeface="Calibri" pitchFamily="34" charset="0"/>
                <a:ea typeface="Calibri" pitchFamily="34" charset="-122"/>
                <a:cs typeface="Calibri" pitchFamily="34" charset="-120"/>
              </a:rPr>
              <a:t>✓</a:t>
            </a:r>
            <a:endParaRPr lang="en-US" sz="600" dirty="0"/>
          </a:p>
        </p:txBody>
      </p:sp>
      <p:sp>
        <p:nvSpPr>
          <p:cNvPr id="35" name="Text 33"/>
          <p:cNvSpPr/>
          <p:nvPr/>
        </p:nvSpPr>
        <p:spPr>
          <a:xfrm>
            <a:off x="640080" y="3867912"/>
            <a:ext cx="1920240" cy="201168"/>
          </a:xfrm>
          <a:prstGeom prst="rect">
            <a:avLst/>
          </a:prstGeom>
          <a:noFill/>
          <a:ln/>
        </p:spPr>
        <p:txBody>
          <a:bodyPr wrap="square" lIns="0" tIns="0" rIns="0" bIns="0" rtlCol="0" anchor="ctr"/>
          <a:lstStyle/>
          <a:p>
            <a:pPr indent="0" marL="0">
              <a:buNone/>
            </a:pPr>
            <a:r>
              <a:rPr lang="en-US" sz="950" dirty="0">
                <a:solidFill>
                  <a:srgbClr val="2C2C2C"/>
                </a:solidFill>
                <a:latin typeface="Calibri" pitchFamily="34" charset="0"/>
                <a:ea typeface="Calibri" pitchFamily="34" charset="-122"/>
                <a:cs typeface="Calibri" pitchFamily="34" charset="-120"/>
              </a:rPr>
              <a:t>Signup Flow</a:t>
            </a:r>
            <a:endParaRPr lang="en-US" sz="950" dirty="0"/>
          </a:p>
        </p:txBody>
      </p:sp>
      <p:sp>
        <p:nvSpPr>
          <p:cNvPr id="36" name="Text 34"/>
          <p:cNvSpPr/>
          <p:nvPr/>
        </p:nvSpPr>
        <p:spPr>
          <a:xfrm>
            <a:off x="2834640" y="960120"/>
            <a:ext cx="3474720" cy="201168"/>
          </a:xfrm>
          <a:prstGeom prst="rect">
            <a:avLst/>
          </a:prstGeom>
          <a:noFill/>
          <a:ln/>
        </p:spPr>
        <p:txBody>
          <a:bodyPr wrap="square" lIns="0" tIns="0" rIns="0" bIns="0" rtlCol="0" anchor="ctr"/>
          <a:lstStyle/>
          <a:p>
            <a:pPr indent="0" marL="0">
              <a:buNone/>
            </a:pPr>
            <a:r>
              <a:rPr lang="en-US" sz="750" b="1" spc="400" kern="0" dirty="0">
                <a:solidFill>
                  <a:srgbClr val="C9A84C"/>
                </a:solidFill>
                <a:latin typeface="Calibri" pitchFamily="34" charset="0"/>
                <a:ea typeface="Calibri" pitchFamily="34" charset="-122"/>
                <a:cs typeface="Calibri" pitchFamily="34" charset="-120"/>
              </a:rPr>
              <a:t>METHODOLOGY</a:t>
            </a:r>
            <a:endParaRPr lang="en-US" sz="750" dirty="0"/>
          </a:p>
        </p:txBody>
      </p:sp>
      <p:sp>
        <p:nvSpPr>
          <p:cNvPr id="37" name="Shape 35"/>
          <p:cNvSpPr/>
          <p:nvPr/>
        </p:nvSpPr>
        <p:spPr>
          <a:xfrm>
            <a:off x="2834640" y="1207008"/>
            <a:ext cx="3429000" cy="539496"/>
          </a:xfrm>
          <a:prstGeom prst="roundRect">
            <a:avLst>
              <a:gd name="adj" fmla="val 10169"/>
            </a:avLst>
          </a:prstGeom>
          <a:solidFill>
            <a:srgbClr val="F2F2F2"/>
          </a:solidFill>
          <a:ln w="12700">
            <a:solidFill>
              <a:srgbClr val="E0E0E0"/>
            </a:solidFill>
            <a:prstDash val="solid"/>
          </a:ln>
          <a:effectLst>
            <a:outerShdw sx="100000" sy="100000" kx="0" ky="0" algn="bl" rotWithShape="0" blurRad="50800" dist="12700" dir="5400000">
              <a:srgbClr val="000000">
                <a:alpha val="7000"/>
              </a:srgbClr>
            </a:outerShdw>
          </a:effectLst>
        </p:spPr>
      </p:sp>
      <p:sp>
        <p:nvSpPr>
          <p:cNvPr id="38" name="Text 36"/>
          <p:cNvSpPr/>
          <p:nvPr/>
        </p:nvSpPr>
        <p:spPr>
          <a:xfrm>
            <a:off x="2999232" y="1271016"/>
            <a:ext cx="3108960" cy="201168"/>
          </a:xfrm>
          <a:prstGeom prst="rect">
            <a:avLst/>
          </a:prstGeom>
          <a:noFill/>
          <a:ln/>
        </p:spPr>
        <p:txBody>
          <a:bodyPr wrap="square" lIns="0" tIns="0" rIns="0" bIns="0" rtlCol="0" anchor="ctr"/>
          <a:lstStyle/>
          <a:p>
            <a:pPr indent="0" marL="0">
              <a:buNone/>
            </a:pPr>
            <a:r>
              <a:rPr lang="en-US" sz="1050" b="1" dirty="0">
                <a:solidFill>
                  <a:srgbClr val="2C2C2C"/>
                </a:solidFill>
                <a:latin typeface="Cambria" pitchFamily="34" charset="0"/>
                <a:ea typeface="Cambria" pitchFamily="34" charset="-122"/>
                <a:cs typeface="Cambria" pitchFamily="34" charset="-120"/>
              </a:rPr>
              <a:t>UX Review</a:t>
            </a:r>
            <a:endParaRPr lang="en-US" sz="1050" dirty="0"/>
          </a:p>
        </p:txBody>
      </p:sp>
      <p:sp>
        <p:nvSpPr>
          <p:cNvPr id="39" name="Text 37"/>
          <p:cNvSpPr/>
          <p:nvPr/>
        </p:nvSpPr>
        <p:spPr>
          <a:xfrm>
            <a:off x="2999232" y="1490472"/>
            <a:ext cx="3108960" cy="182880"/>
          </a:xfrm>
          <a:prstGeom prst="rect">
            <a:avLst/>
          </a:prstGeom>
          <a:noFill/>
          <a:ln/>
        </p:spPr>
        <p:txBody>
          <a:bodyPr wrap="square" lIns="0" tIns="0" rIns="0" bIns="0" rtlCol="0" anchor="ctr"/>
          <a:lstStyle/>
          <a:p>
            <a:pPr indent="0" marL="0">
              <a:buNone/>
            </a:pPr>
            <a:r>
              <a:rPr lang="en-US" sz="850" dirty="0">
                <a:solidFill>
                  <a:srgbClr val="6B6B6B"/>
                </a:solidFill>
                <a:latin typeface="Calibri" pitchFamily="34" charset="0"/>
                <a:ea typeface="Calibri" pitchFamily="34" charset="-122"/>
                <a:cs typeface="Calibri" pitchFamily="34" charset="-120"/>
              </a:rPr>
              <a:t>Page-by-page usability evaluation</a:t>
            </a:r>
            <a:endParaRPr lang="en-US" sz="850" dirty="0"/>
          </a:p>
        </p:txBody>
      </p:sp>
      <p:sp>
        <p:nvSpPr>
          <p:cNvPr id="40" name="Shape 38"/>
          <p:cNvSpPr/>
          <p:nvPr/>
        </p:nvSpPr>
        <p:spPr>
          <a:xfrm>
            <a:off x="2834640" y="1837944"/>
            <a:ext cx="3429000" cy="539496"/>
          </a:xfrm>
          <a:prstGeom prst="roundRect">
            <a:avLst>
              <a:gd name="adj" fmla="val 10169"/>
            </a:avLst>
          </a:prstGeom>
          <a:solidFill>
            <a:srgbClr val="F2F2F2"/>
          </a:solidFill>
          <a:ln w="12700">
            <a:solidFill>
              <a:srgbClr val="E0E0E0"/>
            </a:solidFill>
            <a:prstDash val="solid"/>
          </a:ln>
          <a:effectLst>
            <a:outerShdw sx="100000" sy="100000" kx="0" ky="0" algn="bl" rotWithShape="0" blurRad="50800" dist="12700" dir="5400000">
              <a:srgbClr val="000000">
                <a:alpha val="7000"/>
              </a:srgbClr>
            </a:outerShdw>
          </a:effectLst>
        </p:spPr>
      </p:sp>
      <p:sp>
        <p:nvSpPr>
          <p:cNvPr id="41" name="Text 39"/>
          <p:cNvSpPr/>
          <p:nvPr/>
        </p:nvSpPr>
        <p:spPr>
          <a:xfrm>
            <a:off x="2999232" y="1901952"/>
            <a:ext cx="3108960" cy="201168"/>
          </a:xfrm>
          <a:prstGeom prst="rect">
            <a:avLst/>
          </a:prstGeom>
          <a:noFill/>
          <a:ln/>
        </p:spPr>
        <p:txBody>
          <a:bodyPr wrap="square" lIns="0" tIns="0" rIns="0" bIns="0" rtlCol="0" anchor="ctr"/>
          <a:lstStyle/>
          <a:p>
            <a:pPr indent="0" marL="0">
              <a:buNone/>
            </a:pPr>
            <a:r>
              <a:rPr lang="en-US" sz="1050" b="1" dirty="0">
                <a:solidFill>
                  <a:srgbClr val="2C2C2C"/>
                </a:solidFill>
                <a:latin typeface="Cambria" pitchFamily="34" charset="0"/>
                <a:ea typeface="Cambria" pitchFamily="34" charset="-122"/>
                <a:cs typeface="Cambria" pitchFamily="34" charset="-120"/>
              </a:rPr>
              <a:t>Conversion Review</a:t>
            </a:r>
            <a:endParaRPr lang="en-US" sz="1050" dirty="0"/>
          </a:p>
        </p:txBody>
      </p:sp>
      <p:sp>
        <p:nvSpPr>
          <p:cNvPr id="42" name="Text 40"/>
          <p:cNvSpPr/>
          <p:nvPr/>
        </p:nvSpPr>
        <p:spPr>
          <a:xfrm>
            <a:off x="2999232" y="2121408"/>
            <a:ext cx="3108960" cy="182880"/>
          </a:xfrm>
          <a:prstGeom prst="rect">
            <a:avLst/>
          </a:prstGeom>
          <a:noFill/>
          <a:ln/>
        </p:spPr>
        <p:txBody>
          <a:bodyPr wrap="square" lIns="0" tIns="0" rIns="0" bIns="0" rtlCol="0" anchor="ctr"/>
          <a:lstStyle/>
          <a:p>
            <a:pPr indent="0" marL="0">
              <a:buNone/>
            </a:pPr>
            <a:r>
              <a:rPr lang="en-US" sz="850" dirty="0">
                <a:solidFill>
                  <a:srgbClr val="6B6B6B"/>
                </a:solidFill>
                <a:latin typeface="Calibri" pitchFamily="34" charset="0"/>
                <a:ea typeface="Calibri" pitchFamily="34" charset="-122"/>
                <a:cs typeface="Calibri" pitchFamily="34" charset="-120"/>
              </a:rPr>
              <a:t>CTA placement and user journey analysis</a:t>
            </a:r>
            <a:endParaRPr lang="en-US" sz="850" dirty="0"/>
          </a:p>
        </p:txBody>
      </p:sp>
      <p:sp>
        <p:nvSpPr>
          <p:cNvPr id="43" name="Shape 41"/>
          <p:cNvSpPr/>
          <p:nvPr/>
        </p:nvSpPr>
        <p:spPr>
          <a:xfrm>
            <a:off x="2834640" y="2468880"/>
            <a:ext cx="3429000" cy="539496"/>
          </a:xfrm>
          <a:prstGeom prst="roundRect">
            <a:avLst>
              <a:gd name="adj" fmla="val 10169"/>
            </a:avLst>
          </a:prstGeom>
          <a:solidFill>
            <a:srgbClr val="F2F2F2"/>
          </a:solidFill>
          <a:ln w="12700">
            <a:solidFill>
              <a:srgbClr val="E0E0E0"/>
            </a:solidFill>
            <a:prstDash val="solid"/>
          </a:ln>
          <a:effectLst>
            <a:outerShdw sx="100000" sy="100000" kx="0" ky="0" algn="bl" rotWithShape="0" blurRad="50800" dist="12700" dir="5400000">
              <a:srgbClr val="000000">
                <a:alpha val="7000"/>
              </a:srgbClr>
            </a:outerShdw>
          </a:effectLst>
        </p:spPr>
      </p:sp>
      <p:sp>
        <p:nvSpPr>
          <p:cNvPr id="44" name="Text 42"/>
          <p:cNvSpPr/>
          <p:nvPr/>
        </p:nvSpPr>
        <p:spPr>
          <a:xfrm>
            <a:off x="2999232" y="2532888"/>
            <a:ext cx="3108960" cy="201168"/>
          </a:xfrm>
          <a:prstGeom prst="rect">
            <a:avLst/>
          </a:prstGeom>
          <a:noFill/>
          <a:ln/>
        </p:spPr>
        <p:txBody>
          <a:bodyPr wrap="square" lIns="0" tIns="0" rIns="0" bIns="0" rtlCol="0" anchor="ctr"/>
          <a:lstStyle/>
          <a:p>
            <a:pPr indent="0" marL="0">
              <a:buNone/>
            </a:pPr>
            <a:r>
              <a:rPr lang="en-US" sz="1050" b="1" dirty="0">
                <a:solidFill>
                  <a:srgbClr val="2C2C2C"/>
                </a:solidFill>
                <a:latin typeface="Cambria" pitchFamily="34" charset="0"/>
                <a:ea typeface="Cambria" pitchFamily="34" charset="-122"/>
                <a:cs typeface="Cambria" pitchFamily="34" charset="-120"/>
              </a:rPr>
              <a:t>Technical Review</a:t>
            </a:r>
            <a:endParaRPr lang="en-US" sz="1050" dirty="0"/>
          </a:p>
        </p:txBody>
      </p:sp>
      <p:sp>
        <p:nvSpPr>
          <p:cNvPr id="45" name="Text 43"/>
          <p:cNvSpPr/>
          <p:nvPr/>
        </p:nvSpPr>
        <p:spPr>
          <a:xfrm>
            <a:off x="2999232" y="2752344"/>
            <a:ext cx="3108960" cy="182880"/>
          </a:xfrm>
          <a:prstGeom prst="rect">
            <a:avLst/>
          </a:prstGeom>
          <a:noFill/>
          <a:ln/>
        </p:spPr>
        <p:txBody>
          <a:bodyPr wrap="square" lIns="0" tIns="0" rIns="0" bIns="0" rtlCol="0" anchor="ctr"/>
          <a:lstStyle/>
          <a:p>
            <a:pPr indent="0" marL="0">
              <a:buNone/>
            </a:pPr>
            <a:r>
              <a:rPr lang="en-US" sz="850" dirty="0">
                <a:solidFill>
                  <a:srgbClr val="6B6B6B"/>
                </a:solidFill>
                <a:latin typeface="Calibri" pitchFamily="34" charset="0"/>
                <a:ea typeface="Calibri" pitchFamily="34" charset="-122"/>
                <a:cs typeface="Calibri" pitchFamily="34" charset="-120"/>
              </a:rPr>
              <a:t>HTML inspection · Metadata · Link verification</a:t>
            </a:r>
            <a:endParaRPr lang="en-US" sz="850" dirty="0"/>
          </a:p>
        </p:txBody>
      </p:sp>
      <p:sp>
        <p:nvSpPr>
          <p:cNvPr id="46" name="Shape 44"/>
          <p:cNvSpPr/>
          <p:nvPr/>
        </p:nvSpPr>
        <p:spPr>
          <a:xfrm>
            <a:off x="2834640" y="3099816"/>
            <a:ext cx="3429000" cy="539496"/>
          </a:xfrm>
          <a:prstGeom prst="roundRect">
            <a:avLst>
              <a:gd name="adj" fmla="val 10169"/>
            </a:avLst>
          </a:prstGeom>
          <a:solidFill>
            <a:srgbClr val="F2F2F2"/>
          </a:solidFill>
          <a:ln w="12700">
            <a:solidFill>
              <a:srgbClr val="E0E0E0"/>
            </a:solidFill>
            <a:prstDash val="solid"/>
          </a:ln>
          <a:effectLst>
            <a:outerShdw sx="100000" sy="100000" kx="0" ky="0" algn="bl" rotWithShape="0" blurRad="50800" dist="12700" dir="5400000">
              <a:srgbClr val="000000">
                <a:alpha val="7000"/>
              </a:srgbClr>
            </a:outerShdw>
          </a:effectLst>
        </p:spPr>
      </p:sp>
      <p:sp>
        <p:nvSpPr>
          <p:cNvPr id="47" name="Text 45"/>
          <p:cNvSpPr/>
          <p:nvPr/>
        </p:nvSpPr>
        <p:spPr>
          <a:xfrm>
            <a:off x="2999232" y="3163824"/>
            <a:ext cx="3108960" cy="201168"/>
          </a:xfrm>
          <a:prstGeom prst="rect">
            <a:avLst/>
          </a:prstGeom>
          <a:noFill/>
          <a:ln/>
        </p:spPr>
        <p:txBody>
          <a:bodyPr wrap="square" lIns="0" tIns="0" rIns="0" bIns="0" rtlCol="0" anchor="ctr"/>
          <a:lstStyle/>
          <a:p>
            <a:pPr indent="0" marL="0">
              <a:buNone/>
            </a:pPr>
            <a:r>
              <a:rPr lang="en-US" sz="1050" b="1" dirty="0">
                <a:solidFill>
                  <a:srgbClr val="2C2C2C"/>
                </a:solidFill>
                <a:latin typeface="Cambria" pitchFamily="34" charset="0"/>
                <a:ea typeface="Cambria" pitchFamily="34" charset="-122"/>
                <a:cs typeface="Cambria" pitchFamily="34" charset="-120"/>
              </a:rPr>
              <a:t>Performance Review</a:t>
            </a:r>
            <a:endParaRPr lang="en-US" sz="1050" dirty="0"/>
          </a:p>
        </p:txBody>
      </p:sp>
      <p:sp>
        <p:nvSpPr>
          <p:cNvPr id="48" name="Text 46"/>
          <p:cNvSpPr/>
          <p:nvPr/>
        </p:nvSpPr>
        <p:spPr>
          <a:xfrm>
            <a:off x="2999232" y="3383280"/>
            <a:ext cx="3108960" cy="182880"/>
          </a:xfrm>
          <a:prstGeom prst="rect">
            <a:avLst/>
          </a:prstGeom>
          <a:noFill/>
          <a:ln/>
        </p:spPr>
        <p:txBody>
          <a:bodyPr wrap="square" lIns="0" tIns="0" rIns="0" bIns="0" rtlCol="0" anchor="ctr"/>
          <a:lstStyle/>
          <a:p>
            <a:pPr indent="0" marL="0">
              <a:buNone/>
            </a:pPr>
            <a:r>
              <a:rPr lang="en-US" sz="850" dirty="0">
                <a:solidFill>
                  <a:srgbClr val="6B6B6B"/>
                </a:solidFill>
                <a:latin typeface="Calibri" pitchFamily="34" charset="0"/>
                <a:ea typeface="Calibri" pitchFamily="34" charset="-122"/>
                <a:cs typeface="Calibri" pitchFamily="34" charset="-120"/>
              </a:rPr>
              <a:t>Google PageSpeed · Core Web Vitals</a:t>
            </a:r>
            <a:endParaRPr lang="en-US" sz="850" dirty="0"/>
          </a:p>
        </p:txBody>
      </p:sp>
      <p:sp>
        <p:nvSpPr>
          <p:cNvPr id="49" name="Shape 47"/>
          <p:cNvSpPr/>
          <p:nvPr/>
        </p:nvSpPr>
        <p:spPr>
          <a:xfrm>
            <a:off x="2834640" y="3730752"/>
            <a:ext cx="3429000" cy="539496"/>
          </a:xfrm>
          <a:prstGeom prst="roundRect">
            <a:avLst>
              <a:gd name="adj" fmla="val 10169"/>
            </a:avLst>
          </a:prstGeom>
          <a:solidFill>
            <a:srgbClr val="F2F2F2"/>
          </a:solidFill>
          <a:ln w="12700">
            <a:solidFill>
              <a:srgbClr val="E0E0E0"/>
            </a:solidFill>
            <a:prstDash val="solid"/>
          </a:ln>
          <a:effectLst>
            <a:outerShdw sx="100000" sy="100000" kx="0" ky="0" algn="bl" rotWithShape="0" blurRad="50800" dist="12700" dir="5400000">
              <a:srgbClr val="000000">
                <a:alpha val="7000"/>
              </a:srgbClr>
            </a:outerShdw>
          </a:effectLst>
        </p:spPr>
      </p:sp>
      <p:sp>
        <p:nvSpPr>
          <p:cNvPr id="50" name="Text 48"/>
          <p:cNvSpPr/>
          <p:nvPr/>
        </p:nvSpPr>
        <p:spPr>
          <a:xfrm>
            <a:off x="2999232" y="3794760"/>
            <a:ext cx="3108960" cy="201168"/>
          </a:xfrm>
          <a:prstGeom prst="rect">
            <a:avLst/>
          </a:prstGeom>
          <a:noFill/>
          <a:ln/>
        </p:spPr>
        <p:txBody>
          <a:bodyPr wrap="square" lIns="0" tIns="0" rIns="0" bIns="0" rtlCol="0" anchor="ctr"/>
          <a:lstStyle/>
          <a:p>
            <a:pPr indent="0" marL="0">
              <a:buNone/>
            </a:pPr>
            <a:r>
              <a:rPr lang="en-US" sz="1050" b="1" dirty="0">
                <a:solidFill>
                  <a:srgbClr val="2C2C2C"/>
                </a:solidFill>
                <a:latin typeface="Cambria" pitchFamily="34" charset="0"/>
                <a:ea typeface="Cambria" pitchFamily="34" charset="-122"/>
                <a:cs typeface="Cambria" pitchFamily="34" charset="-120"/>
              </a:rPr>
              <a:t>Content QA</a:t>
            </a:r>
            <a:endParaRPr lang="en-US" sz="1050" dirty="0"/>
          </a:p>
        </p:txBody>
      </p:sp>
      <p:sp>
        <p:nvSpPr>
          <p:cNvPr id="51" name="Text 49"/>
          <p:cNvSpPr/>
          <p:nvPr/>
        </p:nvSpPr>
        <p:spPr>
          <a:xfrm>
            <a:off x="2999232" y="4014216"/>
            <a:ext cx="3108960" cy="182880"/>
          </a:xfrm>
          <a:prstGeom prst="rect">
            <a:avLst/>
          </a:prstGeom>
          <a:noFill/>
          <a:ln/>
        </p:spPr>
        <p:txBody>
          <a:bodyPr wrap="square" lIns="0" tIns="0" rIns="0" bIns="0" rtlCol="0" anchor="ctr"/>
          <a:lstStyle/>
          <a:p>
            <a:pPr indent="0" marL="0">
              <a:buNone/>
            </a:pPr>
            <a:r>
              <a:rPr lang="en-US" sz="850" dirty="0">
                <a:solidFill>
                  <a:srgbClr val="6B6B6B"/>
                </a:solidFill>
                <a:latin typeface="Calibri" pitchFamily="34" charset="0"/>
                <a:ea typeface="Calibri" pitchFamily="34" charset="-122"/>
                <a:cs typeface="Calibri" pitchFamily="34" charset="-120"/>
              </a:rPr>
              <a:t>Article quality · Duplicate detection · Consistency</a:t>
            </a:r>
            <a:endParaRPr lang="en-US" sz="850" dirty="0"/>
          </a:p>
        </p:txBody>
      </p:sp>
      <p:sp>
        <p:nvSpPr>
          <p:cNvPr id="52" name="Text 50"/>
          <p:cNvSpPr/>
          <p:nvPr/>
        </p:nvSpPr>
        <p:spPr>
          <a:xfrm>
            <a:off x="6583680" y="960120"/>
            <a:ext cx="2331720" cy="201168"/>
          </a:xfrm>
          <a:prstGeom prst="rect">
            <a:avLst/>
          </a:prstGeom>
          <a:noFill/>
          <a:ln/>
        </p:spPr>
        <p:txBody>
          <a:bodyPr wrap="square" lIns="0" tIns="0" rIns="0" bIns="0" rtlCol="0" anchor="ctr"/>
          <a:lstStyle/>
          <a:p>
            <a:pPr indent="0" marL="0">
              <a:buNone/>
            </a:pPr>
            <a:r>
              <a:rPr lang="en-US" sz="750" b="1" spc="400" kern="0" dirty="0">
                <a:solidFill>
                  <a:srgbClr val="C9A84C"/>
                </a:solidFill>
                <a:latin typeface="Calibri" pitchFamily="34" charset="0"/>
                <a:ea typeface="Calibri" pitchFamily="34" charset="-122"/>
                <a:cs typeface="Calibri" pitchFamily="34" charset="-120"/>
              </a:rPr>
              <a:t>PROCESS</a:t>
            </a:r>
            <a:endParaRPr lang="en-US" sz="750" dirty="0"/>
          </a:p>
        </p:txBody>
      </p:sp>
      <p:sp>
        <p:nvSpPr>
          <p:cNvPr id="53" name="Shape 51"/>
          <p:cNvSpPr/>
          <p:nvPr/>
        </p:nvSpPr>
        <p:spPr>
          <a:xfrm>
            <a:off x="6583680" y="1207008"/>
            <a:ext cx="2331720" cy="457200"/>
          </a:xfrm>
          <a:prstGeom prst="roundRect">
            <a:avLst>
              <a:gd name="adj" fmla="val 12000"/>
            </a:avLst>
          </a:prstGeom>
          <a:solidFill>
            <a:srgbClr val="1A1A1A"/>
          </a:solidFill>
          <a:ln w="12700">
            <a:solidFill>
              <a:srgbClr val="1A1A1A"/>
            </a:solidFill>
            <a:prstDash val="solid"/>
          </a:ln>
        </p:spPr>
      </p:sp>
      <p:sp>
        <p:nvSpPr>
          <p:cNvPr id="54" name="Text 52"/>
          <p:cNvSpPr/>
          <p:nvPr/>
        </p:nvSpPr>
        <p:spPr>
          <a:xfrm>
            <a:off x="6720840" y="1243584"/>
            <a:ext cx="2057400" cy="201168"/>
          </a:xfrm>
          <a:prstGeom prst="rect">
            <a:avLst/>
          </a:prstGeom>
          <a:noFill/>
          <a:ln/>
        </p:spPr>
        <p:txBody>
          <a:bodyPr wrap="square" lIns="0" tIns="0" rIns="0" bIns="0" rtlCol="0" anchor="ctr"/>
          <a:lstStyle/>
          <a:p>
            <a:pPr indent="0" marL="0">
              <a:buNone/>
            </a:pPr>
            <a:r>
              <a:rPr lang="en-US" sz="1000" b="1" dirty="0">
                <a:solidFill>
                  <a:srgbClr val="C9A84C"/>
                </a:solidFill>
                <a:latin typeface="Cambria" pitchFamily="34" charset="0"/>
                <a:ea typeface="Cambria" pitchFamily="34" charset="-122"/>
                <a:cs typeface="Cambria" pitchFamily="34" charset="-120"/>
              </a:rPr>
              <a:t>Audit</a:t>
            </a:r>
            <a:endParaRPr lang="en-US" sz="1000" dirty="0"/>
          </a:p>
        </p:txBody>
      </p:sp>
      <p:sp>
        <p:nvSpPr>
          <p:cNvPr id="55" name="Text 53"/>
          <p:cNvSpPr/>
          <p:nvPr/>
        </p:nvSpPr>
        <p:spPr>
          <a:xfrm>
            <a:off x="6720840" y="1453896"/>
            <a:ext cx="2057400" cy="164592"/>
          </a:xfrm>
          <a:prstGeom prst="rect">
            <a:avLst/>
          </a:prstGeom>
          <a:noFill/>
          <a:ln/>
        </p:spPr>
        <p:txBody>
          <a:bodyPr wrap="square" lIns="0" tIns="0" rIns="0" bIns="0" rtlCol="0" anchor="ctr"/>
          <a:lstStyle/>
          <a:p>
            <a:pPr indent="0" marL="0">
              <a:buNone/>
            </a:pPr>
            <a:r>
              <a:rPr lang="en-US" sz="750" dirty="0">
                <a:solidFill>
                  <a:srgbClr val="888888"/>
                </a:solidFill>
                <a:latin typeface="Calibri" pitchFamily="34" charset="0"/>
                <a:ea typeface="Calibri" pitchFamily="34" charset="-122"/>
                <a:cs typeface="Calibri" pitchFamily="34" charset="-120"/>
              </a:rPr>
              <a:t>Review all public pages</a:t>
            </a:r>
            <a:endParaRPr lang="en-US" sz="750" dirty="0"/>
          </a:p>
        </p:txBody>
      </p:sp>
      <p:sp>
        <p:nvSpPr>
          <p:cNvPr id="56" name="Shape 54"/>
          <p:cNvSpPr/>
          <p:nvPr/>
        </p:nvSpPr>
        <p:spPr>
          <a:xfrm>
            <a:off x="7735824" y="1691640"/>
            <a:ext cx="27432" cy="114300"/>
          </a:xfrm>
          <a:prstGeom prst="rect">
            <a:avLst/>
          </a:prstGeom>
          <a:solidFill>
            <a:srgbClr val="E0E0E0"/>
          </a:solidFill>
          <a:ln w="12700">
            <a:solidFill>
              <a:srgbClr val="E0E0E0"/>
            </a:solidFill>
            <a:prstDash val="solid"/>
          </a:ln>
        </p:spPr>
      </p:sp>
      <p:sp>
        <p:nvSpPr>
          <p:cNvPr id="57" name="Text 55"/>
          <p:cNvSpPr/>
          <p:nvPr/>
        </p:nvSpPr>
        <p:spPr>
          <a:xfrm>
            <a:off x="7639812" y="1705356"/>
            <a:ext cx="219456" cy="164592"/>
          </a:xfrm>
          <a:prstGeom prst="rect">
            <a:avLst/>
          </a:prstGeom>
          <a:noFill/>
          <a:ln/>
        </p:spPr>
        <p:txBody>
          <a:bodyPr wrap="square" lIns="0" tIns="0" rIns="0" bIns="0" rtlCol="0" anchor="ctr"/>
          <a:lstStyle/>
          <a:p>
            <a:pPr algn="ctr" indent="0" marL="0">
              <a:buNone/>
            </a:pPr>
            <a:r>
              <a:rPr lang="en-US" sz="700" dirty="0">
                <a:solidFill>
                  <a:srgbClr val="E0E0E0"/>
                </a:solidFill>
                <a:latin typeface="Calibri" pitchFamily="34" charset="0"/>
                <a:ea typeface="Calibri" pitchFamily="34" charset="-122"/>
                <a:cs typeface="Calibri" pitchFamily="34" charset="-120"/>
              </a:rPr>
              <a:t>▼</a:t>
            </a:r>
            <a:endParaRPr lang="en-US" sz="700" dirty="0"/>
          </a:p>
        </p:txBody>
      </p:sp>
      <p:sp>
        <p:nvSpPr>
          <p:cNvPr id="58" name="Shape 56"/>
          <p:cNvSpPr/>
          <p:nvPr/>
        </p:nvSpPr>
        <p:spPr>
          <a:xfrm>
            <a:off x="6583680" y="1824228"/>
            <a:ext cx="2331720" cy="457200"/>
          </a:xfrm>
          <a:prstGeom prst="roundRect">
            <a:avLst>
              <a:gd name="adj" fmla="val 12000"/>
            </a:avLst>
          </a:prstGeom>
          <a:solidFill>
            <a:srgbClr val="F2F2F2"/>
          </a:solidFill>
          <a:ln w="12700">
            <a:solidFill>
              <a:srgbClr val="E0E0E0"/>
            </a:solidFill>
            <a:prstDash val="solid"/>
          </a:ln>
        </p:spPr>
      </p:sp>
      <p:sp>
        <p:nvSpPr>
          <p:cNvPr id="59" name="Text 57"/>
          <p:cNvSpPr/>
          <p:nvPr/>
        </p:nvSpPr>
        <p:spPr>
          <a:xfrm>
            <a:off x="6720840" y="1860804"/>
            <a:ext cx="2057400" cy="201168"/>
          </a:xfrm>
          <a:prstGeom prst="rect">
            <a:avLst/>
          </a:prstGeom>
          <a:noFill/>
          <a:ln/>
        </p:spPr>
        <p:txBody>
          <a:bodyPr wrap="square" lIns="0" tIns="0" rIns="0" bIns="0" rtlCol="0" anchor="ctr"/>
          <a:lstStyle/>
          <a:p>
            <a:pPr indent="0" marL="0">
              <a:buNone/>
            </a:pPr>
            <a:r>
              <a:rPr lang="en-US" sz="1000" b="1" dirty="0">
                <a:solidFill>
                  <a:srgbClr val="2C2C2C"/>
                </a:solidFill>
                <a:latin typeface="Cambria" pitchFamily="34" charset="0"/>
                <a:ea typeface="Cambria" pitchFamily="34" charset="-122"/>
                <a:cs typeface="Cambria" pitchFamily="34" charset="-120"/>
              </a:rPr>
              <a:t>Prioritize</a:t>
            </a:r>
            <a:endParaRPr lang="en-US" sz="1000" dirty="0"/>
          </a:p>
        </p:txBody>
      </p:sp>
      <p:sp>
        <p:nvSpPr>
          <p:cNvPr id="60" name="Text 58"/>
          <p:cNvSpPr/>
          <p:nvPr/>
        </p:nvSpPr>
        <p:spPr>
          <a:xfrm>
            <a:off x="6720840" y="2071116"/>
            <a:ext cx="2057400" cy="164592"/>
          </a:xfrm>
          <a:prstGeom prst="rect">
            <a:avLst/>
          </a:prstGeom>
          <a:noFill/>
          <a:ln/>
        </p:spPr>
        <p:txBody>
          <a:bodyPr wrap="square" lIns="0" tIns="0" rIns="0" bIns="0" rtlCol="0" anchor="ctr"/>
          <a:lstStyle/>
          <a:p>
            <a:pPr indent="0" marL="0">
              <a:buNone/>
            </a:pPr>
            <a:r>
              <a:rPr lang="en-US" sz="750" dirty="0">
                <a:solidFill>
                  <a:srgbClr val="6B6B6B"/>
                </a:solidFill>
                <a:latin typeface="Calibri" pitchFamily="34" charset="0"/>
                <a:ea typeface="Calibri" pitchFamily="34" charset="-122"/>
                <a:cs typeface="Calibri" pitchFamily="34" charset="-120"/>
              </a:rPr>
              <a:t>Score by impact &amp; effort</a:t>
            </a:r>
            <a:endParaRPr lang="en-US" sz="750" dirty="0"/>
          </a:p>
        </p:txBody>
      </p:sp>
      <p:sp>
        <p:nvSpPr>
          <p:cNvPr id="61" name="Shape 59"/>
          <p:cNvSpPr/>
          <p:nvPr/>
        </p:nvSpPr>
        <p:spPr>
          <a:xfrm>
            <a:off x="7735824" y="2308860"/>
            <a:ext cx="27432" cy="114300"/>
          </a:xfrm>
          <a:prstGeom prst="rect">
            <a:avLst/>
          </a:prstGeom>
          <a:solidFill>
            <a:srgbClr val="E0E0E0"/>
          </a:solidFill>
          <a:ln w="12700">
            <a:solidFill>
              <a:srgbClr val="E0E0E0"/>
            </a:solidFill>
            <a:prstDash val="solid"/>
          </a:ln>
        </p:spPr>
      </p:sp>
      <p:sp>
        <p:nvSpPr>
          <p:cNvPr id="62" name="Text 60"/>
          <p:cNvSpPr/>
          <p:nvPr/>
        </p:nvSpPr>
        <p:spPr>
          <a:xfrm>
            <a:off x="7639812" y="2322576"/>
            <a:ext cx="219456" cy="164592"/>
          </a:xfrm>
          <a:prstGeom prst="rect">
            <a:avLst/>
          </a:prstGeom>
          <a:noFill/>
          <a:ln/>
        </p:spPr>
        <p:txBody>
          <a:bodyPr wrap="square" lIns="0" tIns="0" rIns="0" bIns="0" rtlCol="0" anchor="ctr"/>
          <a:lstStyle/>
          <a:p>
            <a:pPr algn="ctr" indent="0" marL="0">
              <a:buNone/>
            </a:pPr>
            <a:r>
              <a:rPr lang="en-US" sz="700" dirty="0">
                <a:solidFill>
                  <a:srgbClr val="E0E0E0"/>
                </a:solidFill>
                <a:latin typeface="Calibri" pitchFamily="34" charset="0"/>
                <a:ea typeface="Calibri" pitchFamily="34" charset="-122"/>
                <a:cs typeface="Calibri" pitchFamily="34" charset="-120"/>
              </a:rPr>
              <a:t>▼</a:t>
            </a:r>
            <a:endParaRPr lang="en-US" sz="700" dirty="0"/>
          </a:p>
        </p:txBody>
      </p:sp>
      <p:sp>
        <p:nvSpPr>
          <p:cNvPr id="63" name="Shape 61"/>
          <p:cNvSpPr/>
          <p:nvPr/>
        </p:nvSpPr>
        <p:spPr>
          <a:xfrm>
            <a:off x="6583680" y="2441448"/>
            <a:ext cx="2331720" cy="457200"/>
          </a:xfrm>
          <a:prstGeom prst="roundRect">
            <a:avLst>
              <a:gd name="adj" fmla="val 12000"/>
            </a:avLst>
          </a:prstGeom>
          <a:solidFill>
            <a:srgbClr val="F2F2F2"/>
          </a:solidFill>
          <a:ln w="12700">
            <a:solidFill>
              <a:srgbClr val="E0E0E0"/>
            </a:solidFill>
            <a:prstDash val="solid"/>
          </a:ln>
        </p:spPr>
      </p:sp>
      <p:sp>
        <p:nvSpPr>
          <p:cNvPr id="64" name="Text 62"/>
          <p:cNvSpPr/>
          <p:nvPr/>
        </p:nvSpPr>
        <p:spPr>
          <a:xfrm>
            <a:off x="6720840" y="2478024"/>
            <a:ext cx="2057400" cy="201168"/>
          </a:xfrm>
          <a:prstGeom prst="rect">
            <a:avLst/>
          </a:prstGeom>
          <a:noFill/>
          <a:ln/>
        </p:spPr>
        <p:txBody>
          <a:bodyPr wrap="square" lIns="0" tIns="0" rIns="0" bIns="0" rtlCol="0" anchor="ctr"/>
          <a:lstStyle/>
          <a:p>
            <a:pPr indent="0" marL="0">
              <a:buNone/>
            </a:pPr>
            <a:r>
              <a:rPr lang="en-US" sz="1000" b="1" dirty="0">
                <a:solidFill>
                  <a:srgbClr val="2C2C2C"/>
                </a:solidFill>
                <a:latin typeface="Cambria" pitchFamily="34" charset="0"/>
                <a:ea typeface="Cambria" pitchFamily="34" charset="-122"/>
                <a:cs typeface="Cambria" pitchFamily="34" charset="-120"/>
              </a:rPr>
              <a:t>Design Solutions</a:t>
            </a:r>
            <a:endParaRPr lang="en-US" sz="1000" dirty="0"/>
          </a:p>
        </p:txBody>
      </p:sp>
      <p:sp>
        <p:nvSpPr>
          <p:cNvPr id="65" name="Text 63"/>
          <p:cNvSpPr/>
          <p:nvPr/>
        </p:nvSpPr>
        <p:spPr>
          <a:xfrm>
            <a:off x="6720840" y="2688336"/>
            <a:ext cx="2057400" cy="164592"/>
          </a:xfrm>
          <a:prstGeom prst="rect">
            <a:avLst/>
          </a:prstGeom>
          <a:noFill/>
          <a:ln/>
        </p:spPr>
        <p:txBody>
          <a:bodyPr wrap="square" lIns="0" tIns="0" rIns="0" bIns="0" rtlCol="0" anchor="ctr"/>
          <a:lstStyle/>
          <a:p>
            <a:pPr indent="0" marL="0">
              <a:buNone/>
            </a:pPr>
            <a:r>
              <a:rPr lang="en-US" sz="750" dirty="0">
                <a:solidFill>
                  <a:srgbClr val="6B6B6B"/>
                </a:solidFill>
                <a:latin typeface="Calibri" pitchFamily="34" charset="0"/>
                <a:ea typeface="Calibri" pitchFamily="34" charset="-122"/>
                <a:cs typeface="Calibri" pitchFamily="34" charset="-120"/>
              </a:rPr>
              <a:t>Redesign critical pages</a:t>
            </a:r>
            <a:endParaRPr lang="en-US" sz="750" dirty="0"/>
          </a:p>
        </p:txBody>
      </p:sp>
      <p:sp>
        <p:nvSpPr>
          <p:cNvPr id="66" name="Shape 64"/>
          <p:cNvSpPr/>
          <p:nvPr/>
        </p:nvSpPr>
        <p:spPr>
          <a:xfrm>
            <a:off x="7735824" y="2926080"/>
            <a:ext cx="27432" cy="114300"/>
          </a:xfrm>
          <a:prstGeom prst="rect">
            <a:avLst/>
          </a:prstGeom>
          <a:solidFill>
            <a:srgbClr val="E0E0E0"/>
          </a:solidFill>
          <a:ln w="12700">
            <a:solidFill>
              <a:srgbClr val="E0E0E0"/>
            </a:solidFill>
            <a:prstDash val="solid"/>
          </a:ln>
        </p:spPr>
      </p:sp>
      <p:sp>
        <p:nvSpPr>
          <p:cNvPr id="67" name="Text 65"/>
          <p:cNvSpPr/>
          <p:nvPr/>
        </p:nvSpPr>
        <p:spPr>
          <a:xfrm>
            <a:off x="7639812" y="2939796"/>
            <a:ext cx="219456" cy="164592"/>
          </a:xfrm>
          <a:prstGeom prst="rect">
            <a:avLst/>
          </a:prstGeom>
          <a:noFill/>
          <a:ln/>
        </p:spPr>
        <p:txBody>
          <a:bodyPr wrap="square" lIns="0" tIns="0" rIns="0" bIns="0" rtlCol="0" anchor="ctr"/>
          <a:lstStyle/>
          <a:p>
            <a:pPr algn="ctr" indent="0" marL="0">
              <a:buNone/>
            </a:pPr>
            <a:r>
              <a:rPr lang="en-US" sz="700" dirty="0">
                <a:solidFill>
                  <a:srgbClr val="E0E0E0"/>
                </a:solidFill>
                <a:latin typeface="Calibri" pitchFamily="34" charset="0"/>
                <a:ea typeface="Calibri" pitchFamily="34" charset="-122"/>
                <a:cs typeface="Calibri" pitchFamily="34" charset="-120"/>
              </a:rPr>
              <a:t>▼</a:t>
            </a:r>
            <a:endParaRPr lang="en-US" sz="700" dirty="0"/>
          </a:p>
        </p:txBody>
      </p:sp>
      <p:sp>
        <p:nvSpPr>
          <p:cNvPr id="68" name="Shape 66"/>
          <p:cNvSpPr/>
          <p:nvPr/>
        </p:nvSpPr>
        <p:spPr>
          <a:xfrm>
            <a:off x="6583680" y="3058668"/>
            <a:ext cx="2331720" cy="457200"/>
          </a:xfrm>
          <a:prstGeom prst="roundRect">
            <a:avLst>
              <a:gd name="adj" fmla="val 12000"/>
            </a:avLst>
          </a:prstGeom>
          <a:solidFill>
            <a:srgbClr val="F2F2F2"/>
          </a:solidFill>
          <a:ln w="12700">
            <a:solidFill>
              <a:srgbClr val="E0E0E0"/>
            </a:solidFill>
            <a:prstDash val="solid"/>
          </a:ln>
        </p:spPr>
      </p:sp>
      <p:sp>
        <p:nvSpPr>
          <p:cNvPr id="69" name="Text 67"/>
          <p:cNvSpPr/>
          <p:nvPr/>
        </p:nvSpPr>
        <p:spPr>
          <a:xfrm>
            <a:off x="6720840" y="3095244"/>
            <a:ext cx="2057400" cy="201168"/>
          </a:xfrm>
          <a:prstGeom prst="rect">
            <a:avLst/>
          </a:prstGeom>
          <a:noFill/>
          <a:ln/>
        </p:spPr>
        <p:txBody>
          <a:bodyPr wrap="square" lIns="0" tIns="0" rIns="0" bIns="0" rtlCol="0" anchor="ctr"/>
          <a:lstStyle/>
          <a:p>
            <a:pPr indent="0" marL="0">
              <a:buNone/>
            </a:pPr>
            <a:r>
              <a:rPr lang="en-US" sz="1000" b="1" dirty="0">
                <a:solidFill>
                  <a:srgbClr val="2C2C2C"/>
                </a:solidFill>
                <a:latin typeface="Cambria" pitchFamily="34" charset="0"/>
                <a:ea typeface="Cambria" pitchFamily="34" charset="-122"/>
                <a:cs typeface="Cambria" pitchFamily="34" charset="-120"/>
              </a:rPr>
              <a:t>Build Prototypes</a:t>
            </a:r>
            <a:endParaRPr lang="en-US" sz="1000" dirty="0"/>
          </a:p>
        </p:txBody>
      </p:sp>
      <p:sp>
        <p:nvSpPr>
          <p:cNvPr id="70" name="Text 68"/>
          <p:cNvSpPr/>
          <p:nvPr/>
        </p:nvSpPr>
        <p:spPr>
          <a:xfrm>
            <a:off x="6720840" y="3305556"/>
            <a:ext cx="2057400" cy="164592"/>
          </a:xfrm>
          <a:prstGeom prst="rect">
            <a:avLst/>
          </a:prstGeom>
          <a:noFill/>
          <a:ln/>
        </p:spPr>
        <p:txBody>
          <a:bodyPr wrap="square" lIns="0" tIns="0" rIns="0" bIns="0" rtlCol="0" anchor="ctr"/>
          <a:lstStyle/>
          <a:p>
            <a:pPr indent="0" marL="0">
              <a:buNone/>
            </a:pPr>
            <a:r>
              <a:rPr lang="en-US" sz="750" dirty="0">
                <a:solidFill>
                  <a:srgbClr val="6B6B6B"/>
                </a:solidFill>
                <a:latin typeface="Calibri" pitchFamily="34" charset="0"/>
                <a:ea typeface="Calibri" pitchFamily="34" charset="-122"/>
                <a:cs typeface="Calibri" pitchFamily="34" charset="-120"/>
              </a:rPr>
              <a:t>Live coded implementations</a:t>
            </a:r>
            <a:endParaRPr lang="en-US" sz="750" dirty="0"/>
          </a:p>
        </p:txBody>
      </p:sp>
      <p:sp>
        <p:nvSpPr>
          <p:cNvPr id="71" name="Shape 69"/>
          <p:cNvSpPr/>
          <p:nvPr/>
        </p:nvSpPr>
        <p:spPr>
          <a:xfrm>
            <a:off x="7735824" y="3543300"/>
            <a:ext cx="27432" cy="114300"/>
          </a:xfrm>
          <a:prstGeom prst="rect">
            <a:avLst/>
          </a:prstGeom>
          <a:solidFill>
            <a:srgbClr val="E0E0E0"/>
          </a:solidFill>
          <a:ln w="12700">
            <a:solidFill>
              <a:srgbClr val="E0E0E0"/>
            </a:solidFill>
            <a:prstDash val="solid"/>
          </a:ln>
        </p:spPr>
      </p:sp>
      <p:sp>
        <p:nvSpPr>
          <p:cNvPr id="72" name="Text 70"/>
          <p:cNvSpPr/>
          <p:nvPr/>
        </p:nvSpPr>
        <p:spPr>
          <a:xfrm>
            <a:off x="7639812" y="3557016"/>
            <a:ext cx="219456" cy="164592"/>
          </a:xfrm>
          <a:prstGeom prst="rect">
            <a:avLst/>
          </a:prstGeom>
          <a:noFill/>
          <a:ln/>
        </p:spPr>
        <p:txBody>
          <a:bodyPr wrap="square" lIns="0" tIns="0" rIns="0" bIns="0" rtlCol="0" anchor="ctr"/>
          <a:lstStyle/>
          <a:p>
            <a:pPr algn="ctr" indent="0" marL="0">
              <a:buNone/>
            </a:pPr>
            <a:r>
              <a:rPr lang="en-US" sz="700" dirty="0">
                <a:solidFill>
                  <a:srgbClr val="E0E0E0"/>
                </a:solidFill>
                <a:latin typeface="Calibri" pitchFamily="34" charset="0"/>
                <a:ea typeface="Calibri" pitchFamily="34" charset="-122"/>
                <a:cs typeface="Calibri" pitchFamily="34" charset="-120"/>
              </a:rPr>
              <a:t>▼</a:t>
            </a:r>
            <a:endParaRPr lang="en-US" sz="700" dirty="0"/>
          </a:p>
        </p:txBody>
      </p:sp>
      <p:sp>
        <p:nvSpPr>
          <p:cNvPr id="73" name="Shape 71"/>
          <p:cNvSpPr/>
          <p:nvPr/>
        </p:nvSpPr>
        <p:spPr>
          <a:xfrm>
            <a:off x="6583680" y="3675888"/>
            <a:ext cx="2331720" cy="457200"/>
          </a:xfrm>
          <a:prstGeom prst="roundRect">
            <a:avLst>
              <a:gd name="adj" fmla="val 12000"/>
            </a:avLst>
          </a:prstGeom>
          <a:solidFill>
            <a:srgbClr val="F2F2F2"/>
          </a:solidFill>
          <a:ln w="12700">
            <a:solidFill>
              <a:srgbClr val="E0E0E0"/>
            </a:solidFill>
            <a:prstDash val="solid"/>
          </a:ln>
        </p:spPr>
      </p:sp>
      <p:sp>
        <p:nvSpPr>
          <p:cNvPr id="74" name="Text 72"/>
          <p:cNvSpPr/>
          <p:nvPr/>
        </p:nvSpPr>
        <p:spPr>
          <a:xfrm>
            <a:off x="6720840" y="3712464"/>
            <a:ext cx="2057400" cy="201168"/>
          </a:xfrm>
          <a:prstGeom prst="rect">
            <a:avLst/>
          </a:prstGeom>
          <a:noFill/>
          <a:ln/>
        </p:spPr>
        <p:txBody>
          <a:bodyPr wrap="square" lIns="0" tIns="0" rIns="0" bIns="0" rtlCol="0" anchor="ctr"/>
          <a:lstStyle/>
          <a:p>
            <a:pPr indent="0" marL="0">
              <a:buNone/>
            </a:pPr>
            <a:r>
              <a:rPr lang="en-US" sz="1000" b="1" dirty="0">
                <a:solidFill>
                  <a:srgbClr val="2C2C2C"/>
                </a:solidFill>
                <a:latin typeface="Cambria" pitchFamily="34" charset="0"/>
                <a:ea typeface="Cambria" pitchFamily="34" charset="-122"/>
                <a:cs typeface="Cambria" pitchFamily="34" charset="-120"/>
              </a:rPr>
              <a:t>Recommendations</a:t>
            </a:r>
            <a:endParaRPr lang="en-US" sz="1000" dirty="0"/>
          </a:p>
        </p:txBody>
      </p:sp>
      <p:sp>
        <p:nvSpPr>
          <p:cNvPr id="75" name="Text 73"/>
          <p:cNvSpPr/>
          <p:nvPr/>
        </p:nvSpPr>
        <p:spPr>
          <a:xfrm>
            <a:off x="6720840" y="3922776"/>
            <a:ext cx="2057400" cy="164592"/>
          </a:xfrm>
          <a:prstGeom prst="rect">
            <a:avLst/>
          </a:prstGeom>
          <a:noFill/>
          <a:ln/>
        </p:spPr>
        <p:txBody>
          <a:bodyPr wrap="square" lIns="0" tIns="0" rIns="0" bIns="0" rtlCol="0" anchor="ctr"/>
          <a:lstStyle/>
          <a:p>
            <a:pPr indent="0" marL="0">
              <a:buNone/>
            </a:pPr>
            <a:r>
              <a:rPr lang="en-US" sz="750" dirty="0">
                <a:solidFill>
                  <a:srgbClr val="6B6B6B"/>
                </a:solidFill>
                <a:latin typeface="Calibri" pitchFamily="34" charset="0"/>
                <a:ea typeface="Calibri" pitchFamily="34" charset="-122"/>
                <a:cs typeface="Calibri" pitchFamily="34" charset="-120"/>
              </a:rPr>
              <a:t>Technical fix roadmap</a:t>
            </a:r>
            <a:endParaRPr lang="en-US" sz="750" dirty="0"/>
          </a:p>
        </p:txBody>
      </p:sp>
      <p:sp>
        <p:nvSpPr>
          <p:cNvPr id="76" name="Shape 74"/>
          <p:cNvSpPr/>
          <p:nvPr/>
        </p:nvSpPr>
        <p:spPr>
          <a:xfrm>
            <a:off x="0" y="4754880"/>
            <a:ext cx="9144000" cy="388620"/>
          </a:xfrm>
          <a:prstGeom prst="rect">
            <a:avLst/>
          </a:prstGeom>
          <a:solidFill>
            <a:srgbClr val="1A1A1A"/>
          </a:solidFill>
          <a:ln w="12700">
            <a:solidFill>
              <a:srgbClr val="1A1A1A"/>
            </a:solidFill>
            <a:prstDash val="solid"/>
          </a:ln>
        </p:spPr>
      </p:sp>
      <p:sp>
        <p:nvSpPr>
          <p:cNvPr id="77" name="Text 75"/>
          <p:cNvSpPr/>
          <p:nvPr/>
        </p:nvSpPr>
        <p:spPr>
          <a:xfrm>
            <a:off x="411480" y="4773168"/>
            <a:ext cx="8321040" cy="347472"/>
          </a:xfrm>
          <a:prstGeom prst="rect">
            <a:avLst/>
          </a:prstGeom>
          <a:noFill/>
          <a:ln/>
        </p:spPr>
        <p:txBody>
          <a:bodyPr wrap="square" lIns="0" tIns="0" rIns="0" bIns="0" rtlCol="0" anchor="ctr"/>
          <a:lstStyle/>
          <a:p>
            <a:pPr indent="0" marL="0">
              <a:buNone/>
            </a:pPr>
            <a:r>
              <a:rPr lang="en-US" sz="850" b="1" dirty="0">
                <a:solidFill>
                  <a:srgbClr val="C9A84C"/>
                </a:solidFill>
                <a:latin typeface="Calibri" pitchFamily="34" charset="0"/>
                <a:ea typeface="Calibri" pitchFamily="34" charset="-122"/>
                <a:cs typeface="Calibri" pitchFamily="34" charset="-120"/>
              </a:rPr>
              <a:t xml:space="preserve">No production codebase access.  </a:t>
            </a:r>
            <a:pPr indent="0" marL="0">
              <a:buNone/>
            </a:pPr>
            <a:r>
              <a:rPr lang="en-US" sz="850" dirty="0">
                <a:solidFill>
                  <a:srgbClr val="BBBBBB"/>
                </a:solidFill>
                <a:latin typeface="Calibri" pitchFamily="34" charset="0"/>
                <a:ea typeface="Calibri" pitchFamily="34" charset="-122"/>
                <a:cs typeface="Calibri" pitchFamily="34" charset="-120"/>
              </a:rPr>
              <a:t>Findings are based on publicly available pages, browser inspection, and performance analysis.</a:t>
            </a:r>
            <a:endParaRPr lang="en-US" sz="850" dirty="0"/>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8503920" y="256032"/>
            <a:ext cx="457200" cy="228600"/>
          </a:xfrm>
          <a:prstGeom prst="rect">
            <a:avLst/>
          </a:prstGeom>
          <a:noFill/>
        </p:spPr>
        <p:txBody>
          <a:bodyPr wrap="square" lIns="0" rIns="0" tIns="0" bIns="0" anchor="ctr">
            <a:spAutoFit/>
          </a:bodyPr>
          <a:lstStyle/>
          <a:p>
            <a:pPr algn="r"/>
            <a:r>
              <a:rPr sz="800" b="1" i="0" spc="200">
                <a:solidFill>
                  <a:srgbClr val="C9A84C"/>
                </a:solidFill>
                <a:latin typeface="Calibri"/>
              </a:rPr>
              <a:t>04</a:t>
            </a:r>
          </a:p>
        </p:txBody>
      </p:sp>
      <p:sp>
        <p:nvSpPr>
          <p:cNvPr id="3" name="TextBox 2"/>
          <p:cNvSpPr txBox="1"/>
          <p:nvPr/>
        </p:nvSpPr>
        <p:spPr>
          <a:xfrm>
            <a:off x="457200" y="256032"/>
            <a:ext cx="6400800" cy="475488"/>
          </a:xfrm>
          <a:prstGeom prst="rect">
            <a:avLst/>
          </a:prstGeom>
          <a:noFill/>
        </p:spPr>
        <p:txBody>
          <a:bodyPr wrap="square" lIns="0" rIns="0" tIns="0" bIns="0" anchor="ctr">
            <a:spAutoFit/>
          </a:bodyPr>
          <a:lstStyle/>
          <a:p>
            <a:pPr algn="l"/>
            <a:r>
              <a:rPr sz="2600" b="1" i="0">
                <a:solidFill>
                  <a:srgbClr val="111111"/>
                </a:solidFill>
                <a:latin typeface="Cambria"/>
              </a:rPr>
              <a:t>Key Findings</a:t>
            </a:r>
          </a:p>
        </p:txBody>
      </p:sp>
      <p:sp>
        <p:nvSpPr>
          <p:cNvPr id="4" name="Rectangle 3"/>
          <p:cNvSpPr/>
          <p:nvPr/>
        </p:nvSpPr>
        <p:spPr>
          <a:xfrm>
            <a:off x="457200" y="768096"/>
            <a:ext cx="1371600" cy="27432"/>
          </a:xfrm>
          <a:prstGeom prst="rect">
            <a:avLst/>
          </a:prstGeom>
          <a:solidFill>
            <a:srgbClr val="C9A8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896112"/>
            <a:ext cx="8229600" cy="329184"/>
          </a:xfrm>
          <a:prstGeom prst="rect">
            <a:avLst/>
          </a:prstGeom>
          <a:noFill/>
        </p:spPr>
        <p:txBody>
          <a:bodyPr wrap="square" lIns="0" rIns="0" tIns="0" bIns="0" anchor="t">
            <a:spAutoFit/>
          </a:bodyPr>
          <a:lstStyle/>
          <a:p>
            <a:pPr algn="l">
              <a:lnSpc>
                <a:spcPct val="105000"/>
              </a:lnSpc>
            </a:pPr>
            <a:r>
              <a:rPr sz="1050" b="0" i="0">
                <a:solidFill>
                  <a:srgbClr val="6B6B6B"/>
                </a:solidFill>
                <a:latin typeface="Calibri"/>
              </a:rPr>
              <a:t>The audit identified issues across conversion, content quality, technical SEO, and performance that directly impact user experience and business outcomes.</a:t>
            </a:r>
          </a:p>
        </p:txBody>
      </p:sp>
      <p:sp>
        <p:nvSpPr>
          <p:cNvPr id="6" name="Rounded Rectangle 5"/>
          <p:cNvSpPr/>
          <p:nvPr/>
        </p:nvSpPr>
        <p:spPr>
          <a:xfrm>
            <a:off x="457200" y="1280160"/>
            <a:ext cx="4041648" cy="1289304"/>
          </a:xfrm>
          <a:prstGeom prst="roundRect">
            <a:avLst>
              <a:gd name="adj" fmla="val 6000"/>
            </a:avLst>
          </a:prstGeom>
          <a:solidFill>
            <a:srgbClr val="F2F2F2"/>
          </a:solidFill>
          <a:ln w="12700">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621792" y="1408176"/>
            <a:ext cx="201168" cy="201168"/>
          </a:xfrm>
          <a:prstGeom prst="ellipse">
            <a:avLst/>
          </a:prstGeom>
          <a:solidFill>
            <a:srgbClr val="2C2C2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00" b="1" i="0">
                <a:solidFill>
                  <a:srgbClr val="FFFFFF"/>
                </a:solidFill>
                <a:latin typeface="Cambria"/>
              </a:rPr>
              <a:t>1</a:t>
            </a:r>
          </a:p>
        </p:txBody>
      </p:sp>
      <p:sp>
        <p:nvSpPr>
          <p:cNvPr id="8" name="TextBox 7"/>
          <p:cNvSpPr txBox="1"/>
          <p:nvPr/>
        </p:nvSpPr>
        <p:spPr>
          <a:xfrm>
            <a:off x="914399" y="1394460"/>
            <a:ext cx="2578608" cy="228600"/>
          </a:xfrm>
          <a:prstGeom prst="rect">
            <a:avLst/>
          </a:prstGeom>
          <a:noFill/>
        </p:spPr>
        <p:txBody>
          <a:bodyPr wrap="square" lIns="0" rIns="0" tIns="0" bIns="0" anchor="ctr">
            <a:spAutoFit/>
          </a:bodyPr>
          <a:lstStyle/>
          <a:p>
            <a:pPr algn="l">
              <a:lnSpc>
                <a:spcPct val="100000"/>
              </a:lnSpc>
            </a:pPr>
            <a:r>
              <a:rPr sz="1250" b="1" i="0">
                <a:solidFill>
                  <a:srgbClr val="2C2C2C"/>
                </a:solidFill>
                <a:latin typeface="Cambria"/>
              </a:rPr>
              <a:t>Conversion Experience</a:t>
            </a:r>
          </a:p>
        </p:txBody>
      </p:sp>
      <p:sp>
        <p:nvSpPr>
          <p:cNvPr id="9" name="Rounded Rectangle 8"/>
          <p:cNvSpPr/>
          <p:nvPr/>
        </p:nvSpPr>
        <p:spPr>
          <a:xfrm>
            <a:off x="3493008" y="1417320"/>
            <a:ext cx="841248" cy="182880"/>
          </a:xfrm>
          <a:prstGeom prst="roundRect">
            <a:avLst>
              <a:gd name="adj" fmla="val 50000"/>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620" b="1" i="0" spc="50">
                <a:solidFill>
                  <a:srgbClr val="C9A84C"/>
                </a:solidFill>
                <a:latin typeface="Calibri"/>
              </a:rPr>
              <a:t>✓ PROTOTYPE</a:t>
            </a:r>
          </a:p>
        </p:txBody>
      </p:sp>
      <p:sp>
        <p:nvSpPr>
          <p:cNvPr id="10" name="Rectangle 9"/>
          <p:cNvSpPr/>
          <p:nvPr/>
        </p:nvSpPr>
        <p:spPr>
          <a:xfrm>
            <a:off x="621792" y="1682496"/>
            <a:ext cx="3712463" cy="10972"/>
          </a:xfrm>
          <a:prstGeom prst="rect">
            <a:avLst/>
          </a:prstGeom>
          <a:solidFill>
            <a:srgbClr val="E0E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21792" y="1764792"/>
            <a:ext cx="1783079" cy="146304"/>
          </a:xfrm>
          <a:prstGeom prst="rect">
            <a:avLst/>
          </a:prstGeom>
          <a:noFill/>
        </p:spPr>
        <p:txBody>
          <a:bodyPr wrap="square" lIns="0" rIns="0" tIns="0" bIns="0" anchor="t">
            <a:spAutoFit/>
          </a:bodyPr>
          <a:lstStyle/>
          <a:p>
            <a:pPr algn="l"/>
            <a:r>
              <a:rPr sz="680" b="1" i="0" spc="60">
                <a:solidFill>
                  <a:srgbClr val="6B6B6B"/>
                </a:solidFill>
                <a:latin typeface="Calibri"/>
              </a:rPr>
              <a:t>PROBLEMS IDENTIFIED</a:t>
            </a:r>
          </a:p>
        </p:txBody>
      </p:sp>
      <p:sp>
        <p:nvSpPr>
          <p:cNvPr id="12" name="TextBox 11"/>
          <p:cNvSpPr txBox="1"/>
          <p:nvPr/>
        </p:nvSpPr>
        <p:spPr>
          <a:xfrm>
            <a:off x="621792" y="1947672"/>
            <a:ext cx="1783079" cy="530351"/>
          </a:xfrm>
          <a:prstGeom prst="rect">
            <a:avLst/>
          </a:prstGeom>
          <a:noFill/>
        </p:spPr>
        <p:txBody>
          <a:bodyPr wrap="square" lIns="0" rIns="0" tIns="0" bIns="0" anchor="t">
            <a:spAutoFit/>
          </a:bodyPr>
          <a:lstStyle/>
          <a:p>
            <a:pPr algn="l">
              <a:lnSpc>
                <a:spcPct val="100000"/>
              </a:lnSpc>
              <a:spcBef>
                <a:spcPts val="0"/>
              </a:spcBef>
            </a:pPr>
            <a:r>
              <a:rPr sz="800" b="1" i="0">
                <a:solidFill>
                  <a:srgbClr val="C9A84C"/>
                </a:solidFill>
                <a:latin typeface="Calibri"/>
              </a:rPr>
              <a:t xml:space="preserve">–  </a:t>
            </a:r>
            <a:r>
              <a:rPr sz="800" b="0" i="0">
                <a:solidFill>
                  <a:srgbClr val="4A4A4A"/>
                </a:solidFill>
                <a:latin typeface="Calibri"/>
              </a:rPr>
              <a:t>Two conflicting pricing structures</a:t>
            </a:r>
          </a:p>
          <a:p>
            <a:pPr algn="l">
              <a:lnSpc>
                <a:spcPct val="100000"/>
              </a:lnSpc>
              <a:spcBef>
                <a:spcPts val="250"/>
              </a:spcBef>
            </a:pPr>
            <a:r>
              <a:rPr sz="800" b="1" i="0">
                <a:solidFill>
                  <a:srgbClr val="C9A84C"/>
                </a:solidFill>
                <a:latin typeface="Calibri"/>
              </a:rPr>
              <a:t xml:space="preserve">–  </a:t>
            </a:r>
            <a:r>
              <a:rPr sz="800" b="0" i="0">
                <a:solidFill>
                  <a:srgbClr val="4A4A4A"/>
                </a:solidFill>
                <a:latin typeface="Calibri"/>
              </a:rPr>
              <a:t>Incomplete pricing copy reduced clarity</a:t>
            </a:r>
          </a:p>
          <a:p>
            <a:pPr algn="l">
              <a:lnSpc>
                <a:spcPct val="100000"/>
              </a:lnSpc>
              <a:spcBef>
                <a:spcPts val="250"/>
              </a:spcBef>
            </a:pPr>
            <a:r>
              <a:rPr sz="800" b="1" i="0">
                <a:solidFill>
                  <a:srgbClr val="C9A84C"/>
                </a:solidFill>
                <a:latin typeface="Calibri"/>
              </a:rPr>
              <a:t xml:space="preserve">–  </a:t>
            </a:r>
            <a:r>
              <a:rPr sz="800" b="0" i="0">
                <a:solidFill>
                  <a:srgbClr val="4A4A4A"/>
                </a:solidFill>
                <a:latin typeface="Calibri"/>
              </a:rPr>
              <a:t>Unnecessary comparison before purchase</a:t>
            </a:r>
          </a:p>
        </p:txBody>
      </p:sp>
      <p:sp>
        <p:nvSpPr>
          <p:cNvPr id="13" name="TextBox 12"/>
          <p:cNvSpPr txBox="1"/>
          <p:nvPr/>
        </p:nvSpPr>
        <p:spPr>
          <a:xfrm>
            <a:off x="2551176" y="1764792"/>
            <a:ext cx="1783079" cy="146304"/>
          </a:xfrm>
          <a:prstGeom prst="rect">
            <a:avLst/>
          </a:prstGeom>
          <a:noFill/>
        </p:spPr>
        <p:txBody>
          <a:bodyPr wrap="square" lIns="0" rIns="0" tIns="0" bIns="0" anchor="t">
            <a:spAutoFit/>
          </a:bodyPr>
          <a:lstStyle/>
          <a:p>
            <a:pPr algn="l"/>
            <a:r>
              <a:rPr sz="680" b="1" i="0" spc="60">
                <a:solidFill>
                  <a:srgbClr val="8A2E2E"/>
                </a:solidFill>
                <a:latin typeface="Calibri"/>
              </a:rPr>
              <a:t>BUSINESS IMPACT</a:t>
            </a:r>
          </a:p>
        </p:txBody>
      </p:sp>
      <p:sp>
        <p:nvSpPr>
          <p:cNvPr id="14" name="TextBox 13"/>
          <p:cNvSpPr txBox="1"/>
          <p:nvPr/>
        </p:nvSpPr>
        <p:spPr>
          <a:xfrm>
            <a:off x="2551176" y="1947672"/>
            <a:ext cx="1783079" cy="530351"/>
          </a:xfrm>
          <a:prstGeom prst="rect">
            <a:avLst/>
          </a:prstGeom>
          <a:noFill/>
        </p:spPr>
        <p:txBody>
          <a:bodyPr wrap="square" lIns="0" rIns="0" tIns="0" bIns="0" anchor="t">
            <a:spAutoFit/>
          </a:bodyPr>
          <a:lstStyle/>
          <a:p>
            <a:pPr algn="l">
              <a:lnSpc>
                <a:spcPct val="100000"/>
              </a:lnSpc>
              <a:spcBef>
                <a:spcPts val="0"/>
              </a:spcBef>
            </a:pPr>
            <a:r>
              <a:rPr sz="800" b="1" i="0">
                <a:solidFill>
                  <a:srgbClr val="8A2E2E"/>
                </a:solidFill>
                <a:latin typeface="Calibri"/>
              </a:rPr>
              <a:t xml:space="preserve">–  </a:t>
            </a:r>
            <a:r>
              <a:rPr sz="800" b="0" i="0">
                <a:solidFill>
                  <a:srgbClr val="4A4A4A"/>
                </a:solidFill>
                <a:latin typeface="Calibri"/>
              </a:rPr>
              <a:t>Reduced conversion confidence</a:t>
            </a:r>
          </a:p>
          <a:p>
            <a:pPr algn="l">
              <a:lnSpc>
                <a:spcPct val="100000"/>
              </a:lnSpc>
              <a:spcBef>
                <a:spcPts val="250"/>
              </a:spcBef>
            </a:pPr>
            <a:r>
              <a:rPr sz="800" b="1" i="0">
                <a:solidFill>
                  <a:srgbClr val="8A2E2E"/>
                </a:solidFill>
                <a:latin typeface="Calibri"/>
              </a:rPr>
              <a:t xml:space="preserve">–  </a:t>
            </a:r>
            <a:r>
              <a:rPr sz="800" b="0" i="0">
                <a:solidFill>
                  <a:srgbClr val="4A4A4A"/>
                </a:solidFill>
                <a:latin typeface="Calibri"/>
              </a:rPr>
              <a:t>Increased decision fatigue</a:t>
            </a:r>
          </a:p>
          <a:p>
            <a:pPr algn="l">
              <a:lnSpc>
                <a:spcPct val="100000"/>
              </a:lnSpc>
              <a:spcBef>
                <a:spcPts val="250"/>
              </a:spcBef>
            </a:pPr>
            <a:r>
              <a:rPr sz="800" b="1" i="0">
                <a:solidFill>
                  <a:srgbClr val="8A2E2E"/>
                </a:solidFill>
                <a:latin typeface="Calibri"/>
              </a:rPr>
              <a:t xml:space="preserve">–  </a:t>
            </a:r>
            <a:r>
              <a:rPr sz="800" b="0" i="0">
                <a:solidFill>
                  <a:srgbClr val="4A4A4A"/>
                </a:solidFill>
                <a:latin typeface="Calibri"/>
              </a:rPr>
              <a:t>Lower trust during purchase</a:t>
            </a:r>
          </a:p>
        </p:txBody>
      </p:sp>
      <p:sp>
        <p:nvSpPr>
          <p:cNvPr id="15" name="Rounded Rectangle 14"/>
          <p:cNvSpPr/>
          <p:nvPr/>
        </p:nvSpPr>
        <p:spPr>
          <a:xfrm>
            <a:off x="4645152" y="1280160"/>
            <a:ext cx="4041648" cy="1289304"/>
          </a:xfrm>
          <a:prstGeom prst="roundRect">
            <a:avLst>
              <a:gd name="adj" fmla="val 6000"/>
            </a:avLst>
          </a:prstGeom>
          <a:solidFill>
            <a:srgbClr val="F2F2F2"/>
          </a:solidFill>
          <a:ln w="12700">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4809744" y="1408176"/>
            <a:ext cx="201168" cy="201168"/>
          </a:xfrm>
          <a:prstGeom prst="ellipse">
            <a:avLst/>
          </a:prstGeom>
          <a:solidFill>
            <a:srgbClr val="2C2C2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00" b="1" i="0">
                <a:solidFill>
                  <a:srgbClr val="FFFFFF"/>
                </a:solidFill>
                <a:latin typeface="Cambria"/>
              </a:rPr>
              <a:t>2</a:t>
            </a:r>
          </a:p>
        </p:txBody>
      </p:sp>
      <p:sp>
        <p:nvSpPr>
          <p:cNvPr id="17" name="TextBox 16"/>
          <p:cNvSpPr txBox="1"/>
          <p:nvPr/>
        </p:nvSpPr>
        <p:spPr>
          <a:xfrm>
            <a:off x="5102351" y="1394460"/>
            <a:ext cx="2578608" cy="228600"/>
          </a:xfrm>
          <a:prstGeom prst="rect">
            <a:avLst/>
          </a:prstGeom>
          <a:noFill/>
        </p:spPr>
        <p:txBody>
          <a:bodyPr wrap="square" lIns="0" rIns="0" tIns="0" bIns="0" anchor="ctr">
            <a:spAutoFit/>
          </a:bodyPr>
          <a:lstStyle/>
          <a:p>
            <a:pPr algn="l">
              <a:lnSpc>
                <a:spcPct val="100000"/>
              </a:lnSpc>
            </a:pPr>
            <a:r>
              <a:rPr sz="1150" b="1" i="0">
                <a:solidFill>
                  <a:srgbClr val="2C2C2C"/>
                </a:solidFill>
                <a:latin typeface="Cambria"/>
              </a:rPr>
              <a:t>Content &amp; Information Architecture</a:t>
            </a:r>
          </a:p>
        </p:txBody>
      </p:sp>
      <p:sp>
        <p:nvSpPr>
          <p:cNvPr id="18" name="Rounded Rectangle 17"/>
          <p:cNvSpPr/>
          <p:nvPr/>
        </p:nvSpPr>
        <p:spPr>
          <a:xfrm>
            <a:off x="7680960" y="1417320"/>
            <a:ext cx="841248" cy="182880"/>
          </a:xfrm>
          <a:prstGeom prst="roundRect">
            <a:avLst>
              <a:gd name="adj" fmla="val 50000"/>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620" b="1" i="0" spc="50">
                <a:solidFill>
                  <a:srgbClr val="C9A84C"/>
                </a:solidFill>
                <a:latin typeface="Calibri"/>
              </a:rPr>
              <a:t>✓ PROTOTYPE</a:t>
            </a:r>
          </a:p>
        </p:txBody>
      </p:sp>
      <p:sp>
        <p:nvSpPr>
          <p:cNvPr id="19" name="Rectangle 18"/>
          <p:cNvSpPr/>
          <p:nvPr/>
        </p:nvSpPr>
        <p:spPr>
          <a:xfrm>
            <a:off x="4809744" y="1682496"/>
            <a:ext cx="3712463" cy="10972"/>
          </a:xfrm>
          <a:prstGeom prst="rect">
            <a:avLst/>
          </a:prstGeom>
          <a:solidFill>
            <a:srgbClr val="E0E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809744" y="1764792"/>
            <a:ext cx="1783079" cy="146304"/>
          </a:xfrm>
          <a:prstGeom prst="rect">
            <a:avLst/>
          </a:prstGeom>
          <a:noFill/>
        </p:spPr>
        <p:txBody>
          <a:bodyPr wrap="square" lIns="0" rIns="0" tIns="0" bIns="0" anchor="t">
            <a:spAutoFit/>
          </a:bodyPr>
          <a:lstStyle/>
          <a:p>
            <a:pPr algn="l"/>
            <a:r>
              <a:rPr sz="680" b="1" i="0" spc="60">
                <a:solidFill>
                  <a:srgbClr val="6B6B6B"/>
                </a:solidFill>
                <a:latin typeface="Calibri"/>
              </a:rPr>
              <a:t>PROBLEMS IDENTIFIED</a:t>
            </a:r>
          </a:p>
        </p:txBody>
      </p:sp>
      <p:sp>
        <p:nvSpPr>
          <p:cNvPr id="21" name="TextBox 20"/>
          <p:cNvSpPr txBox="1"/>
          <p:nvPr/>
        </p:nvSpPr>
        <p:spPr>
          <a:xfrm>
            <a:off x="4809744" y="1947672"/>
            <a:ext cx="1783079" cy="530351"/>
          </a:xfrm>
          <a:prstGeom prst="rect">
            <a:avLst/>
          </a:prstGeom>
          <a:noFill/>
        </p:spPr>
        <p:txBody>
          <a:bodyPr wrap="square" lIns="0" rIns="0" tIns="0" bIns="0" anchor="t">
            <a:spAutoFit/>
          </a:bodyPr>
          <a:lstStyle/>
          <a:p>
            <a:pPr algn="l">
              <a:lnSpc>
                <a:spcPct val="100000"/>
              </a:lnSpc>
              <a:spcBef>
                <a:spcPts val="0"/>
              </a:spcBef>
            </a:pPr>
            <a:r>
              <a:rPr sz="800" b="1" i="0">
                <a:solidFill>
                  <a:srgbClr val="C9A84C"/>
                </a:solidFill>
                <a:latin typeface="Calibri"/>
              </a:rPr>
              <a:t xml:space="preserve">–  </a:t>
            </a:r>
            <a:r>
              <a:rPr sz="800" b="0" i="0">
                <a:solidFill>
                  <a:srgbClr val="4A4A4A"/>
                </a:solidFill>
                <a:latin typeface="Calibri"/>
              </a:rPr>
              <a:t>Duplicate articles</a:t>
            </a:r>
          </a:p>
          <a:p>
            <a:pPr algn="l">
              <a:lnSpc>
                <a:spcPct val="100000"/>
              </a:lnSpc>
              <a:spcBef>
                <a:spcPts val="250"/>
              </a:spcBef>
            </a:pPr>
            <a:r>
              <a:rPr sz="800" b="1" i="0">
                <a:solidFill>
                  <a:srgbClr val="C9A84C"/>
                </a:solidFill>
                <a:latin typeface="Calibri"/>
              </a:rPr>
              <a:t xml:space="preserve">–  </a:t>
            </a:r>
            <a:r>
              <a:rPr sz="800" b="0" i="0">
                <a:solidFill>
                  <a:srgbClr val="4A4A4A"/>
                </a:solidFill>
                <a:latin typeface="Calibri"/>
              </a:rPr>
              <a:t>Broken article filenames</a:t>
            </a:r>
          </a:p>
          <a:p>
            <a:pPr algn="l">
              <a:lnSpc>
                <a:spcPct val="100000"/>
              </a:lnSpc>
              <a:spcBef>
                <a:spcPts val="250"/>
              </a:spcBef>
            </a:pPr>
            <a:r>
              <a:rPr sz="800" b="1" i="0">
                <a:solidFill>
                  <a:srgbClr val="C9A84C"/>
                </a:solidFill>
                <a:latin typeface="Calibri"/>
              </a:rPr>
              <a:t xml:space="preserve">–  </a:t>
            </a:r>
            <a:r>
              <a:rPr sz="800" b="0" i="0">
                <a:solidFill>
                  <a:srgbClr val="4A4A4A"/>
                </a:solidFill>
                <a:latin typeface="Calibri"/>
              </a:rPr>
              <a:t>Inconsistent numbering</a:t>
            </a:r>
          </a:p>
          <a:p>
            <a:pPr algn="l">
              <a:lnSpc>
                <a:spcPct val="100000"/>
              </a:lnSpc>
              <a:spcBef>
                <a:spcPts val="250"/>
              </a:spcBef>
            </a:pPr>
            <a:r>
              <a:rPr sz="800" b="1" i="0">
                <a:solidFill>
                  <a:srgbClr val="C9A84C"/>
                </a:solidFill>
                <a:latin typeface="Calibri"/>
              </a:rPr>
              <a:t xml:space="preserve">–  </a:t>
            </a:r>
            <a:r>
              <a:rPr sz="800" b="0" i="0">
                <a:solidFill>
                  <a:srgbClr val="4A4A4A"/>
                </a:solidFill>
                <a:latin typeface="Calibri"/>
              </a:rPr>
              <a:t>Poor content organization</a:t>
            </a:r>
          </a:p>
        </p:txBody>
      </p:sp>
      <p:sp>
        <p:nvSpPr>
          <p:cNvPr id="22" name="TextBox 21"/>
          <p:cNvSpPr txBox="1"/>
          <p:nvPr/>
        </p:nvSpPr>
        <p:spPr>
          <a:xfrm>
            <a:off x="6739127" y="1764792"/>
            <a:ext cx="1783079" cy="146304"/>
          </a:xfrm>
          <a:prstGeom prst="rect">
            <a:avLst/>
          </a:prstGeom>
          <a:noFill/>
        </p:spPr>
        <p:txBody>
          <a:bodyPr wrap="square" lIns="0" rIns="0" tIns="0" bIns="0" anchor="t">
            <a:spAutoFit/>
          </a:bodyPr>
          <a:lstStyle/>
          <a:p>
            <a:pPr algn="l"/>
            <a:r>
              <a:rPr sz="680" b="1" i="0" spc="60">
                <a:solidFill>
                  <a:srgbClr val="8A2E2E"/>
                </a:solidFill>
                <a:latin typeface="Calibri"/>
              </a:rPr>
              <a:t>BUSINESS IMPACT</a:t>
            </a:r>
          </a:p>
        </p:txBody>
      </p:sp>
      <p:sp>
        <p:nvSpPr>
          <p:cNvPr id="23" name="TextBox 22"/>
          <p:cNvSpPr txBox="1"/>
          <p:nvPr/>
        </p:nvSpPr>
        <p:spPr>
          <a:xfrm>
            <a:off x="6739127" y="1947672"/>
            <a:ext cx="1783079" cy="530351"/>
          </a:xfrm>
          <a:prstGeom prst="rect">
            <a:avLst/>
          </a:prstGeom>
          <a:noFill/>
        </p:spPr>
        <p:txBody>
          <a:bodyPr wrap="square" lIns="0" rIns="0" tIns="0" bIns="0" anchor="t">
            <a:spAutoFit/>
          </a:bodyPr>
          <a:lstStyle/>
          <a:p>
            <a:pPr algn="l">
              <a:lnSpc>
                <a:spcPct val="100000"/>
              </a:lnSpc>
              <a:spcBef>
                <a:spcPts val="0"/>
              </a:spcBef>
            </a:pPr>
            <a:r>
              <a:rPr sz="800" b="1" i="0">
                <a:solidFill>
                  <a:srgbClr val="8A2E2E"/>
                </a:solidFill>
                <a:latin typeface="Calibri"/>
              </a:rPr>
              <a:t xml:space="preserve">–  </a:t>
            </a:r>
            <a:r>
              <a:rPr sz="800" b="0" i="0">
                <a:solidFill>
                  <a:srgbClr val="4A4A4A"/>
                </a:solidFill>
                <a:latin typeface="Calibri"/>
              </a:rPr>
              <a:t>Poor discoverability</a:t>
            </a:r>
          </a:p>
          <a:p>
            <a:pPr algn="l">
              <a:lnSpc>
                <a:spcPct val="100000"/>
              </a:lnSpc>
              <a:spcBef>
                <a:spcPts val="250"/>
              </a:spcBef>
            </a:pPr>
            <a:r>
              <a:rPr sz="800" b="1" i="0">
                <a:solidFill>
                  <a:srgbClr val="8A2E2E"/>
                </a:solidFill>
                <a:latin typeface="Calibri"/>
              </a:rPr>
              <a:t xml:space="preserve">–  </a:t>
            </a:r>
            <a:r>
              <a:rPr sz="800" b="0" i="0">
                <a:solidFill>
                  <a:srgbClr val="4A4A4A"/>
                </a:solidFill>
                <a:latin typeface="Calibri"/>
              </a:rPr>
              <a:t>Reduced content quality</a:t>
            </a:r>
          </a:p>
          <a:p>
            <a:pPr algn="l">
              <a:lnSpc>
                <a:spcPct val="100000"/>
              </a:lnSpc>
              <a:spcBef>
                <a:spcPts val="250"/>
              </a:spcBef>
            </a:pPr>
            <a:r>
              <a:rPr sz="800" b="1" i="0">
                <a:solidFill>
                  <a:srgbClr val="8A2E2E"/>
                </a:solidFill>
                <a:latin typeface="Calibri"/>
              </a:rPr>
              <a:t xml:space="preserve">–  </a:t>
            </a:r>
            <a:r>
              <a:rPr sz="800" b="0" i="0">
                <a:solidFill>
                  <a:srgbClr val="4A4A4A"/>
                </a:solidFill>
                <a:latin typeface="Calibri"/>
              </a:rPr>
              <a:t>Weaker SEO foundation</a:t>
            </a:r>
          </a:p>
        </p:txBody>
      </p:sp>
      <p:sp>
        <p:nvSpPr>
          <p:cNvPr id="24" name="Rounded Rectangle 23"/>
          <p:cNvSpPr/>
          <p:nvPr/>
        </p:nvSpPr>
        <p:spPr>
          <a:xfrm>
            <a:off x="457200" y="2715768"/>
            <a:ext cx="4041648" cy="1289304"/>
          </a:xfrm>
          <a:prstGeom prst="roundRect">
            <a:avLst>
              <a:gd name="adj" fmla="val 6000"/>
            </a:avLst>
          </a:prstGeom>
          <a:solidFill>
            <a:srgbClr val="F2F2F2"/>
          </a:solidFill>
          <a:ln w="12700">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21792" y="2843784"/>
            <a:ext cx="201168" cy="201168"/>
          </a:xfrm>
          <a:prstGeom prst="ellipse">
            <a:avLst/>
          </a:prstGeom>
          <a:solidFill>
            <a:srgbClr val="2C2C2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00" b="1" i="0">
                <a:solidFill>
                  <a:srgbClr val="FFFFFF"/>
                </a:solidFill>
                <a:latin typeface="Cambria"/>
              </a:rPr>
              <a:t>3</a:t>
            </a:r>
          </a:p>
        </p:txBody>
      </p:sp>
      <p:sp>
        <p:nvSpPr>
          <p:cNvPr id="26" name="TextBox 25"/>
          <p:cNvSpPr txBox="1"/>
          <p:nvPr/>
        </p:nvSpPr>
        <p:spPr>
          <a:xfrm>
            <a:off x="914399" y="2830068"/>
            <a:ext cx="3447288" cy="228600"/>
          </a:xfrm>
          <a:prstGeom prst="rect">
            <a:avLst/>
          </a:prstGeom>
          <a:noFill/>
        </p:spPr>
        <p:txBody>
          <a:bodyPr wrap="square" lIns="0" rIns="0" tIns="0" bIns="0" anchor="ctr">
            <a:spAutoFit/>
          </a:bodyPr>
          <a:lstStyle/>
          <a:p>
            <a:pPr algn="l">
              <a:lnSpc>
                <a:spcPct val="100000"/>
              </a:lnSpc>
            </a:pPr>
            <a:r>
              <a:rPr sz="1250" b="1" i="0">
                <a:solidFill>
                  <a:srgbClr val="2C2C2C"/>
                </a:solidFill>
                <a:latin typeface="Cambria"/>
              </a:rPr>
              <a:t>Technical SEO</a:t>
            </a:r>
          </a:p>
        </p:txBody>
      </p:sp>
      <p:sp>
        <p:nvSpPr>
          <p:cNvPr id="27" name="Rectangle 26"/>
          <p:cNvSpPr/>
          <p:nvPr/>
        </p:nvSpPr>
        <p:spPr>
          <a:xfrm>
            <a:off x="621792" y="3118104"/>
            <a:ext cx="3712463" cy="10972"/>
          </a:xfrm>
          <a:prstGeom prst="rect">
            <a:avLst/>
          </a:prstGeom>
          <a:solidFill>
            <a:srgbClr val="E0E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21792" y="3200400"/>
            <a:ext cx="1783079" cy="146304"/>
          </a:xfrm>
          <a:prstGeom prst="rect">
            <a:avLst/>
          </a:prstGeom>
          <a:noFill/>
        </p:spPr>
        <p:txBody>
          <a:bodyPr wrap="square" lIns="0" rIns="0" tIns="0" bIns="0" anchor="t">
            <a:spAutoFit/>
          </a:bodyPr>
          <a:lstStyle/>
          <a:p>
            <a:pPr algn="l"/>
            <a:r>
              <a:rPr sz="680" b="1" i="0" spc="60">
                <a:solidFill>
                  <a:srgbClr val="6B6B6B"/>
                </a:solidFill>
                <a:latin typeface="Calibri"/>
              </a:rPr>
              <a:t>PROBLEMS IDENTIFIED</a:t>
            </a:r>
          </a:p>
        </p:txBody>
      </p:sp>
      <p:sp>
        <p:nvSpPr>
          <p:cNvPr id="29" name="TextBox 28"/>
          <p:cNvSpPr txBox="1"/>
          <p:nvPr/>
        </p:nvSpPr>
        <p:spPr>
          <a:xfrm>
            <a:off x="621792" y="3383280"/>
            <a:ext cx="1783079" cy="530351"/>
          </a:xfrm>
          <a:prstGeom prst="rect">
            <a:avLst/>
          </a:prstGeom>
          <a:noFill/>
        </p:spPr>
        <p:txBody>
          <a:bodyPr wrap="square" lIns="0" rIns="0" tIns="0" bIns="0" anchor="t">
            <a:spAutoFit/>
          </a:bodyPr>
          <a:lstStyle/>
          <a:p>
            <a:pPr algn="l">
              <a:lnSpc>
                <a:spcPct val="100000"/>
              </a:lnSpc>
              <a:spcBef>
                <a:spcPts val="0"/>
              </a:spcBef>
            </a:pPr>
            <a:r>
              <a:rPr sz="800" b="1" i="0">
                <a:solidFill>
                  <a:srgbClr val="C9A84C"/>
                </a:solidFill>
                <a:latin typeface="Calibri"/>
              </a:rPr>
              <a:t xml:space="preserve">–  </a:t>
            </a:r>
            <a:r>
              <a:rPr sz="800" b="0" i="0">
                <a:solidFill>
                  <a:srgbClr val="4A4A4A"/>
                </a:solidFill>
                <a:latin typeface="Calibri"/>
              </a:rPr>
              <a:t>Same page title across major pages</a:t>
            </a:r>
          </a:p>
          <a:p>
            <a:pPr algn="l">
              <a:lnSpc>
                <a:spcPct val="100000"/>
              </a:lnSpc>
              <a:spcBef>
                <a:spcPts val="250"/>
              </a:spcBef>
            </a:pPr>
            <a:r>
              <a:rPr sz="800" b="1" i="0">
                <a:solidFill>
                  <a:srgbClr val="C9A84C"/>
                </a:solidFill>
                <a:latin typeface="Calibri"/>
              </a:rPr>
              <a:t xml:space="preserve">–  </a:t>
            </a:r>
            <a:r>
              <a:rPr sz="800" b="0" i="0">
                <a:solidFill>
                  <a:srgbClr val="4A4A4A"/>
                </a:solidFill>
                <a:latin typeface="Calibri"/>
              </a:rPr>
              <a:t>Duplicate meta descriptions</a:t>
            </a:r>
          </a:p>
          <a:p>
            <a:pPr algn="l">
              <a:lnSpc>
                <a:spcPct val="100000"/>
              </a:lnSpc>
              <a:spcBef>
                <a:spcPts val="250"/>
              </a:spcBef>
            </a:pPr>
            <a:r>
              <a:rPr sz="800" b="1" i="0">
                <a:solidFill>
                  <a:srgbClr val="C9A84C"/>
                </a:solidFill>
                <a:latin typeface="Calibri"/>
              </a:rPr>
              <a:t xml:space="preserve">–  </a:t>
            </a:r>
            <a:r>
              <a:rPr sz="800" b="0" i="0">
                <a:solidFill>
                  <a:srgbClr val="4A4A4A"/>
                </a:solidFill>
                <a:latin typeface="Calibri"/>
              </a:rPr>
              <a:t>URL quality issues</a:t>
            </a:r>
          </a:p>
        </p:txBody>
      </p:sp>
      <p:sp>
        <p:nvSpPr>
          <p:cNvPr id="30" name="TextBox 29"/>
          <p:cNvSpPr txBox="1"/>
          <p:nvPr/>
        </p:nvSpPr>
        <p:spPr>
          <a:xfrm>
            <a:off x="2551176" y="3200400"/>
            <a:ext cx="1783079" cy="146304"/>
          </a:xfrm>
          <a:prstGeom prst="rect">
            <a:avLst/>
          </a:prstGeom>
          <a:noFill/>
        </p:spPr>
        <p:txBody>
          <a:bodyPr wrap="square" lIns="0" rIns="0" tIns="0" bIns="0" anchor="t">
            <a:spAutoFit/>
          </a:bodyPr>
          <a:lstStyle/>
          <a:p>
            <a:pPr algn="l"/>
            <a:r>
              <a:rPr sz="680" b="1" i="0" spc="60">
                <a:solidFill>
                  <a:srgbClr val="8A2E2E"/>
                </a:solidFill>
                <a:latin typeface="Calibri"/>
              </a:rPr>
              <a:t>BUSINESS IMPACT</a:t>
            </a:r>
          </a:p>
        </p:txBody>
      </p:sp>
      <p:sp>
        <p:nvSpPr>
          <p:cNvPr id="31" name="TextBox 30"/>
          <p:cNvSpPr txBox="1"/>
          <p:nvPr/>
        </p:nvSpPr>
        <p:spPr>
          <a:xfrm>
            <a:off x="2551176" y="3383280"/>
            <a:ext cx="1783079" cy="530351"/>
          </a:xfrm>
          <a:prstGeom prst="rect">
            <a:avLst/>
          </a:prstGeom>
          <a:noFill/>
        </p:spPr>
        <p:txBody>
          <a:bodyPr wrap="square" lIns="0" rIns="0" tIns="0" bIns="0" anchor="t">
            <a:spAutoFit/>
          </a:bodyPr>
          <a:lstStyle/>
          <a:p>
            <a:pPr algn="l">
              <a:lnSpc>
                <a:spcPct val="100000"/>
              </a:lnSpc>
              <a:spcBef>
                <a:spcPts val="0"/>
              </a:spcBef>
            </a:pPr>
            <a:r>
              <a:rPr sz="800" b="1" i="0">
                <a:solidFill>
                  <a:srgbClr val="8A2E2E"/>
                </a:solidFill>
                <a:latin typeface="Calibri"/>
              </a:rPr>
              <a:t xml:space="preserve">–  </a:t>
            </a:r>
            <a:r>
              <a:rPr sz="800" b="0" i="0">
                <a:solidFill>
                  <a:srgbClr val="4A4A4A"/>
                </a:solidFill>
                <a:latin typeface="Calibri"/>
              </a:rPr>
              <a:t>Lower search visibility</a:t>
            </a:r>
          </a:p>
          <a:p>
            <a:pPr algn="l">
              <a:lnSpc>
                <a:spcPct val="100000"/>
              </a:lnSpc>
              <a:spcBef>
                <a:spcPts val="250"/>
              </a:spcBef>
            </a:pPr>
            <a:r>
              <a:rPr sz="800" b="1" i="0">
                <a:solidFill>
                  <a:srgbClr val="8A2E2E"/>
                </a:solidFill>
                <a:latin typeface="Calibri"/>
              </a:rPr>
              <a:t xml:space="preserve">–  </a:t>
            </a:r>
            <a:r>
              <a:rPr sz="800" b="0" i="0">
                <a:solidFill>
                  <a:srgbClr val="4A4A4A"/>
                </a:solidFill>
                <a:latin typeface="Calibri"/>
              </a:rPr>
              <a:t>Poor indexing</a:t>
            </a:r>
          </a:p>
          <a:p>
            <a:pPr algn="l">
              <a:lnSpc>
                <a:spcPct val="100000"/>
              </a:lnSpc>
              <a:spcBef>
                <a:spcPts val="250"/>
              </a:spcBef>
            </a:pPr>
            <a:r>
              <a:rPr sz="800" b="1" i="0">
                <a:solidFill>
                  <a:srgbClr val="8A2E2E"/>
                </a:solidFill>
                <a:latin typeface="Calibri"/>
              </a:rPr>
              <a:t xml:space="preserve">–  </a:t>
            </a:r>
            <a:r>
              <a:rPr sz="800" b="0" i="0">
                <a:solidFill>
                  <a:srgbClr val="4A4A4A"/>
                </a:solidFill>
                <a:latin typeface="Calibri"/>
              </a:rPr>
              <a:t>Generic search results</a:t>
            </a:r>
          </a:p>
        </p:txBody>
      </p:sp>
      <p:sp>
        <p:nvSpPr>
          <p:cNvPr id="32" name="Rounded Rectangle 31"/>
          <p:cNvSpPr/>
          <p:nvPr/>
        </p:nvSpPr>
        <p:spPr>
          <a:xfrm>
            <a:off x="4645152" y="2715768"/>
            <a:ext cx="4041648" cy="1289304"/>
          </a:xfrm>
          <a:prstGeom prst="roundRect">
            <a:avLst>
              <a:gd name="adj" fmla="val 6000"/>
            </a:avLst>
          </a:prstGeom>
          <a:solidFill>
            <a:srgbClr val="F2F2F2"/>
          </a:solidFill>
          <a:ln w="12700">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4809744" y="2843784"/>
            <a:ext cx="201168" cy="201168"/>
          </a:xfrm>
          <a:prstGeom prst="ellipse">
            <a:avLst/>
          </a:prstGeom>
          <a:solidFill>
            <a:srgbClr val="2C2C2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00" b="1" i="0">
                <a:solidFill>
                  <a:srgbClr val="FFFFFF"/>
                </a:solidFill>
                <a:latin typeface="Cambria"/>
              </a:rPr>
              <a:t>4</a:t>
            </a:r>
          </a:p>
        </p:txBody>
      </p:sp>
      <p:sp>
        <p:nvSpPr>
          <p:cNvPr id="34" name="TextBox 33"/>
          <p:cNvSpPr txBox="1"/>
          <p:nvPr/>
        </p:nvSpPr>
        <p:spPr>
          <a:xfrm>
            <a:off x="5102351" y="2830068"/>
            <a:ext cx="3447288" cy="228600"/>
          </a:xfrm>
          <a:prstGeom prst="rect">
            <a:avLst/>
          </a:prstGeom>
          <a:noFill/>
        </p:spPr>
        <p:txBody>
          <a:bodyPr wrap="square" lIns="0" rIns="0" tIns="0" bIns="0" anchor="ctr">
            <a:spAutoFit/>
          </a:bodyPr>
          <a:lstStyle/>
          <a:p>
            <a:pPr algn="l">
              <a:lnSpc>
                <a:spcPct val="100000"/>
              </a:lnSpc>
            </a:pPr>
            <a:r>
              <a:rPr sz="1150" b="1" i="0">
                <a:solidFill>
                  <a:srgbClr val="2C2C2C"/>
                </a:solidFill>
                <a:latin typeface="Cambria"/>
              </a:rPr>
              <a:t>Performance &amp; Accessibility</a:t>
            </a:r>
          </a:p>
        </p:txBody>
      </p:sp>
      <p:sp>
        <p:nvSpPr>
          <p:cNvPr id="35" name="Rectangle 34"/>
          <p:cNvSpPr/>
          <p:nvPr/>
        </p:nvSpPr>
        <p:spPr>
          <a:xfrm>
            <a:off x="4809744" y="3118104"/>
            <a:ext cx="3712463" cy="10972"/>
          </a:xfrm>
          <a:prstGeom prst="rect">
            <a:avLst/>
          </a:prstGeom>
          <a:solidFill>
            <a:srgbClr val="E0E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4809744" y="3200400"/>
            <a:ext cx="1783079" cy="146304"/>
          </a:xfrm>
          <a:prstGeom prst="rect">
            <a:avLst/>
          </a:prstGeom>
          <a:noFill/>
        </p:spPr>
        <p:txBody>
          <a:bodyPr wrap="square" lIns="0" rIns="0" tIns="0" bIns="0" anchor="t">
            <a:spAutoFit/>
          </a:bodyPr>
          <a:lstStyle/>
          <a:p>
            <a:pPr algn="l"/>
            <a:r>
              <a:rPr sz="680" b="1" i="0" spc="60">
                <a:solidFill>
                  <a:srgbClr val="6B6B6B"/>
                </a:solidFill>
                <a:latin typeface="Calibri"/>
              </a:rPr>
              <a:t>PROBLEMS IDENTIFIED</a:t>
            </a:r>
          </a:p>
        </p:txBody>
      </p:sp>
      <p:sp>
        <p:nvSpPr>
          <p:cNvPr id="37" name="TextBox 36"/>
          <p:cNvSpPr txBox="1"/>
          <p:nvPr/>
        </p:nvSpPr>
        <p:spPr>
          <a:xfrm>
            <a:off x="4809744" y="3383280"/>
            <a:ext cx="1783079" cy="530351"/>
          </a:xfrm>
          <a:prstGeom prst="rect">
            <a:avLst/>
          </a:prstGeom>
          <a:noFill/>
        </p:spPr>
        <p:txBody>
          <a:bodyPr wrap="square" lIns="0" rIns="0" tIns="0" bIns="0" anchor="t">
            <a:spAutoFit/>
          </a:bodyPr>
          <a:lstStyle/>
          <a:p>
            <a:pPr algn="l">
              <a:lnSpc>
                <a:spcPct val="100000"/>
              </a:lnSpc>
              <a:spcBef>
                <a:spcPts val="0"/>
              </a:spcBef>
            </a:pPr>
            <a:r>
              <a:rPr sz="800" b="1" i="0">
                <a:solidFill>
                  <a:srgbClr val="C9A84C"/>
                </a:solidFill>
                <a:latin typeface="Calibri"/>
              </a:rPr>
              <a:t xml:space="preserve">–  </a:t>
            </a:r>
            <a:r>
              <a:rPr sz="800" b="0" i="0">
                <a:solidFill>
                  <a:srgbClr val="4A4A4A"/>
                </a:solidFill>
                <a:latin typeface="Calibri"/>
              </a:rPr>
              <a:t>Mobile Performance Score: 68</a:t>
            </a:r>
          </a:p>
          <a:p>
            <a:pPr algn="l">
              <a:lnSpc>
                <a:spcPct val="100000"/>
              </a:lnSpc>
              <a:spcBef>
                <a:spcPts val="250"/>
              </a:spcBef>
            </a:pPr>
            <a:r>
              <a:rPr sz="800" b="1" i="0">
                <a:solidFill>
                  <a:srgbClr val="C9A84C"/>
                </a:solidFill>
                <a:latin typeface="Calibri"/>
              </a:rPr>
              <a:t xml:space="preserve">–  </a:t>
            </a:r>
            <a:r>
              <a:rPr sz="800" b="0" i="0">
                <a:solidFill>
                  <a:srgbClr val="4A4A4A"/>
                </a:solidFill>
                <a:latin typeface="Calibri"/>
              </a:rPr>
              <a:t>Largest Contentful Paint: 41.0s</a:t>
            </a:r>
          </a:p>
          <a:p>
            <a:pPr algn="l">
              <a:lnSpc>
                <a:spcPct val="100000"/>
              </a:lnSpc>
              <a:spcBef>
                <a:spcPts val="250"/>
              </a:spcBef>
            </a:pPr>
            <a:r>
              <a:rPr sz="800" b="1" i="0">
                <a:solidFill>
                  <a:srgbClr val="C9A84C"/>
                </a:solidFill>
                <a:latin typeface="Calibri"/>
              </a:rPr>
              <a:t xml:space="preserve">–  </a:t>
            </a:r>
            <a:r>
              <a:rPr sz="800" b="0" i="0">
                <a:solidFill>
                  <a:srgbClr val="4A4A4A"/>
                </a:solidFill>
                <a:latin typeface="Calibri"/>
              </a:rPr>
              <a:t>Large network payload (~21 MB)</a:t>
            </a:r>
          </a:p>
          <a:p>
            <a:pPr algn="l">
              <a:lnSpc>
                <a:spcPct val="100000"/>
              </a:lnSpc>
              <a:spcBef>
                <a:spcPts val="250"/>
              </a:spcBef>
            </a:pPr>
            <a:r>
              <a:rPr sz="800" b="1" i="0">
                <a:solidFill>
                  <a:srgbClr val="C9A84C"/>
                </a:solidFill>
                <a:latin typeface="Calibri"/>
              </a:rPr>
              <a:t xml:space="preserve">–  </a:t>
            </a:r>
            <a:r>
              <a:rPr sz="800" b="0" i="0">
                <a:solidFill>
                  <a:srgbClr val="4A4A4A"/>
                </a:solidFill>
                <a:latin typeface="Calibri"/>
              </a:rPr>
              <a:t>Missing accessibility basics</a:t>
            </a:r>
          </a:p>
        </p:txBody>
      </p:sp>
      <p:sp>
        <p:nvSpPr>
          <p:cNvPr id="38" name="TextBox 37"/>
          <p:cNvSpPr txBox="1"/>
          <p:nvPr/>
        </p:nvSpPr>
        <p:spPr>
          <a:xfrm>
            <a:off x="6739127" y="3200400"/>
            <a:ext cx="1783079" cy="146304"/>
          </a:xfrm>
          <a:prstGeom prst="rect">
            <a:avLst/>
          </a:prstGeom>
          <a:noFill/>
        </p:spPr>
        <p:txBody>
          <a:bodyPr wrap="square" lIns="0" rIns="0" tIns="0" bIns="0" anchor="t">
            <a:spAutoFit/>
          </a:bodyPr>
          <a:lstStyle/>
          <a:p>
            <a:pPr algn="l"/>
            <a:r>
              <a:rPr sz="680" b="1" i="0" spc="60">
                <a:solidFill>
                  <a:srgbClr val="8A2E2E"/>
                </a:solidFill>
                <a:latin typeface="Calibri"/>
              </a:rPr>
              <a:t>BUSINESS IMPACT</a:t>
            </a:r>
          </a:p>
        </p:txBody>
      </p:sp>
      <p:sp>
        <p:nvSpPr>
          <p:cNvPr id="39" name="TextBox 38"/>
          <p:cNvSpPr txBox="1"/>
          <p:nvPr/>
        </p:nvSpPr>
        <p:spPr>
          <a:xfrm>
            <a:off x="6739127" y="3383280"/>
            <a:ext cx="1783079" cy="530351"/>
          </a:xfrm>
          <a:prstGeom prst="rect">
            <a:avLst/>
          </a:prstGeom>
          <a:noFill/>
        </p:spPr>
        <p:txBody>
          <a:bodyPr wrap="square" lIns="0" rIns="0" tIns="0" bIns="0" anchor="t">
            <a:spAutoFit/>
          </a:bodyPr>
          <a:lstStyle/>
          <a:p>
            <a:pPr algn="l">
              <a:lnSpc>
                <a:spcPct val="100000"/>
              </a:lnSpc>
              <a:spcBef>
                <a:spcPts val="0"/>
              </a:spcBef>
            </a:pPr>
            <a:r>
              <a:rPr sz="800" b="1" i="0">
                <a:solidFill>
                  <a:srgbClr val="8A2E2E"/>
                </a:solidFill>
                <a:latin typeface="Calibri"/>
              </a:rPr>
              <a:t xml:space="preserve">–  </a:t>
            </a:r>
            <a:r>
              <a:rPr sz="800" b="0" i="0">
                <a:solidFill>
                  <a:srgbClr val="4A4A4A"/>
                </a:solidFill>
                <a:latin typeface="Calibri"/>
              </a:rPr>
              <a:t>Slow mobile experience</a:t>
            </a:r>
          </a:p>
          <a:p>
            <a:pPr algn="l">
              <a:lnSpc>
                <a:spcPct val="100000"/>
              </a:lnSpc>
              <a:spcBef>
                <a:spcPts val="250"/>
              </a:spcBef>
            </a:pPr>
            <a:r>
              <a:rPr sz="800" b="1" i="0">
                <a:solidFill>
                  <a:srgbClr val="8A2E2E"/>
                </a:solidFill>
                <a:latin typeface="Calibri"/>
              </a:rPr>
              <a:t xml:space="preserve">–  </a:t>
            </a:r>
            <a:r>
              <a:rPr sz="800" b="0" i="0">
                <a:solidFill>
                  <a:srgbClr val="4A4A4A"/>
                </a:solidFill>
                <a:latin typeface="Calibri"/>
              </a:rPr>
              <a:t>Lower Core Web Vitals</a:t>
            </a:r>
          </a:p>
          <a:p>
            <a:pPr algn="l">
              <a:lnSpc>
                <a:spcPct val="100000"/>
              </a:lnSpc>
              <a:spcBef>
                <a:spcPts val="250"/>
              </a:spcBef>
            </a:pPr>
            <a:r>
              <a:rPr sz="800" b="1" i="0">
                <a:solidFill>
                  <a:srgbClr val="8A2E2E"/>
                </a:solidFill>
                <a:latin typeface="Calibri"/>
              </a:rPr>
              <a:t xml:space="preserve">–  </a:t>
            </a:r>
            <a:r>
              <a:rPr sz="800" b="0" i="0">
                <a:solidFill>
                  <a:srgbClr val="4A4A4A"/>
                </a:solidFill>
                <a:latin typeface="Calibri"/>
              </a:rPr>
              <a:t>Accessibility barriers</a:t>
            </a:r>
          </a:p>
          <a:p>
            <a:pPr algn="l">
              <a:lnSpc>
                <a:spcPct val="100000"/>
              </a:lnSpc>
              <a:spcBef>
                <a:spcPts val="250"/>
              </a:spcBef>
            </a:pPr>
            <a:r>
              <a:rPr sz="800" b="1" i="0">
                <a:solidFill>
                  <a:srgbClr val="8A2E2E"/>
                </a:solidFill>
                <a:latin typeface="Calibri"/>
              </a:rPr>
              <a:t xml:space="preserve">–  </a:t>
            </a:r>
            <a:r>
              <a:rPr sz="800" b="0" i="0">
                <a:solidFill>
                  <a:srgbClr val="4A4A4A"/>
                </a:solidFill>
                <a:latin typeface="Calibri"/>
              </a:rPr>
              <a:t>Higher abandonment on slow networks</a:t>
            </a:r>
          </a:p>
        </p:txBody>
      </p:sp>
      <p:sp>
        <p:nvSpPr>
          <p:cNvPr id="40" name="Rounded Rectangle 39"/>
          <p:cNvSpPr/>
          <p:nvPr/>
        </p:nvSpPr>
        <p:spPr>
          <a:xfrm>
            <a:off x="457200" y="4114800"/>
            <a:ext cx="8229600" cy="393192"/>
          </a:xfrm>
          <a:prstGeom prst="roundRect">
            <a:avLst>
              <a:gd name="adj" fmla="val 18000"/>
            </a:avLst>
          </a:prstGeom>
          <a:solidFill>
            <a:srgbClr val="FBF6E9"/>
          </a:solidFill>
          <a:ln w="12700">
            <a:solidFill>
              <a:srgbClr val="E3CE8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13232" y="4114800"/>
            <a:ext cx="7726679" cy="393192"/>
          </a:xfrm>
          <a:prstGeom prst="rect">
            <a:avLst/>
          </a:prstGeom>
          <a:noFill/>
        </p:spPr>
        <p:txBody>
          <a:bodyPr wrap="square" lIns="0" rIns="0" tIns="0" bIns="0" anchor="ctr">
            <a:spAutoFit/>
          </a:bodyPr>
          <a:lstStyle/>
          <a:p>
            <a:pPr algn="l">
              <a:lnSpc>
                <a:spcPct val="105000"/>
              </a:lnSpc>
            </a:pPr>
            <a:r>
              <a:rPr sz="1000" b="0" i="1">
                <a:solidFill>
                  <a:srgbClr val="5A4612"/>
                </a:solidFill>
                <a:latin typeface="Cambria"/>
              </a:rPr>
              <a:t>These findings formed the basis for the redesigns and technical recommendations presented in the following slides.</a:t>
            </a:r>
          </a:p>
        </p:txBody>
      </p:sp>
      <p:sp>
        <p:nvSpPr>
          <p:cNvPr id="42" name="Rectangle 41"/>
          <p:cNvSpPr/>
          <p:nvPr/>
        </p:nvSpPr>
        <p:spPr>
          <a:xfrm>
            <a:off x="0" y="4754880"/>
            <a:ext cx="9144000" cy="388620"/>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411480" y="4754880"/>
            <a:ext cx="8321040" cy="388620"/>
          </a:xfrm>
          <a:prstGeom prst="rect">
            <a:avLst/>
          </a:prstGeom>
          <a:noFill/>
        </p:spPr>
        <p:txBody>
          <a:bodyPr wrap="square" lIns="0" rIns="0" tIns="0" bIns="0" anchor="ctr">
            <a:spAutoFit/>
          </a:bodyPr>
          <a:lstStyle/>
          <a:p>
            <a:pPr algn="l"/>
            <a:r>
              <a:rPr sz="930" b="1" i="0">
                <a:solidFill>
                  <a:srgbClr val="C9A84C"/>
                </a:solidFill>
                <a:latin typeface="Calibri"/>
              </a:rPr>
              <a:t xml:space="preserve">Four themes, one story.  </a:t>
            </a:r>
            <a:r>
              <a:rPr sz="930" b="0" i="0">
                <a:solidFill>
                  <a:srgbClr val="BBBBBB"/>
                </a:solidFill>
                <a:latin typeface="Calibri"/>
              </a:rPr>
              <a:t>Pricing and Articles were redesigned and built. SEO and Performance are recommended next steps.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8503920" y="219456"/>
            <a:ext cx="457200" cy="228600"/>
          </a:xfrm>
          <a:prstGeom prst="rect">
            <a:avLst/>
          </a:prstGeom>
          <a:noFill/>
        </p:spPr>
        <p:txBody>
          <a:bodyPr wrap="square" lIns="0" rIns="0" tIns="0" bIns="0" anchor="ctr">
            <a:spAutoFit/>
          </a:bodyPr>
          <a:lstStyle/>
          <a:p>
            <a:pPr algn="r"/>
            <a:r>
              <a:rPr sz="800" b="1" i="0" spc="200">
                <a:solidFill>
                  <a:srgbClr val="C9A84C"/>
                </a:solidFill>
                <a:latin typeface="Calibri"/>
              </a:rPr>
              <a:t>05</a:t>
            </a:r>
          </a:p>
        </p:txBody>
      </p:sp>
      <p:sp>
        <p:nvSpPr>
          <p:cNvPr id="3" name="TextBox 2"/>
          <p:cNvSpPr txBox="1"/>
          <p:nvPr/>
        </p:nvSpPr>
        <p:spPr>
          <a:xfrm>
            <a:off x="365760" y="182880"/>
            <a:ext cx="5943600" cy="420624"/>
          </a:xfrm>
          <a:prstGeom prst="rect">
            <a:avLst/>
          </a:prstGeom>
          <a:noFill/>
        </p:spPr>
        <p:txBody>
          <a:bodyPr wrap="square" lIns="0" rIns="0" tIns="0" bIns="0" anchor="ctr">
            <a:spAutoFit/>
          </a:bodyPr>
          <a:lstStyle/>
          <a:p>
            <a:pPr algn="l"/>
            <a:r>
              <a:rPr sz="2200" b="1" i="0">
                <a:solidFill>
                  <a:srgbClr val="111111"/>
                </a:solidFill>
                <a:latin typeface="Cambria"/>
              </a:rPr>
              <a:t>Case Study 1 — Pricing Page Redesign</a:t>
            </a:r>
          </a:p>
        </p:txBody>
      </p:sp>
      <p:sp>
        <p:nvSpPr>
          <p:cNvPr id="4" name="Rectangle 3"/>
          <p:cNvSpPr/>
          <p:nvPr/>
        </p:nvSpPr>
        <p:spPr>
          <a:xfrm>
            <a:off x="365760" y="658368"/>
            <a:ext cx="1371600" cy="27432"/>
          </a:xfrm>
          <a:prstGeom prst="rect">
            <a:avLst/>
          </a:prstGeom>
          <a:solidFill>
            <a:srgbClr val="C9A8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749808"/>
            <a:ext cx="7315200" cy="256032"/>
          </a:xfrm>
          <a:prstGeom prst="rect">
            <a:avLst/>
          </a:prstGeom>
          <a:noFill/>
        </p:spPr>
        <p:txBody>
          <a:bodyPr wrap="square" lIns="0" rIns="0" tIns="0" bIns="0" anchor="t">
            <a:spAutoFit/>
          </a:bodyPr>
          <a:lstStyle/>
          <a:p>
            <a:pPr algn="l"/>
            <a:r>
              <a:rPr sz="1050" b="0" i="1">
                <a:solidFill>
                  <a:srgbClr val="6B6B6B"/>
                </a:solidFill>
                <a:latin typeface="Calibri"/>
              </a:rPr>
              <a:t>Improving purchase clarity and reducing decision friction.</a:t>
            </a:r>
          </a:p>
        </p:txBody>
      </p:sp>
      <p:sp>
        <p:nvSpPr>
          <p:cNvPr id="6" name="TextBox 5"/>
          <p:cNvSpPr txBox="1"/>
          <p:nvPr/>
        </p:nvSpPr>
        <p:spPr>
          <a:xfrm>
            <a:off x="365760" y="1133856"/>
            <a:ext cx="2670048" cy="237744"/>
          </a:xfrm>
          <a:prstGeom prst="rect">
            <a:avLst/>
          </a:prstGeom>
          <a:noFill/>
        </p:spPr>
        <p:txBody>
          <a:bodyPr wrap="square" lIns="0" rIns="0" tIns="0" bIns="0" anchor="ctr">
            <a:spAutoFit/>
          </a:bodyPr>
          <a:lstStyle/>
          <a:p>
            <a:pPr algn="l"/>
            <a:r>
              <a:rPr sz="850" b="1" i="0" spc="80">
                <a:solidFill>
                  <a:srgbClr val="9B3A2E"/>
                </a:solidFill>
                <a:latin typeface="Calibri"/>
              </a:rPr>
              <a:t>CURRENT</a:t>
            </a:r>
          </a:p>
        </p:txBody>
      </p:sp>
      <p:sp>
        <p:nvSpPr>
          <p:cNvPr id="7" name="TextBox 6"/>
          <p:cNvSpPr txBox="1"/>
          <p:nvPr/>
        </p:nvSpPr>
        <p:spPr>
          <a:xfrm>
            <a:off x="3236976" y="1133856"/>
            <a:ext cx="2670048" cy="237744"/>
          </a:xfrm>
          <a:prstGeom prst="rect">
            <a:avLst/>
          </a:prstGeom>
          <a:noFill/>
        </p:spPr>
        <p:txBody>
          <a:bodyPr wrap="square" lIns="0" rIns="0" tIns="0" bIns="0" anchor="ctr">
            <a:spAutoFit/>
          </a:bodyPr>
          <a:lstStyle/>
          <a:p>
            <a:pPr algn="l"/>
            <a:r>
              <a:rPr sz="850" b="1" i="0" spc="80">
                <a:solidFill>
                  <a:srgbClr val="6B6B6B"/>
                </a:solidFill>
                <a:latin typeface="Calibri"/>
              </a:rPr>
              <a:t>BUSINESS IMPACT</a:t>
            </a:r>
          </a:p>
        </p:txBody>
      </p:sp>
      <p:sp>
        <p:nvSpPr>
          <p:cNvPr id="8" name="TextBox 7"/>
          <p:cNvSpPr txBox="1"/>
          <p:nvPr/>
        </p:nvSpPr>
        <p:spPr>
          <a:xfrm>
            <a:off x="6108192" y="1133856"/>
            <a:ext cx="2670048" cy="237744"/>
          </a:xfrm>
          <a:prstGeom prst="rect">
            <a:avLst/>
          </a:prstGeom>
          <a:noFill/>
        </p:spPr>
        <p:txBody>
          <a:bodyPr wrap="square" lIns="0" rIns="0" tIns="0" bIns="0" anchor="ctr">
            <a:spAutoFit/>
          </a:bodyPr>
          <a:lstStyle/>
          <a:p>
            <a:pPr algn="l"/>
            <a:r>
              <a:rPr sz="850" b="1" i="0" spc="80">
                <a:solidFill>
                  <a:srgbClr val="2E6B4A"/>
                </a:solidFill>
                <a:latin typeface="Calibri"/>
              </a:rPr>
              <a:t>YOUR SOLUTION</a:t>
            </a:r>
          </a:p>
        </p:txBody>
      </p:sp>
      <p:sp>
        <p:nvSpPr>
          <p:cNvPr id="9" name="Rounded Rectangle 8"/>
          <p:cNvSpPr/>
          <p:nvPr/>
        </p:nvSpPr>
        <p:spPr>
          <a:xfrm>
            <a:off x="365760" y="1371600"/>
            <a:ext cx="2670048" cy="1417320"/>
          </a:xfrm>
          <a:prstGeom prst="roundRect">
            <a:avLst>
              <a:gd name="adj" fmla="val 4000"/>
            </a:avLst>
          </a:prstGeom>
          <a:solidFill>
            <a:srgbClr val="E9E9E9"/>
          </a:solidFill>
          <a:ln w="12700">
            <a:solidFill>
              <a:srgbClr val="C9C9C9"/>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850" b="0" i="1">
                <a:solidFill>
                  <a:srgbClr val="9A9A9A"/>
                </a:solidFill>
                <a:latin typeface="Calibri"/>
              </a:rPr>
              <a:t>[ Screenshot: Original Pricing Page ]</a:t>
            </a:r>
          </a:p>
        </p:txBody>
      </p:sp>
      <p:sp>
        <p:nvSpPr>
          <p:cNvPr id="10" name="Rounded Rectangle 9"/>
          <p:cNvSpPr/>
          <p:nvPr/>
        </p:nvSpPr>
        <p:spPr>
          <a:xfrm>
            <a:off x="6108192" y="1371600"/>
            <a:ext cx="2670048" cy="1417320"/>
          </a:xfrm>
          <a:prstGeom prst="roundRect">
            <a:avLst>
              <a:gd name="adj" fmla="val 4000"/>
            </a:avLst>
          </a:prstGeom>
          <a:solidFill>
            <a:srgbClr val="E9E9E9"/>
          </a:solidFill>
          <a:ln w="12700">
            <a:solidFill>
              <a:srgbClr val="C9C9C9"/>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850" b="0" i="1">
                <a:solidFill>
                  <a:srgbClr val="9A9A9A"/>
                </a:solidFill>
                <a:latin typeface="Calibri"/>
              </a:rPr>
              <a:t>[ Screenshot: Redesigned Pricing Page ]</a:t>
            </a:r>
          </a:p>
        </p:txBody>
      </p:sp>
      <p:sp>
        <p:nvSpPr>
          <p:cNvPr id="11" name="Rounded Rectangle 10"/>
          <p:cNvSpPr/>
          <p:nvPr/>
        </p:nvSpPr>
        <p:spPr>
          <a:xfrm>
            <a:off x="3236976" y="1371600"/>
            <a:ext cx="2670048" cy="182880"/>
          </a:xfrm>
          <a:prstGeom prst="roundRect">
            <a:avLst>
              <a:gd name="adj" fmla="val 22000"/>
            </a:avLst>
          </a:prstGeom>
          <a:solidFill>
            <a:srgbClr val="F2F2F2"/>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a:lstStyle/>
          <a:p>
            <a:pPr algn="ctr"/>
            <a:r>
              <a:rPr sz="830" b="0" i="0">
                <a:solidFill>
                  <a:srgbClr val="4A4A4A"/>
                </a:solidFill>
                <a:latin typeface="Calibri"/>
              </a:rPr>
              <a:t>Visitor</a:t>
            </a:r>
          </a:p>
        </p:txBody>
      </p:sp>
      <p:sp>
        <p:nvSpPr>
          <p:cNvPr id="12" name="TextBox 11"/>
          <p:cNvSpPr txBox="1"/>
          <p:nvPr/>
        </p:nvSpPr>
        <p:spPr>
          <a:xfrm>
            <a:off x="4507992" y="1585341"/>
            <a:ext cx="128016" cy="64008"/>
          </a:xfrm>
          <a:prstGeom prst="rect">
            <a:avLst/>
          </a:prstGeom>
          <a:noFill/>
        </p:spPr>
        <p:txBody>
          <a:bodyPr wrap="square" lIns="0" rIns="0" tIns="0" bIns="0" anchor="ctr">
            <a:spAutoFit/>
          </a:bodyPr>
          <a:lstStyle/>
          <a:p>
            <a:pPr algn="ctr"/>
            <a:r>
              <a:rPr sz="900" b="1" i="0">
                <a:solidFill>
                  <a:srgbClr val="BBBBBB"/>
                </a:solidFill>
                <a:latin typeface="Calibri"/>
              </a:rPr>
              <a:t>▼</a:t>
            </a:r>
          </a:p>
        </p:txBody>
      </p:sp>
      <p:sp>
        <p:nvSpPr>
          <p:cNvPr id="13" name="Rounded Rectangle 12"/>
          <p:cNvSpPr/>
          <p:nvPr/>
        </p:nvSpPr>
        <p:spPr>
          <a:xfrm>
            <a:off x="3236976" y="1680210"/>
            <a:ext cx="2670048" cy="182880"/>
          </a:xfrm>
          <a:prstGeom prst="roundRect">
            <a:avLst>
              <a:gd name="adj" fmla="val 22000"/>
            </a:avLst>
          </a:prstGeom>
          <a:solidFill>
            <a:srgbClr val="F2F2F2"/>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a:lstStyle/>
          <a:p>
            <a:pPr algn="ctr"/>
            <a:r>
              <a:rPr sz="830" b="0" i="0">
                <a:solidFill>
                  <a:srgbClr val="4A4A4A"/>
                </a:solidFill>
                <a:latin typeface="Calibri"/>
              </a:rPr>
              <a:t>Pricing Page</a:t>
            </a:r>
          </a:p>
        </p:txBody>
      </p:sp>
      <p:sp>
        <p:nvSpPr>
          <p:cNvPr id="14" name="TextBox 13"/>
          <p:cNvSpPr txBox="1"/>
          <p:nvPr/>
        </p:nvSpPr>
        <p:spPr>
          <a:xfrm>
            <a:off x="4507992" y="1893951"/>
            <a:ext cx="128016" cy="64008"/>
          </a:xfrm>
          <a:prstGeom prst="rect">
            <a:avLst/>
          </a:prstGeom>
          <a:noFill/>
        </p:spPr>
        <p:txBody>
          <a:bodyPr wrap="square" lIns="0" rIns="0" tIns="0" bIns="0" anchor="ctr">
            <a:spAutoFit/>
          </a:bodyPr>
          <a:lstStyle/>
          <a:p>
            <a:pPr algn="ctr"/>
            <a:r>
              <a:rPr sz="900" b="1" i="0">
                <a:solidFill>
                  <a:srgbClr val="BBBBBB"/>
                </a:solidFill>
                <a:latin typeface="Calibri"/>
              </a:rPr>
              <a:t>▼</a:t>
            </a:r>
          </a:p>
        </p:txBody>
      </p:sp>
      <p:sp>
        <p:nvSpPr>
          <p:cNvPr id="15" name="Rounded Rectangle 14"/>
          <p:cNvSpPr/>
          <p:nvPr/>
        </p:nvSpPr>
        <p:spPr>
          <a:xfrm>
            <a:off x="3236976" y="1988819"/>
            <a:ext cx="2670048" cy="182880"/>
          </a:xfrm>
          <a:prstGeom prst="roundRect">
            <a:avLst>
              <a:gd name="adj" fmla="val 22000"/>
            </a:avLst>
          </a:prstGeom>
          <a:solidFill>
            <a:srgbClr val="F2F2F2"/>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a:lstStyle/>
          <a:p>
            <a:pPr algn="ctr"/>
            <a:r>
              <a:rPr sz="830" b="0" i="0">
                <a:solidFill>
                  <a:srgbClr val="4A4A4A"/>
                </a:solidFill>
                <a:latin typeface="Calibri"/>
              </a:rPr>
              <a:t>Confusion</a:t>
            </a:r>
          </a:p>
        </p:txBody>
      </p:sp>
      <p:sp>
        <p:nvSpPr>
          <p:cNvPr id="16" name="TextBox 15"/>
          <p:cNvSpPr txBox="1"/>
          <p:nvPr/>
        </p:nvSpPr>
        <p:spPr>
          <a:xfrm>
            <a:off x="4507992" y="2202561"/>
            <a:ext cx="128016" cy="64008"/>
          </a:xfrm>
          <a:prstGeom prst="rect">
            <a:avLst/>
          </a:prstGeom>
          <a:noFill/>
        </p:spPr>
        <p:txBody>
          <a:bodyPr wrap="square" lIns="0" rIns="0" tIns="0" bIns="0" anchor="ctr">
            <a:spAutoFit/>
          </a:bodyPr>
          <a:lstStyle/>
          <a:p>
            <a:pPr algn="ctr"/>
            <a:r>
              <a:rPr sz="900" b="1" i="0">
                <a:solidFill>
                  <a:srgbClr val="BBBBBB"/>
                </a:solidFill>
                <a:latin typeface="Calibri"/>
              </a:rPr>
              <a:t>▼</a:t>
            </a:r>
          </a:p>
        </p:txBody>
      </p:sp>
      <p:sp>
        <p:nvSpPr>
          <p:cNvPr id="17" name="Rounded Rectangle 16"/>
          <p:cNvSpPr/>
          <p:nvPr/>
        </p:nvSpPr>
        <p:spPr>
          <a:xfrm>
            <a:off x="3236976" y="2297429"/>
            <a:ext cx="2670048" cy="182880"/>
          </a:xfrm>
          <a:prstGeom prst="roundRect">
            <a:avLst>
              <a:gd name="adj" fmla="val 22000"/>
            </a:avLst>
          </a:prstGeom>
          <a:solidFill>
            <a:srgbClr val="F2F2F2"/>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a:lstStyle/>
          <a:p>
            <a:pPr algn="ctr"/>
            <a:r>
              <a:rPr sz="830" b="0" i="0">
                <a:solidFill>
                  <a:srgbClr val="4A4A4A"/>
                </a:solidFill>
                <a:latin typeface="Calibri"/>
              </a:rPr>
              <a:t>More comparison effort</a:t>
            </a:r>
          </a:p>
        </p:txBody>
      </p:sp>
      <p:sp>
        <p:nvSpPr>
          <p:cNvPr id="18" name="TextBox 17"/>
          <p:cNvSpPr txBox="1"/>
          <p:nvPr/>
        </p:nvSpPr>
        <p:spPr>
          <a:xfrm>
            <a:off x="4507992" y="2511171"/>
            <a:ext cx="128016" cy="64008"/>
          </a:xfrm>
          <a:prstGeom prst="rect">
            <a:avLst/>
          </a:prstGeom>
          <a:noFill/>
        </p:spPr>
        <p:txBody>
          <a:bodyPr wrap="square" lIns="0" rIns="0" tIns="0" bIns="0" anchor="ctr">
            <a:spAutoFit/>
          </a:bodyPr>
          <a:lstStyle/>
          <a:p>
            <a:pPr algn="ctr"/>
            <a:r>
              <a:rPr sz="900" b="1" i="0">
                <a:solidFill>
                  <a:srgbClr val="BBBBBB"/>
                </a:solidFill>
                <a:latin typeface="Calibri"/>
              </a:rPr>
              <a:t>▼</a:t>
            </a:r>
          </a:p>
        </p:txBody>
      </p:sp>
      <p:sp>
        <p:nvSpPr>
          <p:cNvPr id="19" name="Rounded Rectangle 18"/>
          <p:cNvSpPr/>
          <p:nvPr/>
        </p:nvSpPr>
        <p:spPr>
          <a:xfrm>
            <a:off x="3236976" y="2606039"/>
            <a:ext cx="2670048" cy="182880"/>
          </a:xfrm>
          <a:prstGeom prst="roundRect">
            <a:avLst>
              <a:gd name="adj" fmla="val 22000"/>
            </a:avLst>
          </a:prstGeom>
          <a:solidFill>
            <a:srgbClr val="F5E4E1"/>
          </a:solidFill>
          <a:ln w="9525">
            <a:solidFill>
              <a:srgbClr val="CE9C93"/>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a:lstStyle/>
          <a:p>
            <a:pPr algn="ctr"/>
            <a:r>
              <a:rPr sz="830" b="1" i="0">
                <a:solidFill>
                  <a:srgbClr val="9B3A2E"/>
                </a:solidFill>
                <a:latin typeface="Calibri"/>
              </a:rPr>
              <a:t>Lower purchase confidence</a:t>
            </a:r>
          </a:p>
        </p:txBody>
      </p:sp>
      <p:sp>
        <p:nvSpPr>
          <p:cNvPr id="20" name="TextBox 19"/>
          <p:cNvSpPr txBox="1"/>
          <p:nvPr/>
        </p:nvSpPr>
        <p:spPr>
          <a:xfrm>
            <a:off x="365760" y="2898648"/>
            <a:ext cx="2670048" cy="1033271"/>
          </a:xfrm>
          <a:prstGeom prst="rect">
            <a:avLst/>
          </a:prstGeom>
          <a:noFill/>
        </p:spPr>
        <p:txBody>
          <a:bodyPr wrap="square" lIns="0" rIns="0" tIns="0" bIns="0" anchor="t">
            <a:spAutoFit/>
          </a:bodyPr>
          <a:lstStyle/>
          <a:p>
            <a:pPr algn="l">
              <a:lnSpc>
                <a:spcPct val="100000"/>
              </a:lnSpc>
              <a:spcBef>
                <a:spcPts val="0"/>
              </a:spcBef>
            </a:pPr>
            <a:r>
              <a:rPr sz="850" b="1" i="0">
                <a:solidFill>
                  <a:srgbClr val="9B3A2E"/>
                </a:solidFill>
                <a:latin typeface="Calibri"/>
              </a:rPr>
              <a:t xml:space="preserve">✕  </a:t>
            </a:r>
            <a:r>
              <a:rPr sz="850" b="0" i="0">
                <a:solidFill>
                  <a:srgbClr val="4A4A4A"/>
                </a:solidFill>
                <a:latin typeface="Calibri"/>
              </a:rPr>
              <a:t>Two pricing structures</a:t>
            </a:r>
          </a:p>
          <a:p>
            <a:pPr algn="l">
              <a:lnSpc>
                <a:spcPct val="100000"/>
              </a:lnSpc>
              <a:spcBef>
                <a:spcPts val="300"/>
              </a:spcBef>
            </a:pPr>
            <a:r>
              <a:rPr sz="850" b="1" i="0">
                <a:solidFill>
                  <a:srgbClr val="9B3A2E"/>
                </a:solidFill>
                <a:latin typeface="Calibri"/>
              </a:rPr>
              <a:t xml:space="preserve">✕  </a:t>
            </a:r>
            <a:r>
              <a:rPr sz="850" b="0" i="0">
                <a:solidFill>
                  <a:srgbClr val="4A4A4A"/>
                </a:solidFill>
                <a:latin typeface="Calibri"/>
              </a:rPr>
              <a:t>Incomplete sentence in copy</a:t>
            </a:r>
          </a:p>
          <a:p>
            <a:pPr algn="l">
              <a:lnSpc>
                <a:spcPct val="100000"/>
              </a:lnSpc>
              <a:spcBef>
                <a:spcPts val="300"/>
              </a:spcBef>
            </a:pPr>
            <a:r>
              <a:rPr sz="850" b="1" i="0">
                <a:solidFill>
                  <a:srgbClr val="9B3A2E"/>
                </a:solidFill>
                <a:latin typeface="Calibri"/>
              </a:rPr>
              <a:t xml:space="preserve">✕  </a:t>
            </a:r>
            <a:r>
              <a:rPr sz="850" b="0" i="0">
                <a:solidFill>
                  <a:srgbClr val="4A4A4A"/>
                </a:solidFill>
                <a:latin typeface="Calibri"/>
              </a:rPr>
              <a:t>Conflicting feature lists</a:t>
            </a:r>
          </a:p>
          <a:p>
            <a:pPr algn="l">
              <a:lnSpc>
                <a:spcPct val="100000"/>
              </a:lnSpc>
              <a:spcBef>
                <a:spcPts val="300"/>
              </a:spcBef>
            </a:pPr>
            <a:r>
              <a:rPr sz="850" b="1" i="0">
                <a:solidFill>
                  <a:srgbClr val="9B3A2E"/>
                </a:solidFill>
                <a:latin typeface="Calibri"/>
              </a:rPr>
              <a:t xml:space="preserve">✕  </a:t>
            </a:r>
            <a:r>
              <a:rPr sz="850" b="0" i="0">
                <a:solidFill>
                  <a:srgbClr val="4A4A4A"/>
                </a:solidFill>
                <a:latin typeface="Calibri"/>
              </a:rPr>
              <a:t>Weak comparison experience</a:t>
            </a:r>
          </a:p>
        </p:txBody>
      </p:sp>
      <p:sp>
        <p:nvSpPr>
          <p:cNvPr id="21" name="TextBox 20"/>
          <p:cNvSpPr txBox="1"/>
          <p:nvPr/>
        </p:nvSpPr>
        <p:spPr>
          <a:xfrm>
            <a:off x="3236976" y="2898648"/>
            <a:ext cx="2670048" cy="1033271"/>
          </a:xfrm>
          <a:prstGeom prst="rect">
            <a:avLst/>
          </a:prstGeom>
          <a:noFill/>
        </p:spPr>
        <p:txBody>
          <a:bodyPr wrap="square" lIns="0" rIns="0" tIns="0" bIns="0" anchor="t">
            <a:spAutoFit/>
          </a:bodyPr>
          <a:lstStyle/>
          <a:p>
            <a:pPr algn="l">
              <a:lnSpc>
                <a:spcPct val="108000"/>
              </a:lnSpc>
            </a:pPr>
            <a:r>
              <a:rPr sz="850" b="0" i="1">
                <a:solidFill>
                  <a:srgbClr val="6B6B6B"/>
                </a:solidFill>
                <a:latin typeface="Calibri"/>
              </a:rPr>
              <a:t>A confusing pricing page pushes visitors into extra comparison work before they trust the purchase — every added step lowers conversion confidence.</a:t>
            </a:r>
          </a:p>
        </p:txBody>
      </p:sp>
      <p:sp>
        <p:nvSpPr>
          <p:cNvPr id="22" name="TextBox 21"/>
          <p:cNvSpPr txBox="1"/>
          <p:nvPr/>
        </p:nvSpPr>
        <p:spPr>
          <a:xfrm>
            <a:off x="6108192" y="2898648"/>
            <a:ext cx="2670048" cy="1033271"/>
          </a:xfrm>
          <a:prstGeom prst="rect">
            <a:avLst/>
          </a:prstGeom>
          <a:noFill/>
        </p:spPr>
        <p:txBody>
          <a:bodyPr wrap="square" lIns="0" rIns="0" tIns="0" bIns="0" anchor="t">
            <a:spAutoFit/>
          </a:bodyPr>
          <a:lstStyle/>
          <a:p>
            <a:pPr algn="l">
              <a:lnSpc>
                <a:spcPct val="100000"/>
              </a:lnSpc>
              <a:spcBef>
                <a:spcPts val="0"/>
              </a:spcBef>
            </a:pPr>
            <a:r>
              <a:rPr sz="850" b="1" i="0">
                <a:solidFill>
                  <a:srgbClr val="2E6B4A"/>
                </a:solidFill>
                <a:latin typeface="Calibri"/>
              </a:rPr>
              <a:t xml:space="preserve">✓  </a:t>
            </a:r>
            <a:r>
              <a:rPr sz="850" b="0" i="0">
                <a:solidFill>
                  <a:srgbClr val="4A4A4A"/>
                </a:solidFill>
                <a:latin typeface="Calibri"/>
              </a:rPr>
              <a:t>Single pricing structure</a:t>
            </a:r>
          </a:p>
          <a:p>
            <a:pPr algn="l">
              <a:lnSpc>
                <a:spcPct val="100000"/>
              </a:lnSpc>
              <a:spcBef>
                <a:spcPts val="250"/>
              </a:spcBef>
            </a:pPr>
            <a:r>
              <a:rPr sz="850" b="1" i="0">
                <a:solidFill>
                  <a:srgbClr val="2E6B4A"/>
                </a:solidFill>
                <a:latin typeface="Calibri"/>
              </a:rPr>
              <a:t xml:space="preserve">✓  </a:t>
            </a:r>
            <a:r>
              <a:rPr sz="850" b="0" i="0">
                <a:solidFill>
                  <a:srgbClr val="4A4A4A"/>
                </a:solidFill>
                <a:latin typeface="Calibri"/>
              </a:rPr>
              <a:t>Cleaner information hierarchy</a:t>
            </a:r>
          </a:p>
          <a:p>
            <a:pPr algn="l">
              <a:lnSpc>
                <a:spcPct val="100000"/>
              </a:lnSpc>
              <a:spcBef>
                <a:spcPts val="250"/>
              </a:spcBef>
            </a:pPr>
            <a:r>
              <a:rPr sz="850" b="1" i="0">
                <a:solidFill>
                  <a:srgbClr val="2E6B4A"/>
                </a:solidFill>
                <a:latin typeface="Calibri"/>
              </a:rPr>
              <a:t xml:space="preserve">✓  </a:t>
            </a:r>
            <a:r>
              <a:rPr sz="850" b="0" i="0">
                <a:solidFill>
                  <a:srgbClr val="4A4A4A"/>
                </a:solidFill>
                <a:latin typeface="Calibri"/>
              </a:rPr>
              <a:t>Dedicated comparison table</a:t>
            </a:r>
          </a:p>
          <a:p>
            <a:pPr algn="l">
              <a:lnSpc>
                <a:spcPct val="100000"/>
              </a:lnSpc>
              <a:spcBef>
                <a:spcPts val="250"/>
              </a:spcBef>
            </a:pPr>
            <a:r>
              <a:rPr sz="850" b="1" i="0">
                <a:solidFill>
                  <a:srgbClr val="2E6B4A"/>
                </a:solidFill>
                <a:latin typeface="Calibri"/>
              </a:rPr>
              <a:t xml:space="preserve">✓  </a:t>
            </a:r>
            <a:r>
              <a:rPr sz="850" b="0" i="0">
                <a:solidFill>
                  <a:srgbClr val="4A4A4A"/>
                </a:solidFill>
                <a:latin typeface="Calibri"/>
              </a:rPr>
              <a:t>Enterprise CTA</a:t>
            </a:r>
          </a:p>
          <a:p>
            <a:pPr algn="l">
              <a:lnSpc>
                <a:spcPct val="100000"/>
              </a:lnSpc>
              <a:spcBef>
                <a:spcPts val="250"/>
              </a:spcBef>
            </a:pPr>
            <a:r>
              <a:rPr sz="850" b="1" i="0">
                <a:solidFill>
                  <a:srgbClr val="2E6B4A"/>
                </a:solidFill>
                <a:latin typeface="Calibri"/>
              </a:rPr>
              <a:t xml:space="preserve">✓  </a:t>
            </a:r>
            <a:r>
              <a:rPr sz="850" b="0" i="0">
                <a:solidFill>
                  <a:srgbClr val="4A4A4A"/>
                </a:solidFill>
                <a:latin typeface="Calibri"/>
              </a:rPr>
              <a:t>Improved plan selection flow</a:t>
            </a:r>
          </a:p>
        </p:txBody>
      </p:sp>
      <p:sp>
        <p:nvSpPr>
          <p:cNvPr id="23" name="Rounded Rectangle 22"/>
          <p:cNvSpPr/>
          <p:nvPr/>
        </p:nvSpPr>
        <p:spPr>
          <a:xfrm>
            <a:off x="365760" y="4069080"/>
            <a:ext cx="5779007" cy="566928"/>
          </a:xfrm>
          <a:prstGeom prst="roundRect">
            <a:avLst>
              <a:gd name="adj" fmla="val 14000"/>
            </a:avLst>
          </a:prstGeom>
          <a:solidFill>
            <a:srgbClr val="FBF6E9"/>
          </a:solidFill>
          <a:ln w="12700">
            <a:solidFill>
              <a:srgbClr val="E3CE8E"/>
            </a:solidFill>
          </a:ln>
          <a:effectLst/>
        </p:spPr>
        <p:style>
          <a:lnRef idx="1">
            <a:schemeClr val="accent1"/>
          </a:lnRef>
          <a:fillRef idx="3">
            <a:schemeClr val="accent1"/>
          </a:fillRef>
          <a:effectRef idx="2">
            <a:schemeClr val="accent1"/>
          </a:effectRef>
          <a:fontRef idx="minor">
            <a:schemeClr val="lt1"/>
          </a:fontRef>
        </p:style>
        <p:txBody>
          <a:bodyPr rtlCol="0" anchor="ctr" lIns="164592" rIns="137160" tIns="54864" bIns="54864" wrap="square"/>
          <a:lstStyle/>
          <a:p>
            <a:pPr algn="l"/>
            <a:r>
              <a:rPr sz="800" b="1" i="0" spc="40">
                <a:solidFill>
                  <a:srgbClr val="5A4612"/>
                </a:solidFill>
                <a:latin typeface="Calibri"/>
              </a:rPr>
              <a:t xml:space="preserve">EXPECTED IMPROVEMENTS   </a:t>
            </a:r>
            <a:r>
              <a:rPr sz="860" b="0" i="0">
                <a:solidFill>
                  <a:srgbClr val="5A4612"/>
                </a:solidFill>
                <a:latin typeface="Calibri"/>
              </a:rPr>
              <a:t>Faster plan comparison  ·  Reduced cognitive load  ·  Clear upgrade path  ·  Better purchase confidence</a:t>
            </a:r>
          </a:p>
        </p:txBody>
      </p:sp>
      <p:sp>
        <p:nvSpPr>
          <p:cNvPr id="24" name="Rounded Rectangle 23"/>
          <p:cNvSpPr/>
          <p:nvPr/>
        </p:nvSpPr>
        <p:spPr>
          <a:xfrm>
            <a:off x="6309359" y="4069080"/>
            <a:ext cx="2468880" cy="566928"/>
          </a:xfrm>
          <a:prstGeom prst="roundRect">
            <a:avLst>
              <a:gd name="adj" fmla="val 14000"/>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lIns="146304" rIns="109728" wrap="square"/>
          <a:lstStyle/>
          <a:p>
            <a:pPr algn="l"/>
            <a:r>
              <a:rPr sz="800" b="1" i="0" spc="40">
                <a:solidFill>
                  <a:srgbClr val="C9A84C"/>
                </a:solidFill>
                <a:latin typeface="Calibri"/>
              </a:rPr>
              <a:t>🔗 LIVE PROTOTYPE</a:t>
            </a:r>
          </a:p>
          <a:p>
            <a:pPr>
              <a:spcBef>
                <a:spcPts val="200"/>
              </a:spcBef>
            </a:pPr>
            <a:r>
              <a:rPr sz="730" b="0" i="0">
                <a:solidFill>
                  <a:srgbClr val="FFFFFF"/>
                </a:solidFill>
                <a:latin typeface="Calibri"/>
              </a:rPr>
              <a:t>einvite-pricing-625378471000</a:t>
            </a:r>
          </a:p>
          <a:p>
            <a:r>
              <a:rPr sz="730" b="0" i="0">
                <a:solidFill>
                  <a:srgbClr val="FFFFFF"/>
                </a:solidFill>
                <a:latin typeface="Calibri"/>
              </a:rPr>
              <a:t>.asia-southeast1.run.app</a:t>
            </a:r>
          </a:p>
        </p:txBody>
      </p:sp>
      <p:sp>
        <p:nvSpPr>
          <p:cNvPr id="25" name="Rectangle 24"/>
          <p:cNvSpPr/>
          <p:nvPr/>
        </p:nvSpPr>
        <p:spPr>
          <a:xfrm>
            <a:off x="0" y="4754880"/>
            <a:ext cx="9144000" cy="388620"/>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11480" y="4754880"/>
            <a:ext cx="8321040" cy="388620"/>
          </a:xfrm>
          <a:prstGeom prst="rect">
            <a:avLst/>
          </a:prstGeom>
          <a:noFill/>
        </p:spPr>
        <p:txBody>
          <a:bodyPr wrap="square" lIns="0" rIns="0" tIns="0" bIns="0" anchor="ctr">
            <a:spAutoFit/>
          </a:bodyPr>
          <a:lstStyle/>
          <a:p>
            <a:pPr algn="l"/>
            <a:r>
              <a:rPr sz="930" b="1" i="0">
                <a:solidFill>
                  <a:srgbClr val="C9A84C"/>
                </a:solidFill>
                <a:latin typeface="Calibri"/>
              </a:rPr>
              <a:t xml:space="preserve">Implemented, not theoretical.  </a:t>
            </a:r>
            <a:r>
              <a:rPr sz="930" b="0" i="0">
                <a:solidFill>
                  <a:srgbClr val="BBBBBB"/>
                </a:solidFill>
                <a:latin typeface="Calibri"/>
              </a:rPr>
              <a:t>This redesign is live and interactive — not a static mockup.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8503920" y="219456"/>
            <a:ext cx="457200" cy="228600"/>
          </a:xfrm>
          <a:prstGeom prst="rect">
            <a:avLst/>
          </a:prstGeom>
          <a:noFill/>
        </p:spPr>
        <p:txBody>
          <a:bodyPr wrap="square" lIns="0" rIns="0" tIns="0" bIns="0" anchor="ctr">
            <a:spAutoFit/>
          </a:bodyPr>
          <a:lstStyle/>
          <a:p>
            <a:pPr algn="r"/>
            <a:r>
              <a:rPr sz="800" b="1" i="0" spc="200">
                <a:solidFill>
                  <a:srgbClr val="C9A84C"/>
                </a:solidFill>
                <a:latin typeface="Calibri"/>
              </a:rPr>
              <a:t>06</a:t>
            </a:r>
          </a:p>
        </p:txBody>
      </p:sp>
      <p:sp>
        <p:nvSpPr>
          <p:cNvPr id="3" name="TextBox 2"/>
          <p:cNvSpPr txBox="1"/>
          <p:nvPr/>
        </p:nvSpPr>
        <p:spPr>
          <a:xfrm>
            <a:off x="365760" y="182880"/>
            <a:ext cx="5943600" cy="420624"/>
          </a:xfrm>
          <a:prstGeom prst="rect">
            <a:avLst/>
          </a:prstGeom>
          <a:noFill/>
        </p:spPr>
        <p:txBody>
          <a:bodyPr wrap="square" lIns="0" rIns="0" tIns="0" bIns="0" anchor="ctr">
            <a:spAutoFit/>
          </a:bodyPr>
          <a:lstStyle/>
          <a:p>
            <a:pPr algn="l"/>
            <a:r>
              <a:rPr sz="2200" b="1" i="0">
                <a:solidFill>
                  <a:srgbClr val="111111"/>
                </a:solidFill>
                <a:latin typeface="Cambria"/>
              </a:rPr>
              <a:t>Case Study 2 — Articles Page Redesign</a:t>
            </a:r>
          </a:p>
        </p:txBody>
      </p:sp>
      <p:sp>
        <p:nvSpPr>
          <p:cNvPr id="4" name="Rectangle 3"/>
          <p:cNvSpPr/>
          <p:nvPr/>
        </p:nvSpPr>
        <p:spPr>
          <a:xfrm>
            <a:off x="365760" y="658368"/>
            <a:ext cx="1371600" cy="27432"/>
          </a:xfrm>
          <a:prstGeom prst="rect">
            <a:avLst/>
          </a:prstGeom>
          <a:solidFill>
            <a:srgbClr val="C9A8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749808"/>
            <a:ext cx="7315200" cy="256032"/>
          </a:xfrm>
          <a:prstGeom prst="rect">
            <a:avLst/>
          </a:prstGeom>
          <a:noFill/>
        </p:spPr>
        <p:txBody>
          <a:bodyPr wrap="square" lIns="0" rIns="0" tIns="0" bIns="0" anchor="t">
            <a:spAutoFit/>
          </a:bodyPr>
          <a:lstStyle/>
          <a:p>
            <a:pPr algn="l"/>
            <a:r>
              <a:rPr sz="1050" b="0" i="1">
                <a:solidFill>
                  <a:srgbClr val="6B6B6B"/>
                </a:solidFill>
                <a:latin typeface="Calibri"/>
              </a:rPr>
              <a:t>Improving content discoverability and information architecture.</a:t>
            </a:r>
          </a:p>
        </p:txBody>
      </p:sp>
      <p:sp>
        <p:nvSpPr>
          <p:cNvPr id="6" name="TextBox 5"/>
          <p:cNvSpPr txBox="1"/>
          <p:nvPr/>
        </p:nvSpPr>
        <p:spPr>
          <a:xfrm>
            <a:off x="365760" y="1133856"/>
            <a:ext cx="2670048" cy="237744"/>
          </a:xfrm>
          <a:prstGeom prst="rect">
            <a:avLst/>
          </a:prstGeom>
          <a:noFill/>
        </p:spPr>
        <p:txBody>
          <a:bodyPr wrap="square" lIns="0" rIns="0" tIns="0" bIns="0" anchor="ctr">
            <a:spAutoFit/>
          </a:bodyPr>
          <a:lstStyle/>
          <a:p>
            <a:pPr algn="l"/>
            <a:r>
              <a:rPr sz="850" b="1" i="0" spc="80">
                <a:solidFill>
                  <a:srgbClr val="9B3A2E"/>
                </a:solidFill>
                <a:latin typeface="Calibri"/>
              </a:rPr>
              <a:t>CURRENT</a:t>
            </a:r>
          </a:p>
        </p:txBody>
      </p:sp>
      <p:sp>
        <p:nvSpPr>
          <p:cNvPr id="7" name="TextBox 6"/>
          <p:cNvSpPr txBox="1"/>
          <p:nvPr/>
        </p:nvSpPr>
        <p:spPr>
          <a:xfrm>
            <a:off x="3236976" y="1133856"/>
            <a:ext cx="2670048" cy="237744"/>
          </a:xfrm>
          <a:prstGeom prst="rect">
            <a:avLst/>
          </a:prstGeom>
          <a:noFill/>
        </p:spPr>
        <p:txBody>
          <a:bodyPr wrap="square" lIns="0" rIns="0" tIns="0" bIns="0" anchor="ctr">
            <a:spAutoFit/>
          </a:bodyPr>
          <a:lstStyle/>
          <a:p>
            <a:pPr algn="l"/>
            <a:r>
              <a:rPr sz="850" b="1" i="0" spc="80">
                <a:solidFill>
                  <a:srgbClr val="6B6B6B"/>
                </a:solidFill>
                <a:latin typeface="Calibri"/>
              </a:rPr>
              <a:t>BUSINESS IMPACT</a:t>
            </a:r>
          </a:p>
        </p:txBody>
      </p:sp>
      <p:sp>
        <p:nvSpPr>
          <p:cNvPr id="8" name="TextBox 7"/>
          <p:cNvSpPr txBox="1"/>
          <p:nvPr/>
        </p:nvSpPr>
        <p:spPr>
          <a:xfrm>
            <a:off x="6108192" y="1133856"/>
            <a:ext cx="2670048" cy="237744"/>
          </a:xfrm>
          <a:prstGeom prst="rect">
            <a:avLst/>
          </a:prstGeom>
          <a:noFill/>
        </p:spPr>
        <p:txBody>
          <a:bodyPr wrap="square" lIns="0" rIns="0" tIns="0" bIns="0" anchor="ctr">
            <a:spAutoFit/>
          </a:bodyPr>
          <a:lstStyle/>
          <a:p>
            <a:pPr algn="l"/>
            <a:r>
              <a:rPr sz="850" b="1" i="0" spc="80">
                <a:solidFill>
                  <a:srgbClr val="2E6B4A"/>
                </a:solidFill>
                <a:latin typeface="Calibri"/>
              </a:rPr>
              <a:t>YOUR SOLUTION</a:t>
            </a:r>
          </a:p>
        </p:txBody>
      </p:sp>
      <p:sp>
        <p:nvSpPr>
          <p:cNvPr id="9" name="Rounded Rectangle 8"/>
          <p:cNvSpPr/>
          <p:nvPr/>
        </p:nvSpPr>
        <p:spPr>
          <a:xfrm>
            <a:off x="365760" y="1371600"/>
            <a:ext cx="2670048" cy="1417320"/>
          </a:xfrm>
          <a:prstGeom prst="roundRect">
            <a:avLst>
              <a:gd name="adj" fmla="val 4000"/>
            </a:avLst>
          </a:prstGeom>
          <a:solidFill>
            <a:srgbClr val="E9E9E9"/>
          </a:solidFill>
          <a:ln w="12700">
            <a:solidFill>
              <a:srgbClr val="C9C9C9"/>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850" b="0" i="1">
                <a:solidFill>
                  <a:srgbClr val="9A9A9A"/>
                </a:solidFill>
                <a:latin typeface="Calibri"/>
              </a:rPr>
              <a:t>[ Screenshot: Original Articles Page ]</a:t>
            </a:r>
          </a:p>
        </p:txBody>
      </p:sp>
      <p:sp>
        <p:nvSpPr>
          <p:cNvPr id="10" name="Rounded Rectangle 9"/>
          <p:cNvSpPr/>
          <p:nvPr/>
        </p:nvSpPr>
        <p:spPr>
          <a:xfrm>
            <a:off x="6108192" y="1371600"/>
            <a:ext cx="2670048" cy="1417320"/>
          </a:xfrm>
          <a:prstGeom prst="roundRect">
            <a:avLst>
              <a:gd name="adj" fmla="val 4000"/>
            </a:avLst>
          </a:prstGeom>
          <a:solidFill>
            <a:srgbClr val="E9E9E9"/>
          </a:solidFill>
          <a:ln w="12700">
            <a:solidFill>
              <a:srgbClr val="C9C9C9"/>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850" b="0" i="1">
                <a:solidFill>
                  <a:srgbClr val="9A9A9A"/>
                </a:solidFill>
                <a:latin typeface="Calibri"/>
              </a:rPr>
              <a:t>[ Screenshot: Redesigned Articles Page ]</a:t>
            </a:r>
          </a:p>
        </p:txBody>
      </p:sp>
      <p:sp>
        <p:nvSpPr>
          <p:cNvPr id="11" name="Rounded Rectangle 10"/>
          <p:cNvSpPr/>
          <p:nvPr/>
        </p:nvSpPr>
        <p:spPr>
          <a:xfrm>
            <a:off x="3236976" y="1371600"/>
            <a:ext cx="2670048" cy="182880"/>
          </a:xfrm>
          <a:prstGeom prst="roundRect">
            <a:avLst>
              <a:gd name="adj" fmla="val 22000"/>
            </a:avLst>
          </a:prstGeom>
          <a:solidFill>
            <a:srgbClr val="F2F2F2"/>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a:lstStyle/>
          <a:p>
            <a:pPr algn="ctr"/>
            <a:r>
              <a:rPr sz="830" b="0" i="0">
                <a:solidFill>
                  <a:srgbClr val="4A4A4A"/>
                </a:solidFill>
                <a:latin typeface="Calibri"/>
              </a:rPr>
              <a:t>User opens Articles</a:t>
            </a:r>
          </a:p>
        </p:txBody>
      </p:sp>
      <p:sp>
        <p:nvSpPr>
          <p:cNvPr id="12" name="TextBox 11"/>
          <p:cNvSpPr txBox="1"/>
          <p:nvPr/>
        </p:nvSpPr>
        <p:spPr>
          <a:xfrm>
            <a:off x="4507992" y="1585341"/>
            <a:ext cx="128016" cy="64008"/>
          </a:xfrm>
          <a:prstGeom prst="rect">
            <a:avLst/>
          </a:prstGeom>
          <a:noFill/>
        </p:spPr>
        <p:txBody>
          <a:bodyPr wrap="square" lIns="0" rIns="0" tIns="0" bIns="0" anchor="ctr">
            <a:spAutoFit/>
          </a:bodyPr>
          <a:lstStyle/>
          <a:p>
            <a:pPr algn="ctr"/>
            <a:r>
              <a:rPr sz="900" b="1" i="0">
                <a:solidFill>
                  <a:srgbClr val="BBBBBB"/>
                </a:solidFill>
                <a:latin typeface="Calibri"/>
              </a:rPr>
              <a:t>▼</a:t>
            </a:r>
          </a:p>
        </p:txBody>
      </p:sp>
      <p:sp>
        <p:nvSpPr>
          <p:cNvPr id="13" name="Rounded Rectangle 12"/>
          <p:cNvSpPr/>
          <p:nvPr/>
        </p:nvSpPr>
        <p:spPr>
          <a:xfrm>
            <a:off x="3236976" y="1680210"/>
            <a:ext cx="2670048" cy="182880"/>
          </a:xfrm>
          <a:prstGeom prst="roundRect">
            <a:avLst>
              <a:gd name="adj" fmla="val 22000"/>
            </a:avLst>
          </a:prstGeom>
          <a:solidFill>
            <a:srgbClr val="F2F2F2"/>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a:lstStyle/>
          <a:p>
            <a:pPr algn="ctr"/>
            <a:r>
              <a:rPr sz="830" b="0" i="0">
                <a:solidFill>
                  <a:srgbClr val="4A4A4A"/>
                </a:solidFill>
                <a:latin typeface="Calibri"/>
              </a:rPr>
              <a:t>List of 58 articles</a:t>
            </a:r>
          </a:p>
        </p:txBody>
      </p:sp>
      <p:sp>
        <p:nvSpPr>
          <p:cNvPr id="14" name="TextBox 13"/>
          <p:cNvSpPr txBox="1"/>
          <p:nvPr/>
        </p:nvSpPr>
        <p:spPr>
          <a:xfrm>
            <a:off x="4507992" y="1893951"/>
            <a:ext cx="128016" cy="64008"/>
          </a:xfrm>
          <a:prstGeom prst="rect">
            <a:avLst/>
          </a:prstGeom>
          <a:noFill/>
        </p:spPr>
        <p:txBody>
          <a:bodyPr wrap="square" lIns="0" rIns="0" tIns="0" bIns="0" anchor="ctr">
            <a:spAutoFit/>
          </a:bodyPr>
          <a:lstStyle/>
          <a:p>
            <a:pPr algn="ctr"/>
            <a:r>
              <a:rPr sz="900" b="1" i="0">
                <a:solidFill>
                  <a:srgbClr val="BBBBBB"/>
                </a:solidFill>
                <a:latin typeface="Calibri"/>
              </a:rPr>
              <a:t>▼</a:t>
            </a:r>
          </a:p>
        </p:txBody>
      </p:sp>
      <p:sp>
        <p:nvSpPr>
          <p:cNvPr id="15" name="Rounded Rectangle 14"/>
          <p:cNvSpPr/>
          <p:nvPr/>
        </p:nvSpPr>
        <p:spPr>
          <a:xfrm>
            <a:off x="3236976" y="1988819"/>
            <a:ext cx="2670048" cy="182880"/>
          </a:xfrm>
          <a:prstGeom prst="roundRect">
            <a:avLst>
              <a:gd name="adj" fmla="val 22000"/>
            </a:avLst>
          </a:prstGeom>
          <a:solidFill>
            <a:srgbClr val="F2F2F2"/>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a:lstStyle/>
          <a:p>
            <a:pPr algn="ctr"/>
            <a:r>
              <a:rPr sz="830" b="0" i="0">
                <a:solidFill>
                  <a:srgbClr val="4A4A4A"/>
                </a:solidFill>
                <a:latin typeface="Calibri"/>
              </a:rPr>
              <a:t>No way to filter</a:t>
            </a:r>
          </a:p>
        </p:txBody>
      </p:sp>
      <p:sp>
        <p:nvSpPr>
          <p:cNvPr id="16" name="TextBox 15"/>
          <p:cNvSpPr txBox="1"/>
          <p:nvPr/>
        </p:nvSpPr>
        <p:spPr>
          <a:xfrm>
            <a:off x="4507992" y="2202561"/>
            <a:ext cx="128016" cy="64008"/>
          </a:xfrm>
          <a:prstGeom prst="rect">
            <a:avLst/>
          </a:prstGeom>
          <a:noFill/>
        </p:spPr>
        <p:txBody>
          <a:bodyPr wrap="square" lIns="0" rIns="0" tIns="0" bIns="0" anchor="ctr">
            <a:spAutoFit/>
          </a:bodyPr>
          <a:lstStyle/>
          <a:p>
            <a:pPr algn="ctr"/>
            <a:r>
              <a:rPr sz="900" b="1" i="0">
                <a:solidFill>
                  <a:srgbClr val="BBBBBB"/>
                </a:solidFill>
                <a:latin typeface="Calibri"/>
              </a:rPr>
              <a:t>▼</a:t>
            </a:r>
          </a:p>
        </p:txBody>
      </p:sp>
      <p:sp>
        <p:nvSpPr>
          <p:cNvPr id="17" name="Rounded Rectangle 16"/>
          <p:cNvSpPr/>
          <p:nvPr/>
        </p:nvSpPr>
        <p:spPr>
          <a:xfrm>
            <a:off x="3236976" y="2297429"/>
            <a:ext cx="2670048" cy="182880"/>
          </a:xfrm>
          <a:prstGeom prst="roundRect">
            <a:avLst>
              <a:gd name="adj" fmla="val 22000"/>
            </a:avLst>
          </a:prstGeom>
          <a:solidFill>
            <a:srgbClr val="F2F2F2"/>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a:lstStyle/>
          <a:p>
            <a:pPr algn="ctr"/>
            <a:r>
              <a:rPr sz="830" b="0" i="0">
                <a:solidFill>
                  <a:srgbClr val="4A4A4A"/>
                </a:solidFill>
                <a:latin typeface="Calibri"/>
              </a:rPr>
              <a:t>Hard to discover content</a:t>
            </a:r>
          </a:p>
        </p:txBody>
      </p:sp>
      <p:sp>
        <p:nvSpPr>
          <p:cNvPr id="18" name="TextBox 17"/>
          <p:cNvSpPr txBox="1"/>
          <p:nvPr/>
        </p:nvSpPr>
        <p:spPr>
          <a:xfrm>
            <a:off x="4507992" y="2511171"/>
            <a:ext cx="128016" cy="64008"/>
          </a:xfrm>
          <a:prstGeom prst="rect">
            <a:avLst/>
          </a:prstGeom>
          <a:noFill/>
        </p:spPr>
        <p:txBody>
          <a:bodyPr wrap="square" lIns="0" rIns="0" tIns="0" bIns="0" anchor="ctr">
            <a:spAutoFit/>
          </a:bodyPr>
          <a:lstStyle/>
          <a:p>
            <a:pPr algn="ctr"/>
            <a:r>
              <a:rPr sz="900" b="1" i="0">
                <a:solidFill>
                  <a:srgbClr val="BBBBBB"/>
                </a:solidFill>
                <a:latin typeface="Calibri"/>
              </a:rPr>
              <a:t>▼</a:t>
            </a:r>
          </a:p>
        </p:txBody>
      </p:sp>
      <p:sp>
        <p:nvSpPr>
          <p:cNvPr id="19" name="Rounded Rectangle 18"/>
          <p:cNvSpPr/>
          <p:nvPr/>
        </p:nvSpPr>
        <p:spPr>
          <a:xfrm>
            <a:off x="3236976" y="2606039"/>
            <a:ext cx="2670048" cy="182880"/>
          </a:xfrm>
          <a:prstGeom prst="roundRect">
            <a:avLst>
              <a:gd name="adj" fmla="val 22000"/>
            </a:avLst>
          </a:prstGeom>
          <a:solidFill>
            <a:srgbClr val="F5E4E1"/>
          </a:solidFill>
          <a:ln w="9525">
            <a:solidFill>
              <a:srgbClr val="CE9C93"/>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a:lstStyle/>
          <a:p>
            <a:pPr algn="ctr"/>
            <a:r>
              <a:rPr sz="830" b="1" i="0">
                <a:solidFill>
                  <a:srgbClr val="9B3A2E"/>
                </a:solidFill>
                <a:latin typeface="Calibri"/>
              </a:rPr>
              <a:t>Lower engagement</a:t>
            </a:r>
          </a:p>
        </p:txBody>
      </p:sp>
      <p:sp>
        <p:nvSpPr>
          <p:cNvPr id="20" name="TextBox 19"/>
          <p:cNvSpPr txBox="1"/>
          <p:nvPr/>
        </p:nvSpPr>
        <p:spPr>
          <a:xfrm>
            <a:off x="365760" y="2898648"/>
            <a:ext cx="2670048" cy="1033271"/>
          </a:xfrm>
          <a:prstGeom prst="rect">
            <a:avLst/>
          </a:prstGeom>
          <a:noFill/>
        </p:spPr>
        <p:txBody>
          <a:bodyPr wrap="square" lIns="0" rIns="0" tIns="0" bIns="0" anchor="t">
            <a:spAutoFit/>
          </a:bodyPr>
          <a:lstStyle/>
          <a:p>
            <a:pPr algn="l">
              <a:lnSpc>
                <a:spcPct val="100000"/>
              </a:lnSpc>
              <a:spcBef>
                <a:spcPts val="0"/>
              </a:spcBef>
            </a:pPr>
            <a:r>
              <a:rPr sz="850" b="1" i="0">
                <a:solidFill>
                  <a:srgbClr val="9B3A2E"/>
                </a:solidFill>
                <a:latin typeface="Calibri"/>
              </a:rPr>
              <a:t xml:space="preserve">✕  </a:t>
            </a:r>
            <a:r>
              <a:rPr sz="850" b="0" i="0">
                <a:solidFill>
                  <a:srgbClr val="4A4A4A"/>
                </a:solidFill>
                <a:latin typeface="Calibri"/>
              </a:rPr>
              <a:t>No search</a:t>
            </a:r>
          </a:p>
          <a:p>
            <a:pPr algn="l">
              <a:lnSpc>
                <a:spcPct val="100000"/>
              </a:lnSpc>
              <a:spcBef>
                <a:spcPts val="300"/>
              </a:spcBef>
            </a:pPr>
            <a:r>
              <a:rPr sz="850" b="1" i="0">
                <a:solidFill>
                  <a:srgbClr val="9B3A2E"/>
                </a:solidFill>
                <a:latin typeface="Calibri"/>
              </a:rPr>
              <a:t xml:space="preserve">✕  </a:t>
            </a:r>
            <a:r>
              <a:rPr sz="850" b="0" i="0">
                <a:solidFill>
                  <a:srgbClr val="4A4A4A"/>
                </a:solidFill>
                <a:latin typeface="Calibri"/>
              </a:rPr>
              <a:t>No categories</a:t>
            </a:r>
          </a:p>
          <a:p>
            <a:pPr algn="l">
              <a:lnSpc>
                <a:spcPct val="100000"/>
              </a:lnSpc>
              <a:spcBef>
                <a:spcPts val="300"/>
              </a:spcBef>
            </a:pPr>
            <a:r>
              <a:rPr sz="850" b="1" i="0">
                <a:solidFill>
                  <a:srgbClr val="9B3A2E"/>
                </a:solidFill>
                <a:latin typeface="Calibri"/>
              </a:rPr>
              <a:t xml:space="preserve">✕  </a:t>
            </a:r>
            <a:r>
              <a:rPr sz="850" b="0" i="0">
                <a:solidFill>
                  <a:srgbClr val="4A4A4A"/>
                </a:solidFill>
                <a:latin typeface="Calibri"/>
              </a:rPr>
              <a:t>Duplicate articles</a:t>
            </a:r>
          </a:p>
          <a:p>
            <a:pPr algn="l">
              <a:lnSpc>
                <a:spcPct val="100000"/>
              </a:lnSpc>
              <a:spcBef>
                <a:spcPts val="300"/>
              </a:spcBef>
            </a:pPr>
            <a:r>
              <a:rPr sz="850" b="1" i="0">
                <a:solidFill>
                  <a:srgbClr val="9B3A2E"/>
                </a:solidFill>
                <a:latin typeface="Calibri"/>
              </a:rPr>
              <a:t xml:space="preserve">✕  </a:t>
            </a:r>
            <a:r>
              <a:rPr sz="850" b="0" i="0">
                <a:solidFill>
                  <a:srgbClr val="4A4A4A"/>
                </a:solidFill>
                <a:latin typeface="Calibri"/>
              </a:rPr>
              <a:t>Endless scrolling</a:t>
            </a:r>
          </a:p>
          <a:p>
            <a:pPr algn="l">
              <a:lnSpc>
                <a:spcPct val="100000"/>
              </a:lnSpc>
              <a:spcBef>
                <a:spcPts val="300"/>
              </a:spcBef>
            </a:pPr>
            <a:r>
              <a:rPr sz="850" b="1" i="0">
                <a:solidFill>
                  <a:srgbClr val="9B3A2E"/>
                </a:solidFill>
                <a:latin typeface="Calibri"/>
              </a:rPr>
              <a:t xml:space="preserve">✕  </a:t>
            </a:r>
            <a:r>
              <a:rPr sz="850" b="0" i="0">
                <a:solidFill>
                  <a:srgbClr val="4A4A4A"/>
                </a:solidFill>
                <a:latin typeface="Calibri"/>
              </a:rPr>
              <a:t>Poor content hierarchy</a:t>
            </a:r>
          </a:p>
        </p:txBody>
      </p:sp>
      <p:sp>
        <p:nvSpPr>
          <p:cNvPr id="21" name="TextBox 20"/>
          <p:cNvSpPr txBox="1"/>
          <p:nvPr/>
        </p:nvSpPr>
        <p:spPr>
          <a:xfrm>
            <a:off x="3236976" y="2898648"/>
            <a:ext cx="2670048" cy="1033271"/>
          </a:xfrm>
          <a:prstGeom prst="rect">
            <a:avLst/>
          </a:prstGeom>
          <a:noFill/>
        </p:spPr>
        <p:txBody>
          <a:bodyPr wrap="square" lIns="0" rIns="0" tIns="0" bIns="0" anchor="t">
            <a:spAutoFit/>
          </a:bodyPr>
          <a:lstStyle/>
          <a:p>
            <a:pPr algn="l">
              <a:lnSpc>
                <a:spcPct val="108000"/>
              </a:lnSpc>
            </a:pPr>
            <a:r>
              <a:rPr sz="850" b="0" i="1">
                <a:solidFill>
                  <a:srgbClr val="6B6B6B"/>
                </a:solidFill>
                <a:latin typeface="Calibri"/>
              </a:rPr>
              <a:t>A large, unfiltered article list makes existing content hard to find — visitors give up before discovering what's actually relevant to them, which lowers engagement.</a:t>
            </a:r>
          </a:p>
        </p:txBody>
      </p:sp>
      <p:sp>
        <p:nvSpPr>
          <p:cNvPr id="22" name="TextBox 21"/>
          <p:cNvSpPr txBox="1"/>
          <p:nvPr/>
        </p:nvSpPr>
        <p:spPr>
          <a:xfrm>
            <a:off x="6108192" y="2898648"/>
            <a:ext cx="2670048" cy="1033271"/>
          </a:xfrm>
          <a:prstGeom prst="rect">
            <a:avLst/>
          </a:prstGeom>
          <a:noFill/>
        </p:spPr>
        <p:txBody>
          <a:bodyPr wrap="square" lIns="0" rIns="0" tIns="0" bIns="0" anchor="t">
            <a:spAutoFit/>
          </a:bodyPr>
          <a:lstStyle/>
          <a:p>
            <a:pPr algn="l">
              <a:lnSpc>
                <a:spcPct val="100000"/>
              </a:lnSpc>
              <a:spcBef>
                <a:spcPts val="0"/>
              </a:spcBef>
            </a:pPr>
            <a:r>
              <a:rPr sz="850" b="1" i="0">
                <a:solidFill>
                  <a:srgbClr val="2E6B4A"/>
                </a:solidFill>
                <a:latin typeface="Calibri"/>
              </a:rPr>
              <a:t xml:space="preserve">✓  </a:t>
            </a:r>
            <a:r>
              <a:rPr sz="850" b="0" i="0">
                <a:solidFill>
                  <a:srgbClr val="4A4A4A"/>
                </a:solidFill>
                <a:latin typeface="Calibri"/>
              </a:rPr>
              <a:t>Search functionality</a:t>
            </a:r>
          </a:p>
          <a:p>
            <a:pPr algn="l">
              <a:lnSpc>
                <a:spcPct val="100000"/>
              </a:lnSpc>
              <a:spcBef>
                <a:spcPts val="250"/>
              </a:spcBef>
            </a:pPr>
            <a:r>
              <a:rPr sz="850" b="1" i="0">
                <a:solidFill>
                  <a:srgbClr val="2E6B4A"/>
                </a:solidFill>
                <a:latin typeface="Calibri"/>
              </a:rPr>
              <a:t xml:space="preserve">✓  </a:t>
            </a:r>
            <a:r>
              <a:rPr sz="850" b="0" i="0">
                <a:solidFill>
                  <a:srgbClr val="4A4A4A"/>
                </a:solidFill>
                <a:latin typeface="Calibri"/>
              </a:rPr>
              <a:t>Category filters</a:t>
            </a:r>
          </a:p>
          <a:p>
            <a:pPr algn="l">
              <a:lnSpc>
                <a:spcPct val="100000"/>
              </a:lnSpc>
              <a:spcBef>
                <a:spcPts val="250"/>
              </a:spcBef>
            </a:pPr>
            <a:r>
              <a:rPr sz="850" b="1" i="0">
                <a:solidFill>
                  <a:srgbClr val="2E6B4A"/>
                </a:solidFill>
                <a:latin typeface="Calibri"/>
              </a:rPr>
              <a:t xml:space="preserve">✓  </a:t>
            </a:r>
            <a:r>
              <a:rPr sz="850" b="0" i="0">
                <a:solidFill>
                  <a:srgbClr val="4A4A4A"/>
                </a:solidFill>
                <a:latin typeface="Calibri"/>
              </a:rPr>
              <a:t>Featured article</a:t>
            </a:r>
          </a:p>
          <a:p>
            <a:pPr algn="l">
              <a:lnSpc>
                <a:spcPct val="100000"/>
              </a:lnSpc>
              <a:spcBef>
                <a:spcPts val="250"/>
              </a:spcBef>
            </a:pPr>
            <a:r>
              <a:rPr sz="850" b="1" i="0">
                <a:solidFill>
                  <a:srgbClr val="2E6B4A"/>
                </a:solidFill>
                <a:latin typeface="Calibri"/>
              </a:rPr>
              <a:t xml:space="preserve">✓  </a:t>
            </a:r>
            <a:r>
              <a:rPr sz="850" b="0" i="0">
                <a:solidFill>
                  <a:srgbClr val="4A4A4A"/>
                </a:solidFill>
                <a:latin typeface="Calibri"/>
              </a:rPr>
              <a:t>Improved article cards</a:t>
            </a:r>
          </a:p>
          <a:p>
            <a:pPr algn="l">
              <a:lnSpc>
                <a:spcPct val="100000"/>
              </a:lnSpc>
              <a:spcBef>
                <a:spcPts val="250"/>
              </a:spcBef>
            </a:pPr>
            <a:r>
              <a:rPr sz="850" b="1" i="0">
                <a:solidFill>
                  <a:srgbClr val="2E6B4A"/>
                </a:solidFill>
                <a:latin typeface="Calibri"/>
              </a:rPr>
              <a:t xml:space="preserve">✓  </a:t>
            </a:r>
            <a:r>
              <a:rPr sz="850" b="0" i="0">
                <a:solidFill>
                  <a:srgbClr val="4A4A4A"/>
                </a:solidFill>
                <a:latin typeface="Calibri"/>
              </a:rPr>
              <a:t>Better information hierarchy</a:t>
            </a:r>
          </a:p>
          <a:p>
            <a:pPr algn="l">
              <a:lnSpc>
                <a:spcPct val="100000"/>
              </a:lnSpc>
              <a:spcBef>
                <a:spcPts val="250"/>
              </a:spcBef>
            </a:pPr>
            <a:r>
              <a:rPr sz="850" b="1" i="0">
                <a:solidFill>
                  <a:srgbClr val="2E6B4A"/>
                </a:solidFill>
                <a:latin typeface="Calibri"/>
              </a:rPr>
              <a:t xml:space="preserve">✓  </a:t>
            </a:r>
            <a:r>
              <a:rPr sz="850" b="0" i="0">
                <a:solidFill>
                  <a:srgbClr val="4A4A4A"/>
                </a:solidFill>
                <a:latin typeface="Calibri"/>
              </a:rPr>
              <a:t>Load More pagination</a:t>
            </a:r>
          </a:p>
        </p:txBody>
      </p:sp>
      <p:sp>
        <p:nvSpPr>
          <p:cNvPr id="23" name="Rounded Rectangle 22"/>
          <p:cNvSpPr/>
          <p:nvPr/>
        </p:nvSpPr>
        <p:spPr>
          <a:xfrm>
            <a:off x="365760" y="4069080"/>
            <a:ext cx="5779007" cy="566928"/>
          </a:xfrm>
          <a:prstGeom prst="roundRect">
            <a:avLst>
              <a:gd name="adj" fmla="val 14000"/>
            </a:avLst>
          </a:prstGeom>
          <a:solidFill>
            <a:srgbClr val="FBF6E9"/>
          </a:solidFill>
          <a:ln w="12700">
            <a:solidFill>
              <a:srgbClr val="E3CE8E"/>
            </a:solidFill>
          </a:ln>
          <a:effectLst/>
        </p:spPr>
        <p:style>
          <a:lnRef idx="1">
            <a:schemeClr val="accent1"/>
          </a:lnRef>
          <a:fillRef idx="3">
            <a:schemeClr val="accent1"/>
          </a:fillRef>
          <a:effectRef idx="2">
            <a:schemeClr val="accent1"/>
          </a:effectRef>
          <a:fontRef idx="minor">
            <a:schemeClr val="lt1"/>
          </a:fontRef>
        </p:style>
        <p:txBody>
          <a:bodyPr rtlCol="0" anchor="ctr" lIns="164592" rIns="137160" tIns="54864" bIns="54864" wrap="square"/>
          <a:lstStyle/>
          <a:p>
            <a:pPr algn="l"/>
            <a:r>
              <a:rPr sz="800" b="1" i="0" spc="40">
                <a:solidFill>
                  <a:srgbClr val="5A4612"/>
                </a:solidFill>
                <a:latin typeface="Calibri"/>
              </a:rPr>
              <a:t xml:space="preserve">EXPECTED IMPROVEMENTS   </a:t>
            </a:r>
            <a:r>
              <a:rPr sz="860" b="0" i="0">
                <a:solidFill>
                  <a:srgbClr val="5A4612"/>
                </a:solidFill>
                <a:latin typeface="Calibri"/>
              </a:rPr>
              <a:t>Easier article discovery  ·  Better content organization  ·  Improved user engagement  ·  Stronger SEO foundation  ·  Scalable content architecture</a:t>
            </a:r>
          </a:p>
        </p:txBody>
      </p:sp>
      <p:sp>
        <p:nvSpPr>
          <p:cNvPr id="24" name="Rounded Rectangle 23"/>
          <p:cNvSpPr/>
          <p:nvPr/>
        </p:nvSpPr>
        <p:spPr>
          <a:xfrm>
            <a:off x="6309359" y="4069080"/>
            <a:ext cx="2468880" cy="566928"/>
          </a:xfrm>
          <a:prstGeom prst="roundRect">
            <a:avLst>
              <a:gd name="adj" fmla="val 14000"/>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lIns="146304" rIns="109728" wrap="square"/>
          <a:lstStyle/>
          <a:p>
            <a:pPr algn="l"/>
            <a:r>
              <a:rPr sz="800" b="1" i="0" spc="40">
                <a:solidFill>
                  <a:srgbClr val="C9A84C"/>
                </a:solidFill>
                <a:latin typeface="Calibri"/>
              </a:rPr>
              <a:t>🔗 LIVE PROTOTYPE</a:t>
            </a:r>
          </a:p>
          <a:p>
            <a:pPr>
              <a:spcBef>
                <a:spcPts val="200"/>
              </a:spcBef>
            </a:pPr>
            <a:r>
              <a:rPr sz="730" b="0" i="0">
                <a:solidFill>
                  <a:srgbClr val="FFFFFF"/>
                </a:solidFill>
                <a:latin typeface="Calibri"/>
              </a:rPr>
              <a:t>einvite-articles-resources-</a:t>
            </a:r>
          </a:p>
          <a:p>
            <a:r>
              <a:rPr sz="730" b="0" i="0">
                <a:solidFill>
                  <a:srgbClr val="FFFFFF"/>
                </a:solidFill>
                <a:latin typeface="Calibri"/>
              </a:rPr>
              <a:t>625378471000.asia-southeast1.run.app</a:t>
            </a:r>
          </a:p>
        </p:txBody>
      </p:sp>
      <p:sp>
        <p:nvSpPr>
          <p:cNvPr id="25" name="Rectangle 24"/>
          <p:cNvSpPr/>
          <p:nvPr/>
        </p:nvSpPr>
        <p:spPr>
          <a:xfrm>
            <a:off x="0" y="4754880"/>
            <a:ext cx="9144000" cy="388620"/>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11480" y="4754880"/>
            <a:ext cx="8321040" cy="388620"/>
          </a:xfrm>
          <a:prstGeom prst="rect">
            <a:avLst/>
          </a:prstGeom>
          <a:noFill/>
        </p:spPr>
        <p:txBody>
          <a:bodyPr wrap="square" lIns="0" rIns="0" tIns="0" bIns="0" anchor="ctr">
            <a:spAutoFit/>
          </a:bodyPr>
          <a:lstStyle/>
          <a:p>
            <a:pPr algn="l"/>
            <a:r>
              <a:rPr sz="930" b="1" i="0">
                <a:solidFill>
                  <a:srgbClr val="C9A84C"/>
                </a:solidFill>
                <a:latin typeface="Calibri"/>
              </a:rPr>
              <a:t xml:space="preserve">Implemented, not theoretical.  </a:t>
            </a:r>
            <a:r>
              <a:rPr sz="930" b="0" i="0">
                <a:solidFill>
                  <a:srgbClr val="BBBBBB"/>
                </a:solidFill>
                <a:latin typeface="Calibri"/>
              </a:rPr>
              <a:t>This redesign is live and interactive — organizing existing content, not creating new content.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8503920" y="219456"/>
            <a:ext cx="457200" cy="228600"/>
          </a:xfrm>
          <a:prstGeom prst="rect">
            <a:avLst/>
          </a:prstGeom>
          <a:noFill/>
        </p:spPr>
        <p:txBody>
          <a:bodyPr wrap="square" lIns="0" rIns="0" tIns="0" bIns="0" anchor="ctr">
            <a:spAutoFit/>
          </a:bodyPr>
          <a:lstStyle/>
          <a:p>
            <a:pPr algn="r"/>
            <a:r>
              <a:rPr sz="800" b="1" i="0" spc="200">
                <a:solidFill>
                  <a:srgbClr val="C9A84C"/>
                </a:solidFill>
                <a:latin typeface="Calibri"/>
              </a:rPr>
              <a:t>07</a:t>
            </a:r>
          </a:p>
        </p:txBody>
      </p:sp>
      <p:sp>
        <p:nvSpPr>
          <p:cNvPr id="3" name="TextBox 2"/>
          <p:cNvSpPr txBox="1"/>
          <p:nvPr/>
        </p:nvSpPr>
        <p:spPr>
          <a:xfrm>
            <a:off x="365760" y="182880"/>
            <a:ext cx="6400800" cy="420624"/>
          </a:xfrm>
          <a:prstGeom prst="rect">
            <a:avLst/>
          </a:prstGeom>
          <a:noFill/>
        </p:spPr>
        <p:txBody>
          <a:bodyPr wrap="square" lIns="0" rIns="0" tIns="0" bIns="0" anchor="ctr">
            <a:spAutoFit/>
          </a:bodyPr>
          <a:lstStyle/>
          <a:p>
            <a:pPr algn="l"/>
            <a:r>
              <a:rPr sz="2400" b="1" i="0">
                <a:solidFill>
                  <a:srgbClr val="111111"/>
                </a:solidFill>
                <a:latin typeface="Cambria"/>
              </a:rPr>
              <a:t>Technical Recommendations</a:t>
            </a:r>
          </a:p>
        </p:txBody>
      </p:sp>
      <p:sp>
        <p:nvSpPr>
          <p:cNvPr id="4" name="Rectangle 3"/>
          <p:cNvSpPr/>
          <p:nvPr/>
        </p:nvSpPr>
        <p:spPr>
          <a:xfrm>
            <a:off x="365760" y="658368"/>
            <a:ext cx="1371600" cy="27432"/>
          </a:xfrm>
          <a:prstGeom prst="rect">
            <a:avLst/>
          </a:prstGeom>
          <a:solidFill>
            <a:srgbClr val="C9A8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749808"/>
            <a:ext cx="8229600" cy="256032"/>
          </a:xfrm>
          <a:prstGeom prst="rect">
            <a:avLst/>
          </a:prstGeom>
          <a:noFill/>
        </p:spPr>
        <p:txBody>
          <a:bodyPr wrap="square" lIns="0" rIns="0" tIns="0" bIns="0" anchor="t">
            <a:spAutoFit/>
          </a:bodyPr>
          <a:lstStyle/>
          <a:p>
            <a:pPr algn="l"/>
            <a:r>
              <a:rPr sz="1050" b="0" i="1">
                <a:solidFill>
                  <a:srgbClr val="6B6B6B"/>
                </a:solidFill>
                <a:latin typeface="Calibri"/>
              </a:rPr>
              <a:t>High-impact improvements identified through technical audit and PageSpeed analysis.</a:t>
            </a:r>
          </a:p>
        </p:txBody>
      </p:sp>
      <p:sp>
        <p:nvSpPr>
          <p:cNvPr id="6" name="TextBox 5"/>
          <p:cNvSpPr txBox="1"/>
          <p:nvPr/>
        </p:nvSpPr>
        <p:spPr>
          <a:xfrm>
            <a:off x="365760" y="1152144"/>
            <a:ext cx="2788920" cy="219456"/>
          </a:xfrm>
          <a:prstGeom prst="rect">
            <a:avLst/>
          </a:prstGeom>
          <a:noFill/>
        </p:spPr>
        <p:txBody>
          <a:bodyPr wrap="square" lIns="0" rIns="0" tIns="0" bIns="0" anchor="ctr">
            <a:spAutoFit/>
          </a:bodyPr>
          <a:lstStyle/>
          <a:p>
            <a:pPr algn="l"/>
            <a:r>
              <a:rPr sz="850" b="1" i="0" spc="70">
                <a:solidFill>
                  <a:srgbClr val="6B6B6B"/>
                </a:solidFill>
                <a:latin typeface="Calibri"/>
              </a:rPr>
              <a:t>PERFORMANCE FINDINGS</a:t>
            </a:r>
          </a:p>
        </p:txBody>
      </p:sp>
      <p:sp>
        <p:nvSpPr>
          <p:cNvPr id="7" name="TextBox 6"/>
          <p:cNvSpPr txBox="1"/>
          <p:nvPr/>
        </p:nvSpPr>
        <p:spPr>
          <a:xfrm>
            <a:off x="3428999" y="1152144"/>
            <a:ext cx="5349240" cy="219456"/>
          </a:xfrm>
          <a:prstGeom prst="rect">
            <a:avLst/>
          </a:prstGeom>
          <a:noFill/>
        </p:spPr>
        <p:txBody>
          <a:bodyPr wrap="square" lIns="0" rIns="0" tIns="0" bIns="0" anchor="ctr">
            <a:spAutoFit/>
          </a:bodyPr>
          <a:lstStyle/>
          <a:p>
            <a:pPr algn="l"/>
            <a:r>
              <a:rPr sz="850" b="1" i="0" spc="70">
                <a:solidFill>
                  <a:srgbClr val="6B6B6B"/>
                </a:solidFill>
                <a:latin typeface="Calibri"/>
              </a:rPr>
              <a:t>PRIORITY IMPROVEMENTS</a:t>
            </a:r>
          </a:p>
        </p:txBody>
      </p:sp>
      <p:sp>
        <p:nvSpPr>
          <p:cNvPr id="8" name="Rectangle 7"/>
          <p:cNvSpPr/>
          <p:nvPr/>
        </p:nvSpPr>
        <p:spPr>
          <a:xfrm>
            <a:off x="365760" y="1444752"/>
            <a:ext cx="2788920" cy="237744"/>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38912" y="1444752"/>
            <a:ext cx="1209751" cy="237744"/>
          </a:xfrm>
          <a:prstGeom prst="rect">
            <a:avLst/>
          </a:prstGeom>
          <a:noFill/>
        </p:spPr>
        <p:txBody>
          <a:bodyPr wrap="square" lIns="0" rIns="0" tIns="0" bIns="0" anchor="ctr">
            <a:spAutoFit/>
          </a:bodyPr>
          <a:lstStyle/>
          <a:p>
            <a:pPr algn="l"/>
            <a:r>
              <a:rPr sz="730" b="1" i="0" spc="40">
                <a:solidFill>
                  <a:srgbClr val="C9A84C"/>
                </a:solidFill>
                <a:latin typeface="Calibri"/>
              </a:rPr>
              <a:t>METRIC</a:t>
            </a:r>
          </a:p>
        </p:txBody>
      </p:sp>
      <p:sp>
        <p:nvSpPr>
          <p:cNvPr id="10" name="TextBox 9"/>
          <p:cNvSpPr txBox="1"/>
          <p:nvPr/>
        </p:nvSpPr>
        <p:spPr>
          <a:xfrm>
            <a:off x="1648663" y="1444752"/>
            <a:ext cx="502005" cy="237744"/>
          </a:xfrm>
          <a:prstGeom prst="rect">
            <a:avLst/>
          </a:prstGeom>
          <a:noFill/>
        </p:spPr>
        <p:txBody>
          <a:bodyPr wrap="square" lIns="0" rIns="0" tIns="0" bIns="0" anchor="ctr">
            <a:spAutoFit/>
          </a:bodyPr>
          <a:lstStyle/>
          <a:p>
            <a:pPr algn="ctr"/>
            <a:r>
              <a:rPr sz="730" b="1" i="0" spc="40">
                <a:solidFill>
                  <a:srgbClr val="C9A84C"/>
                </a:solidFill>
                <a:latin typeface="Calibri"/>
              </a:rPr>
              <a:t>NOW</a:t>
            </a:r>
          </a:p>
        </p:txBody>
      </p:sp>
      <p:sp>
        <p:nvSpPr>
          <p:cNvPr id="11" name="TextBox 10"/>
          <p:cNvSpPr txBox="1"/>
          <p:nvPr/>
        </p:nvSpPr>
        <p:spPr>
          <a:xfrm>
            <a:off x="2150668" y="1444752"/>
            <a:ext cx="930859" cy="237744"/>
          </a:xfrm>
          <a:prstGeom prst="rect">
            <a:avLst/>
          </a:prstGeom>
          <a:noFill/>
        </p:spPr>
        <p:txBody>
          <a:bodyPr wrap="square" lIns="0" rIns="0" tIns="0" bIns="0" anchor="ctr">
            <a:spAutoFit/>
          </a:bodyPr>
          <a:lstStyle/>
          <a:p>
            <a:pPr algn="l"/>
            <a:r>
              <a:rPr sz="730" b="1" i="0" spc="40">
                <a:solidFill>
                  <a:srgbClr val="C9A84C"/>
                </a:solidFill>
                <a:latin typeface="Calibri"/>
              </a:rPr>
              <a:t>TARGET</a:t>
            </a:r>
          </a:p>
        </p:txBody>
      </p:sp>
      <p:sp>
        <p:nvSpPr>
          <p:cNvPr id="12" name="Rectangle 11"/>
          <p:cNvSpPr/>
          <p:nvPr/>
        </p:nvSpPr>
        <p:spPr>
          <a:xfrm>
            <a:off x="365760" y="1682496"/>
            <a:ext cx="2788920" cy="47548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38912" y="1682496"/>
            <a:ext cx="1191463" cy="475488"/>
          </a:xfrm>
          <a:prstGeom prst="rect">
            <a:avLst/>
          </a:prstGeom>
          <a:noFill/>
        </p:spPr>
        <p:txBody>
          <a:bodyPr wrap="square" lIns="0" rIns="0" tIns="0" bIns="0" anchor="ctr">
            <a:spAutoFit/>
          </a:bodyPr>
          <a:lstStyle/>
          <a:p>
            <a:pPr algn="l">
              <a:lnSpc>
                <a:spcPct val="100000"/>
              </a:lnSpc>
            </a:pPr>
            <a:r>
              <a:rPr sz="830" b="1" i="0">
                <a:solidFill>
                  <a:srgbClr val="2C2C2C"/>
                </a:solidFill>
                <a:latin typeface="Calibri"/>
              </a:rPr>
              <a:t>Mobile Performance</a:t>
            </a:r>
          </a:p>
        </p:txBody>
      </p:sp>
      <p:sp>
        <p:nvSpPr>
          <p:cNvPr id="14" name="TextBox 13"/>
          <p:cNvSpPr txBox="1"/>
          <p:nvPr/>
        </p:nvSpPr>
        <p:spPr>
          <a:xfrm>
            <a:off x="1648663" y="1682496"/>
            <a:ext cx="502005" cy="475488"/>
          </a:xfrm>
          <a:prstGeom prst="rect">
            <a:avLst/>
          </a:prstGeom>
          <a:noFill/>
        </p:spPr>
        <p:txBody>
          <a:bodyPr wrap="square" lIns="0" rIns="0" tIns="0" bIns="0" anchor="ctr">
            <a:spAutoFit/>
          </a:bodyPr>
          <a:lstStyle/>
          <a:p>
            <a:pPr algn="ctr"/>
            <a:r>
              <a:rPr sz="860" b="1" i="0">
                <a:solidFill>
                  <a:srgbClr val="9B3A2E"/>
                </a:solidFill>
                <a:latin typeface="Calibri"/>
              </a:rPr>
              <a:t>68</a:t>
            </a:r>
          </a:p>
        </p:txBody>
      </p:sp>
      <p:sp>
        <p:nvSpPr>
          <p:cNvPr id="15" name="TextBox 14"/>
          <p:cNvSpPr txBox="1"/>
          <p:nvPr/>
        </p:nvSpPr>
        <p:spPr>
          <a:xfrm>
            <a:off x="2150668" y="1682496"/>
            <a:ext cx="949147" cy="475488"/>
          </a:xfrm>
          <a:prstGeom prst="rect">
            <a:avLst/>
          </a:prstGeom>
          <a:noFill/>
        </p:spPr>
        <p:txBody>
          <a:bodyPr wrap="square" lIns="0" rIns="0" tIns="0" bIns="0" anchor="ctr">
            <a:spAutoFit/>
          </a:bodyPr>
          <a:lstStyle/>
          <a:p>
            <a:pPr algn="l">
              <a:lnSpc>
                <a:spcPct val="98000"/>
              </a:lnSpc>
            </a:pPr>
            <a:r>
              <a:rPr sz="780" b="0" i="0">
                <a:solidFill>
                  <a:srgbClr val="4A4A4A"/>
                </a:solidFill>
                <a:latin typeface="Calibri"/>
              </a:rPr>
              <a:t>Target 90+</a:t>
            </a:r>
          </a:p>
        </p:txBody>
      </p:sp>
      <p:sp>
        <p:nvSpPr>
          <p:cNvPr id="16" name="Rectangle 15"/>
          <p:cNvSpPr/>
          <p:nvPr/>
        </p:nvSpPr>
        <p:spPr>
          <a:xfrm>
            <a:off x="365760" y="2157984"/>
            <a:ext cx="2788920" cy="475488"/>
          </a:xfrm>
          <a:prstGeom prst="rect">
            <a:avLst/>
          </a:prstGeom>
          <a:solidFill>
            <a:srgbClr val="F7F7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38912" y="2157984"/>
            <a:ext cx="1191463" cy="475488"/>
          </a:xfrm>
          <a:prstGeom prst="rect">
            <a:avLst/>
          </a:prstGeom>
          <a:noFill/>
        </p:spPr>
        <p:txBody>
          <a:bodyPr wrap="square" lIns="0" rIns="0" tIns="0" bIns="0" anchor="ctr">
            <a:spAutoFit/>
          </a:bodyPr>
          <a:lstStyle/>
          <a:p>
            <a:pPr algn="l">
              <a:lnSpc>
                <a:spcPct val="100000"/>
              </a:lnSpc>
            </a:pPr>
            <a:r>
              <a:rPr sz="830" b="1" i="0">
                <a:solidFill>
                  <a:srgbClr val="2C2C2C"/>
                </a:solidFill>
                <a:latin typeface="Calibri"/>
              </a:rPr>
              <a:t>Desktop Performance</a:t>
            </a:r>
          </a:p>
        </p:txBody>
      </p:sp>
      <p:sp>
        <p:nvSpPr>
          <p:cNvPr id="18" name="TextBox 17"/>
          <p:cNvSpPr txBox="1"/>
          <p:nvPr/>
        </p:nvSpPr>
        <p:spPr>
          <a:xfrm>
            <a:off x="1648663" y="2157984"/>
            <a:ext cx="502005" cy="475488"/>
          </a:xfrm>
          <a:prstGeom prst="rect">
            <a:avLst/>
          </a:prstGeom>
          <a:noFill/>
        </p:spPr>
        <p:txBody>
          <a:bodyPr wrap="square" lIns="0" rIns="0" tIns="0" bIns="0" anchor="ctr">
            <a:spAutoFit/>
          </a:bodyPr>
          <a:lstStyle/>
          <a:p>
            <a:pPr algn="ctr"/>
            <a:r>
              <a:rPr sz="860" b="1" i="0">
                <a:solidFill>
                  <a:srgbClr val="2E6B4A"/>
                </a:solidFill>
                <a:latin typeface="Calibri"/>
              </a:rPr>
              <a:t>98</a:t>
            </a:r>
          </a:p>
        </p:txBody>
      </p:sp>
      <p:sp>
        <p:nvSpPr>
          <p:cNvPr id="19" name="TextBox 18"/>
          <p:cNvSpPr txBox="1"/>
          <p:nvPr/>
        </p:nvSpPr>
        <p:spPr>
          <a:xfrm>
            <a:off x="2150668" y="2157984"/>
            <a:ext cx="949147" cy="475488"/>
          </a:xfrm>
          <a:prstGeom prst="rect">
            <a:avLst/>
          </a:prstGeom>
          <a:noFill/>
        </p:spPr>
        <p:txBody>
          <a:bodyPr wrap="square" lIns="0" rIns="0" tIns="0" bIns="0" anchor="ctr">
            <a:spAutoFit/>
          </a:bodyPr>
          <a:lstStyle/>
          <a:p>
            <a:pPr algn="l">
              <a:lnSpc>
                <a:spcPct val="98000"/>
              </a:lnSpc>
            </a:pPr>
            <a:r>
              <a:rPr sz="780" b="0" i="0">
                <a:solidFill>
                  <a:srgbClr val="4A4A4A"/>
                </a:solidFill>
                <a:latin typeface="Calibri"/>
              </a:rPr>
              <a:t>Maintain</a:t>
            </a:r>
          </a:p>
        </p:txBody>
      </p:sp>
      <p:sp>
        <p:nvSpPr>
          <p:cNvPr id="20" name="Rectangle 19"/>
          <p:cNvSpPr/>
          <p:nvPr/>
        </p:nvSpPr>
        <p:spPr>
          <a:xfrm>
            <a:off x="365760" y="2633472"/>
            <a:ext cx="2788920" cy="47548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38912" y="2633472"/>
            <a:ext cx="1191463" cy="475488"/>
          </a:xfrm>
          <a:prstGeom prst="rect">
            <a:avLst/>
          </a:prstGeom>
          <a:noFill/>
        </p:spPr>
        <p:txBody>
          <a:bodyPr wrap="square" lIns="0" rIns="0" tIns="0" bIns="0" anchor="ctr">
            <a:spAutoFit/>
          </a:bodyPr>
          <a:lstStyle/>
          <a:p>
            <a:pPr algn="l">
              <a:lnSpc>
                <a:spcPct val="100000"/>
              </a:lnSpc>
            </a:pPr>
            <a:r>
              <a:rPr sz="830" b="1" i="0">
                <a:solidFill>
                  <a:srgbClr val="2C2C2C"/>
                </a:solidFill>
                <a:latin typeface="Calibri"/>
              </a:rPr>
              <a:t>Largest Contentful Paint</a:t>
            </a:r>
          </a:p>
        </p:txBody>
      </p:sp>
      <p:sp>
        <p:nvSpPr>
          <p:cNvPr id="22" name="TextBox 21"/>
          <p:cNvSpPr txBox="1"/>
          <p:nvPr/>
        </p:nvSpPr>
        <p:spPr>
          <a:xfrm>
            <a:off x="1648663" y="2633472"/>
            <a:ext cx="502005" cy="475488"/>
          </a:xfrm>
          <a:prstGeom prst="rect">
            <a:avLst/>
          </a:prstGeom>
          <a:noFill/>
        </p:spPr>
        <p:txBody>
          <a:bodyPr wrap="square" lIns="0" rIns="0" tIns="0" bIns="0" anchor="ctr">
            <a:spAutoFit/>
          </a:bodyPr>
          <a:lstStyle/>
          <a:p>
            <a:pPr algn="ctr"/>
            <a:r>
              <a:rPr sz="860" b="1" i="0">
                <a:solidFill>
                  <a:srgbClr val="9B3A2E"/>
                </a:solidFill>
                <a:latin typeface="Calibri"/>
              </a:rPr>
              <a:t>41.0 s</a:t>
            </a:r>
          </a:p>
        </p:txBody>
      </p:sp>
      <p:sp>
        <p:nvSpPr>
          <p:cNvPr id="23" name="TextBox 22"/>
          <p:cNvSpPr txBox="1"/>
          <p:nvPr/>
        </p:nvSpPr>
        <p:spPr>
          <a:xfrm>
            <a:off x="2150668" y="2633472"/>
            <a:ext cx="949147" cy="475488"/>
          </a:xfrm>
          <a:prstGeom prst="rect">
            <a:avLst/>
          </a:prstGeom>
          <a:noFill/>
        </p:spPr>
        <p:txBody>
          <a:bodyPr wrap="square" lIns="0" rIns="0" tIns="0" bIns="0" anchor="ctr">
            <a:spAutoFit/>
          </a:bodyPr>
          <a:lstStyle/>
          <a:p>
            <a:pPr algn="l">
              <a:lnSpc>
                <a:spcPct val="98000"/>
              </a:lnSpc>
            </a:pPr>
            <a:r>
              <a:rPr sz="780" b="0" i="0">
                <a:solidFill>
                  <a:srgbClr val="4A4A4A"/>
                </a:solidFill>
                <a:latin typeface="Calibri"/>
              </a:rPr>
              <a:t>Reduce below 2.5 s</a:t>
            </a:r>
          </a:p>
        </p:txBody>
      </p:sp>
      <p:sp>
        <p:nvSpPr>
          <p:cNvPr id="24" name="Rectangle 23"/>
          <p:cNvSpPr/>
          <p:nvPr/>
        </p:nvSpPr>
        <p:spPr>
          <a:xfrm>
            <a:off x="365760" y="3108960"/>
            <a:ext cx="2788920" cy="475488"/>
          </a:xfrm>
          <a:prstGeom prst="rect">
            <a:avLst/>
          </a:prstGeom>
          <a:solidFill>
            <a:srgbClr val="F7F7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38912" y="3108960"/>
            <a:ext cx="1191463" cy="475488"/>
          </a:xfrm>
          <a:prstGeom prst="rect">
            <a:avLst/>
          </a:prstGeom>
          <a:noFill/>
        </p:spPr>
        <p:txBody>
          <a:bodyPr wrap="square" lIns="0" rIns="0" tIns="0" bIns="0" anchor="ctr">
            <a:spAutoFit/>
          </a:bodyPr>
          <a:lstStyle/>
          <a:p>
            <a:pPr algn="l">
              <a:lnSpc>
                <a:spcPct val="100000"/>
              </a:lnSpc>
            </a:pPr>
            <a:r>
              <a:rPr sz="830" b="1" i="0">
                <a:solidFill>
                  <a:srgbClr val="2C2C2C"/>
                </a:solidFill>
                <a:latin typeface="Calibri"/>
              </a:rPr>
              <a:t>Network Payload</a:t>
            </a:r>
          </a:p>
        </p:txBody>
      </p:sp>
      <p:sp>
        <p:nvSpPr>
          <p:cNvPr id="26" name="TextBox 25"/>
          <p:cNvSpPr txBox="1"/>
          <p:nvPr/>
        </p:nvSpPr>
        <p:spPr>
          <a:xfrm>
            <a:off x="1648663" y="3108960"/>
            <a:ext cx="502005" cy="475488"/>
          </a:xfrm>
          <a:prstGeom prst="rect">
            <a:avLst/>
          </a:prstGeom>
          <a:noFill/>
        </p:spPr>
        <p:txBody>
          <a:bodyPr wrap="square" lIns="0" rIns="0" tIns="0" bIns="0" anchor="ctr">
            <a:spAutoFit/>
          </a:bodyPr>
          <a:lstStyle/>
          <a:p>
            <a:pPr algn="ctr"/>
            <a:r>
              <a:rPr sz="860" b="1" i="0">
                <a:solidFill>
                  <a:srgbClr val="9B3A2E"/>
                </a:solidFill>
                <a:latin typeface="Calibri"/>
              </a:rPr>
              <a:t>21 MB</a:t>
            </a:r>
          </a:p>
        </p:txBody>
      </p:sp>
      <p:sp>
        <p:nvSpPr>
          <p:cNvPr id="27" name="TextBox 26"/>
          <p:cNvSpPr txBox="1"/>
          <p:nvPr/>
        </p:nvSpPr>
        <p:spPr>
          <a:xfrm>
            <a:off x="2150668" y="3108960"/>
            <a:ext cx="949147" cy="475488"/>
          </a:xfrm>
          <a:prstGeom prst="rect">
            <a:avLst/>
          </a:prstGeom>
          <a:noFill/>
        </p:spPr>
        <p:txBody>
          <a:bodyPr wrap="square" lIns="0" rIns="0" tIns="0" bIns="0" anchor="ctr">
            <a:spAutoFit/>
          </a:bodyPr>
          <a:lstStyle/>
          <a:p>
            <a:pPr algn="l">
              <a:lnSpc>
                <a:spcPct val="98000"/>
              </a:lnSpc>
            </a:pPr>
            <a:r>
              <a:rPr sz="780" b="0" i="0">
                <a:solidFill>
                  <a:srgbClr val="4A4A4A"/>
                </a:solidFill>
                <a:latin typeface="Calibri"/>
              </a:rPr>
              <a:t>Reduce with optimized media</a:t>
            </a:r>
          </a:p>
        </p:txBody>
      </p:sp>
      <p:sp>
        <p:nvSpPr>
          <p:cNvPr id="28" name="Rectangle 27"/>
          <p:cNvSpPr/>
          <p:nvPr/>
        </p:nvSpPr>
        <p:spPr>
          <a:xfrm>
            <a:off x="365760" y="1444752"/>
            <a:ext cx="2788920" cy="2139696"/>
          </a:xfrm>
          <a:prstGeom prst="rect">
            <a:avLst/>
          </a:prstGeom>
          <a:noFill/>
          <a:ln w="12700">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65760" y="3675887"/>
            <a:ext cx="2788920" cy="457200"/>
          </a:xfrm>
          <a:prstGeom prst="rect">
            <a:avLst/>
          </a:prstGeom>
          <a:noFill/>
        </p:spPr>
        <p:txBody>
          <a:bodyPr wrap="square" lIns="0" rIns="0" tIns="0" bIns="0" anchor="t">
            <a:spAutoFit/>
          </a:bodyPr>
          <a:lstStyle/>
          <a:p>
            <a:pPr algn="l">
              <a:lnSpc>
                <a:spcPct val="105000"/>
              </a:lnSpc>
            </a:pPr>
            <a:r>
              <a:rPr sz="760" b="0" i="1">
                <a:solidFill>
                  <a:srgbClr val="BBBBBB"/>
                </a:solidFill>
                <a:latin typeface="Calibri"/>
              </a:rPr>
              <a:t>Values from Google PageSpeed Insights, mobile report.</a:t>
            </a:r>
          </a:p>
        </p:txBody>
      </p:sp>
      <p:sp>
        <p:nvSpPr>
          <p:cNvPr id="30" name="Rounded Rectangle 29"/>
          <p:cNvSpPr/>
          <p:nvPr/>
        </p:nvSpPr>
        <p:spPr>
          <a:xfrm>
            <a:off x="3428999" y="1444752"/>
            <a:ext cx="2610612" cy="1065275"/>
          </a:xfrm>
          <a:prstGeom prst="roundRect">
            <a:avLst>
              <a:gd name="adj" fmla="val 6000"/>
            </a:avLst>
          </a:prstGeom>
          <a:solidFill>
            <a:srgbClr val="F2F2F2"/>
          </a:solidFill>
          <a:ln w="12700">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3557015" y="1536192"/>
            <a:ext cx="2354580" cy="182880"/>
          </a:xfrm>
          <a:prstGeom prst="rect">
            <a:avLst/>
          </a:prstGeom>
          <a:noFill/>
        </p:spPr>
        <p:txBody>
          <a:bodyPr wrap="square" lIns="0" rIns="0" tIns="0" bIns="0" anchor="t">
            <a:spAutoFit/>
          </a:bodyPr>
          <a:lstStyle/>
          <a:p>
            <a:pPr algn="l"/>
            <a:r>
              <a:rPr sz="1000" b="1" i="0">
                <a:solidFill>
                  <a:srgbClr val="2C2C2C"/>
                </a:solidFill>
                <a:latin typeface="Cambria"/>
              </a:rPr>
              <a:t>Media Optimization</a:t>
            </a:r>
          </a:p>
        </p:txBody>
      </p:sp>
      <p:sp>
        <p:nvSpPr>
          <p:cNvPr id="32" name="Rectangle 31"/>
          <p:cNvSpPr/>
          <p:nvPr/>
        </p:nvSpPr>
        <p:spPr>
          <a:xfrm>
            <a:off x="3557015" y="1737360"/>
            <a:ext cx="2354580" cy="10972"/>
          </a:xfrm>
          <a:prstGeom prst="rect">
            <a:avLst/>
          </a:prstGeom>
          <a:solidFill>
            <a:srgbClr val="E0E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3557015" y="1801368"/>
            <a:ext cx="2354580" cy="635507"/>
          </a:xfrm>
          <a:prstGeom prst="rect">
            <a:avLst/>
          </a:prstGeom>
          <a:noFill/>
        </p:spPr>
        <p:txBody>
          <a:bodyPr wrap="square" lIns="0" rIns="0" tIns="0" bIns="0" anchor="t">
            <a:spAutoFit/>
          </a:bodyPr>
          <a:lstStyle/>
          <a:p>
            <a:pPr algn="l">
              <a:lnSpc>
                <a:spcPct val="98000"/>
              </a:lnSpc>
              <a:spcBef>
                <a:spcPts val="0"/>
              </a:spcBef>
            </a:pPr>
            <a:r>
              <a:rPr sz="700" b="1" i="0">
                <a:solidFill>
                  <a:srgbClr val="C9A84C"/>
                </a:solidFill>
                <a:latin typeface="Calibri"/>
              </a:rPr>
              <a:t xml:space="preserve">•  </a:t>
            </a:r>
            <a:r>
              <a:rPr sz="700" b="0" i="0">
                <a:solidFill>
                  <a:srgbClr val="4A4A4A"/>
                </a:solidFill>
                <a:latin typeface="Calibri"/>
              </a:rPr>
              <a:t>Defer hero video loading with a poster-image fallback</a:t>
            </a:r>
          </a:p>
          <a:p>
            <a:pPr algn="l">
              <a:lnSpc>
                <a:spcPct val="98000"/>
              </a:lnSpc>
              <a:spcBef>
                <a:spcPts val="160"/>
              </a:spcBef>
            </a:pPr>
            <a:r>
              <a:rPr sz="700" b="1" i="0">
                <a:solidFill>
                  <a:srgbClr val="C9A84C"/>
                </a:solidFill>
                <a:latin typeface="Calibri"/>
              </a:rPr>
              <a:t xml:space="preserve">•  </a:t>
            </a:r>
            <a:r>
              <a:rPr sz="700" b="0" i="0">
                <a:solidFill>
                  <a:srgbClr val="4A4A4A"/>
                </a:solidFill>
                <a:latin typeface="Calibri"/>
              </a:rPr>
              <a:t>Load video only after user interaction</a:t>
            </a:r>
          </a:p>
          <a:p>
            <a:pPr algn="l">
              <a:lnSpc>
                <a:spcPct val="98000"/>
              </a:lnSpc>
              <a:spcBef>
                <a:spcPts val="160"/>
              </a:spcBef>
            </a:pPr>
            <a:r>
              <a:rPr sz="700" b="1" i="0">
                <a:solidFill>
                  <a:srgbClr val="C9A84C"/>
                </a:solidFill>
                <a:latin typeface="Calibri"/>
              </a:rPr>
              <a:t xml:space="preserve">•  </a:t>
            </a:r>
            <a:r>
              <a:rPr sz="700" b="0" i="0">
                <a:solidFill>
                  <a:srgbClr val="4A4A4A"/>
                </a:solidFill>
                <a:latin typeface="Calibri"/>
              </a:rPr>
              <a:t>Convert large images to WebP/AVIF</a:t>
            </a:r>
          </a:p>
          <a:p>
            <a:pPr algn="l">
              <a:lnSpc>
                <a:spcPct val="98000"/>
              </a:lnSpc>
              <a:spcBef>
                <a:spcPts val="160"/>
              </a:spcBef>
            </a:pPr>
            <a:r>
              <a:rPr sz="700" b="1" i="0">
                <a:solidFill>
                  <a:srgbClr val="C9A84C"/>
                </a:solidFill>
                <a:latin typeface="Calibri"/>
              </a:rPr>
              <a:t xml:space="preserve">•  </a:t>
            </a:r>
            <a:r>
              <a:rPr sz="700" b="0" i="0">
                <a:solidFill>
                  <a:srgbClr val="4A4A4A"/>
                </a:solidFill>
                <a:latin typeface="Calibri"/>
              </a:rPr>
              <a:t>Lazy-load non-critical media</a:t>
            </a:r>
          </a:p>
        </p:txBody>
      </p:sp>
      <p:sp>
        <p:nvSpPr>
          <p:cNvPr id="34" name="Rounded Rectangle 33"/>
          <p:cNvSpPr/>
          <p:nvPr/>
        </p:nvSpPr>
        <p:spPr>
          <a:xfrm>
            <a:off x="6167627" y="1444752"/>
            <a:ext cx="2610612" cy="1065275"/>
          </a:xfrm>
          <a:prstGeom prst="roundRect">
            <a:avLst>
              <a:gd name="adj" fmla="val 6000"/>
            </a:avLst>
          </a:prstGeom>
          <a:solidFill>
            <a:srgbClr val="F2F2F2"/>
          </a:solidFill>
          <a:ln w="12700">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295643" y="1536192"/>
            <a:ext cx="2354580" cy="182880"/>
          </a:xfrm>
          <a:prstGeom prst="rect">
            <a:avLst/>
          </a:prstGeom>
          <a:noFill/>
        </p:spPr>
        <p:txBody>
          <a:bodyPr wrap="square" lIns="0" rIns="0" tIns="0" bIns="0" anchor="t">
            <a:spAutoFit/>
          </a:bodyPr>
          <a:lstStyle/>
          <a:p>
            <a:pPr algn="l"/>
            <a:r>
              <a:rPr sz="1000" b="1" i="0">
                <a:solidFill>
                  <a:srgbClr val="2C2C2C"/>
                </a:solidFill>
                <a:latin typeface="Cambria"/>
              </a:rPr>
              <a:t>Accessibility</a:t>
            </a:r>
          </a:p>
        </p:txBody>
      </p:sp>
      <p:sp>
        <p:nvSpPr>
          <p:cNvPr id="36" name="Rectangle 35"/>
          <p:cNvSpPr/>
          <p:nvPr/>
        </p:nvSpPr>
        <p:spPr>
          <a:xfrm>
            <a:off x="6295643" y="1737360"/>
            <a:ext cx="2354580" cy="10972"/>
          </a:xfrm>
          <a:prstGeom prst="rect">
            <a:avLst/>
          </a:prstGeom>
          <a:solidFill>
            <a:srgbClr val="E0E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295643" y="1801368"/>
            <a:ext cx="2354580" cy="635507"/>
          </a:xfrm>
          <a:prstGeom prst="rect">
            <a:avLst/>
          </a:prstGeom>
          <a:noFill/>
        </p:spPr>
        <p:txBody>
          <a:bodyPr wrap="square" lIns="0" rIns="0" tIns="0" bIns="0" anchor="t">
            <a:spAutoFit/>
          </a:bodyPr>
          <a:lstStyle/>
          <a:p>
            <a:pPr algn="l">
              <a:lnSpc>
                <a:spcPct val="98000"/>
              </a:lnSpc>
              <a:spcBef>
                <a:spcPts val="0"/>
              </a:spcBef>
            </a:pPr>
            <a:r>
              <a:rPr sz="760" b="1" i="0">
                <a:solidFill>
                  <a:srgbClr val="C9A84C"/>
                </a:solidFill>
                <a:latin typeface="Calibri"/>
              </a:rPr>
              <a:t xml:space="preserve">•  </a:t>
            </a:r>
            <a:r>
              <a:rPr sz="760" b="0" i="0">
                <a:solidFill>
                  <a:srgbClr val="4A4A4A"/>
                </a:solidFill>
                <a:latin typeface="Calibri"/>
              </a:rPr>
              <a:t>Add lang="en" to the HTML document</a:t>
            </a:r>
          </a:p>
          <a:p>
            <a:pPr algn="l">
              <a:lnSpc>
                <a:spcPct val="98000"/>
              </a:lnSpc>
              <a:spcBef>
                <a:spcPts val="220"/>
              </a:spcBef>
            </a:pPr>
            <a:r>
              <a:rPr sz="760" b="1" i="0">
                <a:solidFill>
                  <a:srgbClr val="C9A84C"/>
                </a:solidFill>
                <a:latin typeface="Calibri"/>
              </a:rPr>
              <a:t xml:space="preserve">•  </a:t>
            </a:r>
            <a:r>
              <a:rPr sz="760" b="0" i="0">
                <a:solidFill>
                  <a:srgbClr val="4A4A4A"/>
                </a:solidFill>
                <a:latin typeface="Calibri"/>
              </a:rPr>
              <a:t>Add accessible labels to icon-only buttons</a:t>
            </a:r>
          </a:p>
          <a:p>
            <a:pPr algn="l">
              <a:lnSpc>
                <a:spcPct val="98000"/>
              </a:lnSpc>
              <a:spcBef>
                <a:spcPts val="220"/>
              </a:spcBef>
            </a:pPr>
            <a:r>
              <a:rPr sz="760" b="1" i="0">
                <a:solidFill>
                  <a:srgbClr val="C9A84C"/>
                </a:solidFill>
                <a:latin typeface="Calibri"/>
              </a:rPr>
              <a:t xml:space="preserve">•  </a:t>
            </a:r>
            <a:r>
              <a:rPr sz="760" b="0" i="0">
                <a:solidFill>
                  <a:srgbClr val="4A4A4A"/>
                </a:solidFill>
                <a:latin typeface="Calibri"/>
              </a:rPr>
              <a:t>Ensure proper labels for form fields</a:t>
            </a:r>
          </a:p>
        </p:txBody>
      </p:sp>
      <p:sp>
        <p:nvSpPr>
          <p:cNvPr id="38" name="Rounded Rectangle 37"/>
          <p:cNvSpPr/>
          <p:nvPr/>
        </p:nvSpPr>
        <p:spPr>
          <a:xfrm>
            <a:off x="3428999" y="2638044"/>
            <a:ext cx="2610612" cy="1065275"/>
          </a:xfrm>
          <a:prstGeom prst="roundRect">
            <a:avLst>
              <a:gd name="adj" fmla="val 6000"/>
            </a:avLst>
          </a:prstGeom>
          <a:solidFill>
            <a:srgbClr val="F2F2F2"/>
          </a:solidFill>
          <a:ln w="12700">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3557015" y="2729484"/>
            <a:ext cx="2354580" cy="182880"/>
          </a:xfrm>
          <a:prstGeom prst="rect">
            <a:avLst/>
          </a:prstGeom>
          <a:noFill/>
        </p:spPr>
        <p:txBody>
          <a:bodyPr wrap="square" lIns="0" rIns="0" tIns="0" bIns="0" anchor="t">
            <a:spAutoFit/>
          </a:bodyPr>
          <a:lstStyle/>
          <a:p>
            <a:pPr algn="l"/>
            <a:r>
              <a:rPr sz="1000" b="1" i="0">
                <a:solidFill>
                  <a:srgbClr val="2C2C2C"/>
                </a:solidFill>
                <a:latin typeface="Cambria"/>
              </a:rPr>
              <a:t>SEO</a:t>
            </a:r>
          </a:p>
        </p:txBody>
      </p:sp>
      <p:sp>
        <p:nvSpPr>
          <p:cNvPr id="40" name="Rectangle 39"/>
          <p:cNvSpPr/>
          <p:nvPr/>
        </p:nvSpPr>
        <p:spPr>
          <a:xfrm>
            <a:off x="3557015" y="2930652"/>
            <a:ext cx="2354580" cy="10972"/>
          </a:xfrm>
          <a:prstGeom prst="rect">
            <a:avLst/>
          </a:prstGeom>
          <a:solidFill>
            <a:srgbClr val="E0E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3557015" y="2994660"/>
            <a:ext cx="2354580" cy="635507"/>
          </a:xfrm>
          <a:prstGeom prst="rect">
            <a:avLst/>
          </a:prstGeom>
          <a:noFill/>
        </p:spPr>
        <p:txBody>
          <a:bodyPr wrap="square" lIns="0" rIns="0" tIns="0" bIns="0" anchor="t">
            <a:spAutoFit/>
          </a:bodyPr>
          <a:lstStyle/>
          <a:p>
            <a:pPr algn="l">
              <a:lnSpc>
                <a:spcPct val="98000"/>
              </a:lnSpc>
              <a:spcBef>
                <a:spcPts val="0"/>
              </a:spcBef>
            </a:pPr>
            <a:r>
              <a:rPr sz="760" b="1" i="0">
                <a:solidFill>
                  <a:srgbClr val="C9A84C"/>
                </a:solidFill>
                <a:latin typeface="Calibri"/>
              </a:rPr>
              <a:t xml:space="preserve">•  </a:t>
            </a:r>
            <a:r>
              <a:rPr sz="760" b="0" i="0">
                <a:solidFill>
                  <a:srgbClr val="4A4A4A"/>
                </a:solidFill>
                <a:latin typeface="Calibri"/>
              </a:rPr>
              <a:t>Unique page titles and meta descriptions</a:t>
            </a:r>
          </a:p>
          <a:p>
            <a:pPr algn="l">
              <a:lnSpc>
                <a:spcPct val="98000"/>
              </a:lnSpc>
              <a:spcBef>
                <a:spcPts val="220"/>
              </a:spcBef>
            </a:pPr>
            <a:r>
              <a:rPr sz="760" b="1" i="0">
                <a:solidFill>
                  <a:srgbClr val="C9A84C"/>
                </a:solidFill>
                <a:latin typeface="Calibri"/>
              </a:rPr>
              <a:t xml:space="preserve">•  </a:t>
            </a:r>
            <a:r>
              <a:rPr sz="760" b="0" i="0">
                <a:solidFill>
                  <a:srgbClr val="4A4A4A"/>
                </a:solidFill>
                <a:latin typeface="Calibri"/>
              </a:rPr>
              <a:t>Replace uncrawlable JavaScript links</a:t>
            </a:r>
          </a:p>
          <a:p>
            <a:pPr algn="l">
              <a:lnSpc>
                <a:spcPct val="98000"/>
              </a:lnSpc>
              <a:spcBef>
                <a:spcPts val="220"/>
              </a:spcBef>
            </a:pPr>
            <a:r>
              <a:rPr sz="760" b="1" i="0">
                <a:solidFill>
                  <a:srgbClr val="C9A84C"/>
                </a:solidFill>
                <a:latin typeface="Calibri"/>
              </a:rPr>
              <a:t xml:space="preserve">•  </a:t>
            </a:r>
            <a:r>
              <a:rPr sz="760" b="0" i="0">
                <a:solidFill>
                  <a:srgbClr val="4A4A4A"/>
                </a:solidFill>
                <a:latin typeface="Calibri"/>
              </a:rPr>
              <a:t>Improve Open Graph and social preview images</a:t>
            </a:r>
          </a:p>
        </p:txBody>
      </p:sp>
      <p:sp>
        <p:nvSpPr>
          <p:cNvPr id="42" name="Rounded Rectangle 41"/>
          <p:cNvSpPr/>
          <p:nvPr/>
        </p:nvSpPr>
        <p:spPr>
          <a:xfrm>
            <a:off x="6167627" y="2638044"/>
            <a:ext cx="2610612" cy="1065275"/>
          </a:xfrm>
          <a:prstGeom prst="roundRect">
            <a:avLst>
              <a:gd name="adj" fmla="val 6000"/>
            </a:avLst>
          </a:prstGeom>
          <a:solidFill>
            <a:srgbClr val="F2F2F2"/>
          </a:solidFill>
          <a:ln w="12700">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295643" y="2729484"/>
            <a:ext cx="2354580" cy="182880"/>
          </a:xfrm>
          <a:prstGeom prst="rect">
            <a:avLst/>
          </a:prstGeom>
          <a:noFill/>
        </p:spPr>
        <p:txBody>
          <a:bodyPr wrap="square" lIns="0" rIns="0" tIns="0" bIns="0" anchor="t">
            <a:spAutoFit/>
          </a:bodyPr>
          <a:lstStyle/>
          <a:p>
            <a:pPr algn="l"/>
            <a:r>
              <a:rPr sz="1000" b="1" i="0">
                <a:solidFill>
                  <a:srgbClr val="2C2C2C"/>
                </a:solidFill>
                <a:latin typeface="Cambria"/>
              </a:rPr>
              <a:t>Frontend Performance</a:t>
            </a:r>
          </a:p>
        </p:txBody>
      </p:sp>
      <p:sp>
        <p:nvSpPr>
          <p:cNvPr id="44" name="Rectangle 43"/>
          <p:cNvSpPr/>
          <p:nvPr/>
        </p:nvSpPr>
        <p:spPr>
          <a:xfrm>
            <a:off x="6295643" y="2930652"/>
            <a:ext cx="2354580" cy="10972"/>
          </a:xfrm>
          <a:prstGeom prst="rect">
            <a:avLst/>
          </a:prstGeom>
          <a:solidFill>
            <a:srgbClr val="E0E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295643" y="2994660"/>
            <a:ext cx="2354580" cy="635507"/>
          </a:xfrm>
          <a:prstGeom prst="rect">
            <a:avLst/>
          </a:prstGeom>
          <a:noFill/>
        </p:spPr>
        <p:txBody>
          <a:bodyPr wrap="square" lIns="0" rIns="0" tIns="0" bIns="0" anchor="t">
            <a:spAutoFit/>
          </a:bodyPr>
          <a:lstStyle/>
          <a:p>
            <a:pPr algn="l">
              <a:lnSpc>
                <a:spcPct val="98000"/>
              </a:lnSpc>
              <a:spcBef>
                <a:spcPts val="0"/>
              </a:spcBef>
            </a:pPr>
            <a:r>
              <a:rPr sz="700" b="1" i="0">
                <a:solidFill>
                  <a:srgbClr val="C9A84C"/>
                </a:solidFill>
                <a:latin typeface="Calibri"/>
              </a:rPr>
              <a:t xml:space="preserve">•  </a:t>
            </a:r>
            <a:r>
              <a:rPr sz="700" b="0" i="0">
                <a:solidFill>
                  <a:srgbClr val="4A4A4A"/>
                </a:solidFill>
                <a:latin typeface="Calibri"/>
              </a:rPr>
              <a:t>Defer non-critical CSS</a:t>
            </a:r>
          </a:p>
          <a:p>
            <a:pPr algn="l">
              <a:lnSpc>
                <a:spcPct val="98000"/>
              </a:lnSpc>
              <a:spcBef>
                <a:spcPts val="160"/>
              </a:spcBef>
            </a:pPr>
            <a:r>
              <a:rPr sz="700" b="1" i="0">
                <a:solidFill>
                  <a:srgbClr val="C9A84C"/>
                </a:solidFill>
                <a:latin typeface="Calibri"/>
              </a:rPr>
              <a:t xml:space="preserve">•  </a:t>
            </a:r>
            <a:r>
              <a:rPr sz="700" b="0" i="0">
                <a:solidFill>
                  <a:srgbClr val="4A4A4A"/>
                </a:solidFill>
                <a:latin typeface="Calibri"/>
              </a:rPr>
              <a:t>Reduce render-blocking resources</a:t>
            </a:r>
          </a:p>
          <a:p>
            <a:pPr algn="l">
              <a:lnSpc>
                <a:spcPct val="98000"/>
              </a:lnSpc>
              <a:spcBef>
                <a:spcPts val="160"/>
              </a:spcBef>
            </a:pPr>
            <a:r>
              <a:rPr sz="700" b="1" i="0">
                <a:solidFill>
                  <a:srgbClr val="C9A84C"/>
                </a:solidFill>
                <a:latin typeface="Calibri"/>
              </a:rPr>
              <a:t xml:space="preserve">•  </a:t>
            </a:r>
            <a:r>
              <a:rPr sz="700" b="0" i="0">
                <a:solidFill>
                  <a:srgbClr val="4A4A4A"/>
                </a:solidFill>
                <a:latin typeface="Calibri"/>
              </a:rPr>
              <a:t>Audit third-party scripts</a:t>
            </a:r>
          </a:p>
          <a:p>
            <a:pPr algn="l">
              <a:lnSpc>
                <a:spcPct val="98000"/>
              </a:lnSpc>
              <a:spcBef>
                <a:spcPts val="160"/>
              </a:spcBef>
            </a:pPr>
            <a:r>
              <a:rPr sz="700" b="1" i="0">
                <a:solidFill>
                  <a:srgbClr val="C9A84C"/>
                </a:solidFill>
                <a:latin typeface="Calibri"/>
              </a:rPr>
              <a:t xml:space="preserve">•  </a:t>
            </a:r>
            <a:r>
              <a:rPr sz="700" b="0" i="0">
                <a:solidFill>
                  <a:srgbClr val="4A4A4A"/>
                </a:solidFill>
                <a:latin typeface="Calibri"/>
              </a:rPr>
              <a:t>Optimize the DOM structure</a:t>
            </a:r>
          </a:p>
        </p:txBody>
      </p:sp>
      <p:sp>
        <p:nvSpPr>
          <p:cNvPr id="46" name="Rounded Rectangle 45"/>
          <p:cNvSpPr/>
          <p:nvPr/>
        </p:nvSpPr>
        <p:spPr>
          <a:xfrm>
            <a:off x="365760" y="3977639"/>
            <a:ext cx="8412480" cy="457200"/>
          </a:xfrm>
          <a:prstGeom prst="roundRect">
            <a:avLst>
              <a:gd name="adj" fmla="val 14000"/>
            </a:avLst>
          </a:prstGeom>
          <a:solidFill>
            <a:srgbClr val="ECECEC"/>
          </a:solidFill>
          <a:ln w="12700">
            <a:solidFill>
              <a:srgbClr val="D2D2D2"/>
            </a:solidFill>
          </a:ln>
          <a:effectLst/>
        </p:spPr>
        <p:style>
          <a:lnRef idx="1">
            <a:schemeClr val="accent1"/>
          </a:lnRef>
          <a:fillRef idx="3">
            <a:schemeClr val="accent1"/>
          </a:fillRef>
          <a:effectRef idx="2">
            <a:schemeClr val="accent1"/>
          </a:effectRef>
          <a:fontRef idx="minor">
            <a:schemeClr val="lt1"/>
          </a:fontRef>
        </p:style>
        <p:txBody>
          <a:bodyPr rtlCol="0" anchor="ctr" lIns="201168" rIns="201168" tIns="54864" bIns="54864" wrap="square"/>
          <a:lstStyle/>
          <a:p>
            <a:pPr algn="l"/>
            <a:r>
              <a:rPr sz="1050" b="0" i="1">
                <a:solidFill>
                  <a:srgbClr val="333333"/>
                </a:solidFill>
                <a:latin typeface="Cambria"/>
              </a:rPr>
              <a:t>These recommendations require access to the production repository and were therefore documented rather than implemented.</a:t>
            </a:r>
          </a:p>
        </p:txBody>
      </p:sp>
      <p:sp>
        <p:nvSpPr>
          <p:cNvPr id="47" name="Rectangle 46"/>
          <p:cNvSpPr/>
          <p:nvPr/>
        </p:nvSpPr>
        <p:spPr>
          <a:xfrm>
            <a:off x="0" y="4754880"/>
            <a:ext cx="9144000" cy="388620"/>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411480" y="4754880"/>
            <a:ext cx="8321040" cy="388620"/>
          </a:xfrm>
          <a:prstGeom prst="rect">
            <a:avLst/>
          </a:prstGeom>
          <a:noFill/>
        </p:spPr>
        <p:txBody>
          <a:bodyPr wrap="square" lIns="0" rIns="0" tIns="0" bIns="0" anchor="ctr">
            <a:spAutoFit/>
          </a:bodyPr>
          <a:lstStyle/>
          <a:p>
            <a:pPr algn="l"/>
            <a:r>
              <a:rPr sz="930" b="1" i="0">
                <a:solidFill>
                  <a:srgbClr val="C9A84C"/>
                </a:solidFill>
                <a:latin typeface="Calibri"/>
              </a:rPr>
              <a:t xml:space="preserve">Documented, not implemented.  </a:t>
            </a:r>
            <a:r>
              <a:rPr sz="930" b="0" i="0">
                <a:solidFill>
                  <a:srgbClr val="BBBBBB"/>
                </a:solidFill>
                <a:latin typeface="Calibri"/>
              </a:rPr>
              <a:t>Grounded in the PageSpeed audit and accessibility findings — ready for engineering handoff.</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8503920" y="201168"/>
            <a:ext cx="457200" cy="228600"/>
          </a:xfrm>
          <a:prstGeom prst="rect">
            <a:avLst/>
          </a:prstGeom>
          <a:noFill/>
        </p:spPr>
        <p:txBody>
          <a:bodyPr wrap="square" lIns="0" rIns="0" tIns="0" bIns="0" anchor="ctr">
            <a:spAutoFit/>
          </a:bodyPr>
          <a:lstStyle/>
          <a:p>
            <a:pPr algn="r"/>
            <a:r>
              <a:rPr sz="800" b="1" i="0" spc="200">
                <a:solidFill>
                  <a:srgbClr val="C9A84C"/>
                </a:solidFill>
                <a:latin typeface="Calibri"/>
              </a:rPr>
              <a:t>08</a:t>
            </a:r>
          </a:p>
        </p:txBody>
      </p:sp>
      <p:sp>
        <p:nvSpPr>
          <p:cNvPr id="3" name="TextBox 2"/>
          <p:cNvSpPr txBox="1"/>
          <p:nvPr/>
        </p:nvSpPr>
        <p:spPr>
          <a:xfrm>
            <a:off x="365760" y="164592"/>
            <a:ext cx="6400800" cy="402336"/>
          </a:xfrm>
          <a:prstGeom prst="rect">
            <a:avLst/>
          </a:prstGeom>
          <a:noFill/>
        </p:spPr>
        <p:txBody>
          <a:bodyPr wrap="square" lIns="0" rIns="0" tIns="0" bIns="0" anchor="ctr">
            <a:spAutoFit/>
          </a:bodyPr>
          <a:lstStyle/>
          <a:p>
            <a:pPr algn="l"/>
            <a:r>
              <a:rPr sz="2400" b="1" i="0">
                <a:solidFill>
                  <a:srgbClr val="111111"/>
                </a:solidFill>
                <a:latin typeface="Cambria"/>
              </a:rPr>
              <a:t>Roadmap &amp; Next Steps</a:t>
            </a:r>
          </a:p>
        </p:txBody>
      </p:sp>
      <p:sp>
        <p:nvSpPr>
          <p:cNvPr id="4" name="Rectangle 3"/>
          <p:cNvSpPr/>
          <p:nvPr/>
        </p:nvSpPr>
        <p:spPr>
          <a:xfrm>
            <a:off x="365760" y="621792"/>
            <a:ext cx="1371600" cy="27432"/>
          </a:xfrm>
          <a:prstGeom prst="rect">
            <a:avLst/>
          </a:prstGeom>
          <a:solidFill>
            <a:srgbClr val="C9A8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713232"/>
            <a:ext cx="8229600" cy="237744"/>
          </a:xfrm>
          <a:prstGeom prst="rect">
            <a:avLst/>
          </a:prstGeom>
          <a:noFill/>
        </p:spPr>
        <p:txBody>
          <a:bodyPr wrap="square" lIns="0" rIns="0" tIns="0" bIns="0" anchor="t">
            <a:spAutoFit/>
          </a:bodyPr>
          <a:lstStyle/>
          <a:p>
            <a:pPr algn="l"/>
            <a:r>
              <a:rPr sz="1050" b="0" i="1">
                <a:solidFill>
                  <a:srgbClr val="6B6B6B"/>
                </a:solidFill>
                <a:latin typeface="Calibri"/>
              </a:rPr>
              <a:t>Recommended implementation roadmap based on the audit findings.</a:t>
            </a:r>
          </a:p>
        </p:txBody>
      </p:sp>
      <p:sp>
        <p:nvSpPr>
          <p:cNvPr id="6" name="Rounded Rectangle 5"/>
          <p:cNvSpPr/>
          <p:nvPr/>
        </p:nvSpPr>
        <p:spPr>
          <a:xfrm>
            <a:off x="365760" y="1078992"/>
            <a:ext cx="2694432" cy="2167128"/>
          </a:xfrm>
          <a:prstGeom prst="roundRect">
            <a:avLst>
              <a:gd name="adj" fmla="val 6000"/>
            </a:avLst>
          </a:prstGeom>
          <a:solidFill>
            <a:srgbClr val="F2F2F2"/>
          </a:solidFill>
          <a:ln w="12700">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12064" y="1188719"/>
            <a:ext cx="713232" cy="173736"/>
          </a:xfrm>
          <a:prstGeom prst="roundRect">
            <a:avLst>
              <a:gd name="adj" fmla="val 50000"/>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680" b="1" i="0" spc="40">
                <a:solidFill>
                  <a:srgbClr val="C9A84C"/>
                </a:solidFill>
                <a:latin typeface="Calibri"/>
              </a:rPr>
              <a:t>PHASE 1</a:t>
            </a:r>
          </a:p>
        </p:txBody>
      </p:sp>
      <p:sp>
        <p:nvSpPr>
          <p:cNvPr id="8" name="TextBox 7"/>
          <p:cNvSpPr txBox="1"/>
          <p:nvPr/>
        </p:nvSpPr>
        <p:spPr>
          <a:xfrm>
            <a:off x="512064" y="1426463"/>
            <a:ext cx="2401824" cy="219456"/>
          </a:xfrm>
          <a:prstGeom prst="rect">
            <a:avLst/>
          </a:prstGeom>
          <a:noFill/>
        </p:spPr>
        <p:txBody>
          <a:bodyPr wrap="square" lIns="0" rIns="0" tIns="0" bIns="0" anchor="t">
            <a:spAutoFit/>
          </a:bodyPr>
          <a:lstStyle/>
          <a:p>
            <a:pPr algn="l">
              <a:lnSpc>
                <a:spcPct val="100000"/>
              </a:lnSpc>
            </a:pPr>
            <a:r>
              <a:rPr sz="1150" b="1" i="0">
                <a:solidFill>
                  <a:srgbClr val="2C2C2C"/>
                </a:solidFill>
                <a:latin typeface="Cambria"/>
              </a:rPr>
              <a:t>Immediate Priorities</a:t>
            </a:r>
          </a:p>
        </p:txBody>
      </p:sp>
      <p:sp>
        <p:nvSpPr>
          <p:cNvPr id="9" name="TextBox 8"/>
          <p:cNvSpPr txBox="1"/>
          <p:nvPr/>
        </p:nvSpPr>
        <p:spPr>
          <a:xfrm>
            <a:off x="512064" y="1645919"/>
            <a:ext cx="2401824" cy="146304"/>
          </a:xfrm>
          <a:prstGeom prst="rect">
            <a:avLst/>
          </a:prstGeom>
          <a:noFill/>
        </p:spPr>
        <p:txBody>
          <a:bodyPr wrap="square" lIns="0" rIns="0" tIns="0" bIns="0" anchor="t">
            <a:spAutoFit/>
          </a:bodyPr>
          <a:lstStyle/>
          <a:p>
            <a:pPr algn="l"/>
            <a:r>
              <a:rPr sz="680" b="1" i="0" spc="40">
                <a:solidFill>
                  <a:srgbClr val="2E6B4A"/>
                </a:solidFill>
                <a:latin typeface="Calibri"/>
              </a:rPr>
              <a:t>HIGHEST BUSINESS IMPACT</a:t>
            </a:r>
          </a:p>
        </p:txBody>
      </p:sp>
      <p:sp>
        <p:nvSpPr>
          <p:cNvPr id="10" name="Rectangle 9"/>
          <p:cNvSpPr/>
          <p:nvPr/>
        </p:nvSpPr>
        <p:spPr>
          <a:xfrm>
            <a:off x="512064" y="1828799"/>
            <a:ext cx="2401824" cy="10972"/>
          </a:xfrm>
          <a:prstGeom prst="rect">
            <a:avLst/>
          </a:prstGeom>
          <a:solidFill>
            <a:srgbClr val="E0E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12064" y="1901951"/>
            <a:ext cx="2401824" cy="1271016"/>
          </a:xfrm>
          <a:prstGeom prst="rect">
            <a:avLst/>
          </a:prstGeom>
          <a:noFill/>
        </p:spPr>
        <p:txBody>
          <a:bodyPr wrap="square" lIns="0" rIns="0" tIns="0" bIns="0" anchor="t">
            <a:spAutoFit/>
          </a:bodyPr>
          <a:lstStyle/>
          <a:p>
            <a:pPr algn="l">
              <a:lnSpc>
                <a:spcPct val="98000"/>
              </a:lnSpc>
              <a:spcBef>
                <a:spcPts val="0"/>
              </a:spcBef>
            </a:pPr>
            <a:r>
              <a:rPr sz="830" b="1" i="0">
                <a:solidFill>
                  <a:srgbClr val="C9A84C"/>
                </a:solidFill>
                <a:latin typeface="Calibri"/>
              </a:rPr>
              <a:t xml:space="preserve">–  </a:t>
            </a:r>
            <a:r>
              <a:rPr sz="830" b="0" i="0">
                <a:solidFill>
                  <a:srgbClr val="4A4A4A"/>
                </a:solidFill>
                <a:latin typeface="Calibri"/>
              </a:rPr>
              <a:t>Deploy redesigned Pricing page</a:t>
            </a:r>
          </a:p>
          <a:p>
            <a:pPr algn="l">
              <a:lnSpc>
                <a:spcPct val="98000"/>
              </a:lnSpc>
              <a:spcBef>
                <a:spcPts val="300"/>
              </a:spcBef>
            </a:pPr>
            <a:r>
              <a:rPr sz="830" b="1" i="0">
                <a:solidFill>
                  <a:srgbClr val="C9A84C"/>
                </a:solidFill>
                <a:latin typeface="Calibri"/>
              </a:rPr>
              <a:t xml:space="preserve">–  </a:t>
            </a:r>
            <a:r>
              <a:rPr sz="830" b="0" i="0">
                <a:solidFill>
                  <a:srgbClr val="4A4A4A"/>
                </a:solidFill>
                <a:latin typeface="Calibri"/>
              </a:rPr>
              <a:t>Deploy redesigned Articles page</a:t>
            </a:r>
          </a:p>
          <a:p>
            <a:pPr algn="l">
              <a:lnSpc>
                <a:spcPct val="98000"/>
              </a:lnSpc>
              <a:spcBef>
                <a:spcPts val="300"/>
              </a:spcBef>
            </a:pPr>
            <a:r>
              <a:rPr sz="830" b="1" i="0">
                <a:solidFill>
                  <a:srgbClr val="C9A84C"/>
                </a:solidFill>
                <a:latin typeface="Calibri"/>
              </a:rPr>
              <a:t xml:space="preserve">–  </a:t>
            </a:r>
            <a:r>
              <a:rPr sz="830" b="0" i="0">
                <a:solidFill>
                  <a:srgbClr val="4A4A4A"/>
                </a:solidFill>
                <a:latin typeface="Calibri"/>
              </a:rPr>
              <a:t>Fix duplicate metadata</a:t>
            </a:r>
          </a:p>
          <a:p>
            <a:pPr algn="l">
              <a:lnSpc>
                <a:spcPct val="98000"/>
              </a:lnSpc>
              <a:spcBef>
                <a:spcPts val="300"/>
              </a:spcBef>
            </a:pPr>
            <a:r>
              <a:rPr sz="830" b="1" i="0">
                <a:solidFill>
                  <a:srgbClr val="C9A84C"/>
                </a:solidFill>
                <a:latin typeface="Calibri"/>
              </a:rPr>
              <a:t xml:space="preserve">–  </a:t>
            </a:r>
            <a:r>
              <a:rPr sz="830" b="0" i="0">
                <a:solidFill>
                  <a:srgbClr val="4A4A4A"/>
                </a:solidFill>
                <a:latin typeface="Calibri"/>
              </a:rPr>
              <a:t>Resolve pricing page copy issues</a:t>
            </a:r>
          </a:p>
        </p:txBody>
      </p:sp>
      <p:sp>
        <p:nvSpPr>
          <p:cNvPr id="12" name="Rounded Rectangle 11"/>
          <p:cNvSpPr/>
          <p:nvPr/>
        </p:nvSpPr>
        <p:spPr>
          <a:xfrm>
            <a:off x="3224784" y="1078992"/>
            <a:ext cx="2694432" cy="2167128"/>
          </a:xfrm>
          <a:prstGeom prst="roundRect">
            <a:avLst>
              <a:gd name="adj" fmla="val 6000"/>
            </a:avLst>
          </a:prstGeom>
          <a:solidFill>
            <a:srgbClr val="F2F2F2"/>
          </a:solidFill>
          <a:ln w="12700">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3371088" y="1188719"/>
            <a:ext cx="713232" cy="173736"/>
          </a:xfrm>
          <a:prstGeom prst="roundRect">
            <a:avLst>
              <a:gd name="adj" fmla="val 50000"/>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680" b="1" i="0" spc="40">
                <a:solidFill>
                  <a:srgbClr val="C9A84C"/>
                </a:solidFill>
                <a:latin typeface="Calibri"/>
              </a:rPr>
              <a:t>PHASE 2</a:t>
            </a:r>
          </a:p>
        </p:txBody>
      </p:sp>
      <p:sp>
        <p:nvSpPr>
          <p:cNvPr id="14" name="TextBox 13"/>
          <p:cNvSpPr txBox="1"/>
          <p:nvPr/>
        </p:nvSpPr>
        <p:spPr>
          <a:xfrm>
            <a:off x="3371088" y="1426463"/>
            <a:ext cx="2401824" cy="219456"/>
          </a:xfrm>
          <a:prstGeom prst="rect">
            <a:avLst/>
          </a:prstGeom>
          <a:noFill/>
        </p:spPr>
        <p:txBody>
          <a:bodyPr wrap="square" lIns="0" rIns="0" tIns="0" bIns="0" anchor="t">
            <a:spAutoFit/>
          </a:bodyPr>
          <a:lstStyle/>
          <a:p>
            <a:pPr algn="l">
              <a:lnSpc>
                <a:spcPct val="100000"/>
              </a:lnSpc>
            </a:pPr>
            <a:r>
              <a:rPr sz="1150" b="1" i="0">
                <a:solidFill>
                  <a:srgbClr val="2C2C2C"/>
                </a:solidFill>
                <a:latin typeface="Cambria"/>
              </a:rPr>
              <a:t>Technical Improvements</a:t>
            </a:r>
          </a:p>
        </p:txBody>
      </p:sp>
      <p:sp>
        <p:nvSpPr>
          <p:cNvPr id="15" name="TextBox 14"/>
          <p:cNvSpPr txBox="1"/>
          <p:nvPr/>
        </p:nvSpPr>
        <p:spPr>
          <a:xfrm>
            <a:off x="3371088" y="1645919"/>
            <a:ext cx="2401824" cy="146304"/>
          </a:xfrm>
          <a:prstGeom prst="rect">
            <a:avLst/>
          </a:prstGeom>
          <a:noFill/>
        </p:spPr>
        <p:txBody>
          <a:bodyPr wrap="square" lIns="0" rIns="0" tIns="0" bIns="0" anchor="t">
            <a:spAutoFit/>
          </a:bodyPr>
          <a:lstStyle/>
          <a:p>
            <a:pPr algn="l"/>
            <a:r>
              <a:rPr sz="680" b="1" i="0" spc="40">
                <a:solidFill>
                  <a:srgbClr val="6B6B6B"/>
                </a:solidFill>
                <a:latin typeface="Calibri"/>
              </a:rPr>
              <a:t>PERFORMANCE &amp; ACCESSIBILITY</a:t>
            </a:r>
          </a:p>
        </p:txBody>
      </p:sp>
      <p:sp>
        <p:nvSpPr>
          <p:cNvPr id="16" name="Rectangle 15"/>
          <p:cNvSpPr/>
          <p:nvPr/>
        </p:nvSpPr>
        <p:spPr>
          <a:xfrm>
            <a:off x="3371088" y="1828799"/>
            <a:ext cx="2401824" cy="10972"/>
          </a:xfrm>
          <a:prstGeom prst="rect">
            <a:avLst/>
          </a:prstGeom>
          <a:solidFill>
            <a:srgbClr val="E0E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371088" y="1901951"/>
            <a:ext cx="2401824" cy="1271016"/>
          </a:xfrm>
          <a:prstGeom prst="rect">
            <a:avLst/>
          </a:prstGeom>
          <a:noFill/>
        </p:spPr>
        <p:txBody>
          <a:bodyPr wrap="square" lIns="0" rIns="0" tIns="0" bIns="0" anchor="t">
            <a:spAutoFit/>
          </a:bodyPr>
          <a:lstStyle/>
          <a:p>
            <a:pPr algn="l">
              <a:lnSpc>
                <a:spcPct val="98000"/>
              </a:lnSpc>
              <a:spcBef>
                <a:spcPts val="0"/>
              </a:spcBef>
            </a:pPr>
            <a:r>
              <a:rPr sz="750" b="1" i="0">
                <a:solidFill>
                  <a:srgbClr val="C9A84C"/>
                </a:solidFill>
                <a:latin typeface="Calibri"/>
              </a:rPr>
              <a:t xml:space="preserve">–  </a:t>
            </a:r>
            <a:r>
              <a:rPr sz="750" b="0" i="0">
                <a:solidFill>
                  <a:srgbClr val="4A4A4A"/>
                </a:solidFill>
                <a:latin typeface="Calibri"/>
              </a:rPr>
              <a:t>Optimize hero videos</a:t>
            </a:r>
          </a:p>
          <a:p>
            <a:pPr algn="l">
              <a:lnSpc>
                <a:spcPct val="98000"/>
              </a:lnSpc>
              <a:spcBef>
                <a:spcPts val="220"/>
              </a:spcBef>
            </a:pPr>
            <a:r>
              <a:rPr sz="750" b="1" i="0">
                <a:solidFill>
                  <a:srgbClr val="C9A84C"/>
                </a:solidFill>
                <a:latin typeface="Calibri"/>
              </a:rPr>
              <a:t xml:space="preserve">–  </a:t>
            </a:r>
            <a:r>
              <a:rPr sz="750" b="0" i="0">
                <a:solidFill>
                  <a:srgbClr val="4A4A4A"/>
                </a:solidFill>
                <a:latin typeface="Calibri"/>
              </a:rPr>
              <a:t>Convert images to WebP/AVIF</a:t>
            </a:r>
          </a:p>
          <a:p>
            <a:pPr algn="l">
              <a:lnSpc>
                <a:spcPct val="98000"/>
              </a:lnSpc>
              <a:spcBef>
                <a:spcPts val="220"/>
              </a:spcBef>
            </a:pPr>
            <a:r>
              <a:rPr sz="750" b="1" i="0">
                <a:solidFill>
                  <a:srgbClr val="C9A84C"/>
                </a:solidFill>
                <a:latin typeface="Calibri"/>
              </a:rPr>
              <a:t xml:space="preserve">–  </a:t>
            </a:r>
            <a:r>
              <a:rPr sz="750" b="0" i="0">
                <a:solidFill>
                  <a:srgbClr val="4A4A4A"/>
                </a:solidFill>
                <a:latin typeface="Calibri"/>
              </a:rPr>
              <a:t>Implement lazy loading</a:t>
            </a:r>
          </a:p>
          <a:p>
            <a:pPr algn="l">
              <a:lnSpc>
                <a:spcPct val="98000"/>
              </a:lnSpc>
              <a:spcBef>
                <a:spcPts val="220"/>
              </a:spcBef>
            </a:pPr>
            <a:r>
              <a:rPr sz="750" b="1" i="0">
                <a:solidFill>
                  <a:srgbClr val="C9A84C"/>
                </a:solidFill>
                <a:latin typeface="Calibri"/>
              </a:rPr>
              <a:t xml:space="preserve">–  </a:t>
            </a:r>
            <a:r>
              <a:rPr sz="750" b="0" i="0">
                <a:solidFill>
                  <a:srgbClr val="4A4A4A"/>
                </a:solidFill>
                <a:latin typeface="Calibri"/>
              </a:rPr>
              <a:t>Add accessibility improvements (lang, labels)</a:t>
            </a:r>
          </a:p>
          <a:p>
            <a:pPr algn="l">
              <a:lnSpc>
                <a:spcPct val="98000"/>
              </a:lnSpc>
              <a:spcBef>
                <a:spcPts val="220"/>
              </a:spcBef>
            </a:pPr>
            <a:r>
              <a:rPr sz="750" b="1" i="0">
                <a:solidFill>
                  <a:srgbClr val="C9A84C"/>
                </a:solidFill>
                <a:latin typeface="Calibri"/>
              </a:rPr>
              <a:t xml:space="preserve">–  </a:t>
            </a:r>
            <a:r>
              <a:rPr sz="750" b="0" i="0">
                <a:solidFill>
                  <a:srgbClr val="4A4A4A"/>
                </a:solidFill>
                <a:latin typeface="Calibri"/>
              </a:rPr>
              <a:t>Remove render-blocking resources</a:t>
            </a:r>
          </a:p>
        </p:txBody>
      </p:sp>
      <p:sp>
        <p:nvSpPr>
          <p:cNvPr id="18" name="Rounded Rectangle 17"/>
          <p:cNvSpPr/>
          <p:nvPr/>
        </p:nvSpPr>
        <p:spPr>
          <a:xfrm>
            <a:off x="6083808" y="1078992"/>
            <a:ext cx="2694432" cy="2167128"/>
          </a:xfrm>
          <a:prstGeom prst="roundRect">
            <a:avLst>
              <a:gd name="adj" fmla="val 6000"/>
            </a:avLst>
          </a:prstGeom>
          <a:solidFill>
            <a:srgbClr val="F2F2F2"/>
          </a:solidFill>
          <a:ln w="12700">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6230112" y="1188719"/>
            <a:ext cx="713232" cy="173736"/>
          </a:xfrm>
          <a:prstGeom prst="roundRect">
            <a:avLst>
              <a:gd name="adj" fmla="val 50000"/>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680" b="1" i="0" spc="40">
                <a:solidFill>
                  <a:srgbClr val="C9A84C"/>
                </a:solidFill>
                <a:latin typeface="Calibri"/>
              </a:rPr>
              <a:t>PHASE 3</a:t>
            </a:r>
          </a:p>
        </p:txBody>
      </p:sp>
      <p:sp>
        <p:nvSpPr>
          <p:cNvPr id="20" name="TextBox 19"/>
          <p:cNvSpPr txBox="1"/>
          <p:nvPr/>
        </p:nvSpPr>
        <p:spPr>
          <a:xfrm>
            <a:off x="6230112" y="1426463"/>
            <a:ext cx="2401824" cy="219456"/>
          </a:xfrm>
          <a:prstGeom prst="rect">
            <a:avLst/>
          </a:prstGeom>
          <a:noFill/>
        </p:spPr>
        <p:txBody>
          <a:bodyPr wrap="square" lIns="0" rIns="0" tIns="0" bIns="0" anchor="t">
            <a:spAutoFit/>
          </a:bodyPr>
          <a:lstStyle/>
          <a:p>
            <a:pPr algn="l">
              <a:lnSpc>
                <a:spcPct val="100000"/>
              </a:lnSpc>
            </a:pPr>
            <a:r>
              <a:rPr sz="1150" b="1" i="0">
                <a:solidFill>
                  <a:srgbClr val="2C2C2C"/>
                </a:solidFill>
                <a:latin typeface="Cambria"/>
              </a:rPr>
              <a:t>SEO &amp; Product Quality</a:t>
            </a:r>
          </a:p>
        </p:txBody>
      </p:sp>
      <p:sp>
        <p:nvSpPr>
          <p:cNvPr id="21" name="TextBox 20"/>
          <p:cNvSpPr txBox="1"/>
          <p:nvPr/>
        </p:nvSpPr>
        <p:spPr>
          <a:xfrm>
            <a:off x="6230112" y="1645919"/>
            <a:ext cx="2401824" cy="146304"/>
          </a:xfrm>
          <a:prstGeom prst="rect">
            <a:avLst/>
          </a:prstGeom>
          <a:noFill/>
        </p:spPr>
        <p:txBody>
          <a:bodyPr wrap="square" lIns="0" rIns="0" tIns="0" bIns="0" anchor="t">
            <a:spAutoFit/>
          </a:bodyPr>
          <a:lstStyle/>
          <a:p>
            <a:pPr algn="l"/>
            <a:r>
              <a:rPr sz="680" b="1" i="0" spc="40">
                <a:solidFill>
                  <a:srgbClr val="6B6B6B"/>
                </a:solidFill>
                <a:latin typeface="Calibri"/>
              </a:rPr>
              <a:t>SEARCH VISIBILITY &amp; STRUCTURE</a:t>
            </a:r>
          </a:p>
        </p:txBody>
      </p:sp>
      <p:sp>
        <p:nvSpPr>
          <p:cNvPr id="22" name="Rectangle 21"/>
          <p:cNvSpPr/>
          <p:nvPr/>
        </p:nvSpPr>
        <p:spPr>
          <a:xfrm>
            <a:off x="6230112" y="1828799"/>
            <a:ext cx="2401824" cy="10972"/>
          </a:xfrm>
          <a:prstGeom prst="rect">
            <a:avLst/>
          </a:prstGeom>
          <a:solidFill>
            <a:srgbClr val="E0E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230112" y="1901951"/>
            <a:ext cx="2401824" cy="1271016"/>
          </a:xfrm>
          <a:prstGeom prst="rect">
            <a:avLst/>
          </a:prstGeom>
          <a:noFill/>
        </p:spPr>
        <p:txBody>
          <a:bodyPr wrap="square" lIns="0" rIns="0" tIns="0" bIns="0" anchor="t">
            <a:spAutoFit/>
          </a:bodyPr>
          <a:lstStyle/>
          <a:p>
            <a:pPr algn="l">
              <a:lnSpc>
                <a:spcPct val="98000"/>
              </a:lnSpc>
              <a:spcBef>
                <a:spcPts val="0"/>
              </a:spcBef>
            </a:pPr>
            <a:r>
              <a:rPr sz="750" b="1" i="0">
                <a:solidFill>
                  <a:srgbClr val="C9A84C"/>
                </a:solidFill>
                <a:latin typeface="Calibri"/>
              </a:rPr>
              <a:t xml:space="preserve">–  </a:t>
            </a:r>
            <a:r>
              <a:rPr sz="750" b="0" i="0">
                <a:solidFill>
                  <a:srgbClr val="4A4A4A"/>
                </a:solidFill>
                <a:latin typeface="Calibri"/>
              </a:rPr>
              <a:t>Unique metadata for all pages</a:t>
            </a:r>
          </a:p>
          <a:p>
            <a:pPr algn="l">
              <a:lnSpc>
                <a:spcPct val="98000"/>
              </a:lnSpc>
              <a:spcBef>
                <a:spcPts val="220"/>
              </a:spcBef>
            </a:pPr>
            <a:r>
              <a:rPr sz="750" b="1" i="0">
                <a:solidFill>
                  <a:srgbClr val="C9A84C"/>
                </a:solidFill>
                <a:latin typeface="Calibri"/>
              </a:rPr>
              <a:t xml:space="preserve">–  </a:t>
            </a:r>
            <a:r>
              <a:rPr sz="750" b="0" i="0">
                <a:solidFill>
                  <a:srgbClr val="4A4A4A"/>
                </a:solidFill>
                <a:latin typeface="Calibri"/>
              </a:rPr>
              <a:t>Add missing HTTP security headers</a:t>
            </a:r>
          </a:p>
          <a:p>
            <a:pPr algn="l">
              <a:lnSpc>
                <a:spcPct val="98000"/>
              </a:lnSpc>
              <a:spcBef>
                <a:spcPts val="220"/>
              </a:spcBef>
            </a:pPr>
            <a:r>
              <a:rPr sz="750" b="1" i="0">
                <a:solidFill>
                  <a:srgbClr val="C9A84C"/>
                </a:solidFill>
                <a:latin typeface="Calibri"/>
              </a:rPr>
              <a:t xml:space="preserve">–  </a:t>
            </a:r>
            <a:r>
              <a:rPr sz="750" b="0" i="0">
                <a:solidFill>
                  <a:srgbClr val="4A4A4A"/>
                </a:solidFill>
                <a:latin typeface="Calibri"/>
              </a:rPr>
              <a:t>Audit third-party scripts</a:t>
            </a:r>
          </a:p>
          <a:p>
            <a:pPr algn="l">
              <a:lnSpc>
                <a:spcPct val="98000"/>
              </a:lnSpc>
              <a:spcBef>
                <a:spcPts val="220"/>
              </a:spcBef>
            </a:pPr>
            <a:r>
              <a:rPr sz="750" b="1" i="0">
                <a:solidFill>
                  <a:srgbClr val="C9A84C"/>
                </a:solidFill>
                <a:latin typeface="Calibri"/>
              </a:rPr>
              <a:t xml:space="preserve">–  </a:t>
            </a:r>
            <a:r>
              <a:rPr sz="750" b="0" i="0">
                <a:solidFill>
                  <a:srgbClr val="4A4A4A"/>
                </a:solidFill>
                <a:latin typeface="Calibri"/>
              </a:rPr>
              <a:t>Open Graph images</a:t>
            </a:r>
          </a:p>
          <a:p>
            <a:pPr algn="l">
              <a:lnSpc>
                <a:spcPct val="98000"/>
              </a:lnSpc>
              <a:spcBef>
                <a:spcPts val="220"/>
              </a:spcBef>
            </a:pPr>
            <a:r>
              <a:rPr sz="750" b="1" i="0">
                <a:solidFill>
                  <a:srgbClr val="C9A84C"/>
                </a:solidFill>
                <a:latin typeface="Calibri"/>
              </a:rPr>
              <a:t xml:space="preserve">–  </a:t>
            </a:r>
            <a:r>
              <a:rPr sz="750" b="0" i="0">
                <a:solidFill>
                  <a:srgbClr val="4A4A4A"/>
                </a:solidFill>
                <a:latin typeface="Calibri"/>
              </a:rPr>
              <a:t>Fix uncrawlable links</a:t>
            </a:r>
          </a:p>
          <a:p>
            <a:pPr algn="l">
              <a:lnSpc>
                <a:spcPct val="98000"/>
              </a:lnSpc>
              <a:spcBef>
                <a:spcPts val="220"/>
              </a:spcBef>
            </a:pPr>
            <a:r>
              <a:rPr sz="750" b="1" i="0">
                <a:solidFill>
                  <a:srgbClr val="C9A84C"/>
                </a:solidFill>
                <a:latin typeface="Calibri"/>
              </a:rPr>
              <a:t xml:space="preserve">–  </a:t>
            </a:r>
            <a:r>
              <a:rPr sz="750" b="0" i="0">
                <a:solidFill>
                  <a:srgbClr val="4A4A4A"/>
                </a:solidFill>
                <a:latin typeface="Calibri"/>
              </a:rPr>
              <a:t>Clean article URLs</a:t>
            </a:r>
          </a:p>
        </p:txBody>
      </p:sp>
      <p:sp>
        <p:nvSpPr>
          <p:cNvPr id="24" name="Rounded Rectangle 23"/>
          <p:cNvSpPr/>
          <p:nvPr/>
        </p:nvSpPr>
        <p:spPr>
          <a:xfrm>
            <a:off x="365760" y="3374136"/>
            <a:ext cx="8412480" cy="566928"/>
          </a:xfrm>
          <a:prstGeom prst="roundRect">
            <a:avLst>
              <a:gd name="adj" fmla="val 10000"/>
            </a:avLst>
          </a:prstGeom>
          <a:solidFill>
            <a:srgbClr val="F5F0E3"/>
          </a:solidFill>
          <a:ln w="12700">
            <a:solidFill>
              <a:srgbClr val="E6DC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30352" y="3374136"/>
            <a:ext cx="1828800" cy="566928"/>
          </a:xfrm>
          <a:prstGeom prst="rect">
            <a:avLst/>
          </a:prstGeom>
          <a:noFill/>
        </p:spPr>
        <p:txBody>
          <a:bodyPr wrap="square" lIns="0" rIns="0" tIns="0" bIns="0" anchor="ctr">
            <a:spAutoFit/>
          </a:bodyPr>
          <a:lstStyle/>
          <a:p>
            <a:pPr algn="l">
              <a:lnSpc>
                <a:spcPct val="100000"/>
              </a:lnSpc>
            </a:pPr>
            <a:r>
              <a:rPr sz="730" b="1" i="0" spc="50">
                <a:solidFill>
                  <a:srgbClr val="5A4612"/>
                </a:solidFill>
                <a:latin typeface="Calibri"/>
              </a:rPr>
              <a:t>ALREADY</a:t>
            </a:r>
          </a:p>
          <a:p>
            <a:r>
              <a:rPr sz="730" b="1" i="0" spc="50">
                <a:solidFill>
                  <a:srgbClr val="5A4612"/>
                </a:solidFill>
                <a:latin typeface="Calibri"/>
              </a:rPr>
              <a:t>DELIVERED</a:t>
            </a:r>
          </a:p>
        </p:txBody>
      </p:sp>
      <p:sp>
        <p:nvSpPr>
          <p:cNvPr id="26" name="TextBox 25"/>
          <p:cNvSpPr txBox="1"/>
          <p:nvPr/>
        </p:nvSpPr>
        <p:spPr>
          <a:xfrm>
            <a:off x="2194560" y="3527206"/>
            <a:ext cx="2048255" cy="182880"/>
          </a:xfrm>
          <a:prstGeom prst="rect">
            <a:avLst/>
          </a:prstGeom>
          <a:noFill/>
        </p:spPr>
        <p:txBody>
          <a:bodyPr wrap="square" lIns="0" rIns="0" tIns="0" bIns="0" anchor="ctr">
            <a:spAutoFit/>
          </a:bodyPr>
          <a:lstStyle/>
          <a:p>
            <a:pPr algn="l"/>
            <a:r>
              <a:rPr sz="950" b="1" i="0">
                <a:solidFill>
                  <a:srgbClr val="2E6B4A"/>
                </a:solidFill>
                <a:latin typeface="Calibri"/>
              </a:rPr>
              <a:t xml:space="preserve">✓ </a:t>
            </a:r>
            <a:r>
              <a:rPr sz="900" b="1" i="0">
                <a:solidFill>
                  <a:srgbClr val="2C2C2C"/>
                </a:solidFill>
                <a:latin typeface="Calibri"/>
              </a:rPr>
              <a:t>Product Audit</a:t>
            </a:r>
          </a:p>
        </p:txBody>
      </p:sp>
      <p:sp>
        <p:nvSpPr>
          <p:cNvPr id="27" name="TextBox 26"/>
          <p:cNvSpPr txBox="1"/>
          <p:nvPr/>
        </p:nvSpPr>
        <p:spPr>
          <a:xfrm>
            <a:off x="4334256" y="3527206"/>
            <a:ext cx="2048255" cy="182880"/>
          </a:xfrm>
          <a:prstGeom prst="rect">
            <a:avLst/>
          </a:prstGeom>
          <a:noFill/>
        </p:spPr>
        <p:txBody>
          <a:bodyPr wrap="square" lIns="0" rIns="0" tIns="0" bIns="0" anchor="ctr">
            <a:spAutoFit/>
          </a:bodyPr>
          <a:lstStyle/>
          <a:p>
            <a:pPr algn="l"/>
            <a:r>
              <a:rPr sz="950" b="1" i="0">
                <a:solidFill>
                  <a:srgbClr val="2E6B4A"/>
                </a:solidFill>
                <a:latin typeface="Calibri"/>
              </a:rPr>
              <a:t xml:space="preserve">✓ </a:t>
            </a:r>
            <a:r>
              <a:rPr sz="900" b="1" i="0">
                <a:solidFill>
                  <a:srgbClr val="2C2C2C"/>
                </a:solidFill>
                <a:latin typeface="Calibri"/>
              </a:rPr>
              <a:t>Pricing Redesign</a:t>
            </a:r>
          </a:p>
        </p:txBody>
      </p:sp>
      <p:sp>
        <p:nvSpPr>
          <p:cNvPr id="28" name="TextBox 27"/>
          <p:cNvSpPr txBox="1"/>
          <p:nvPr/>
        </p:nvSpPr>
        <p:spPr>
          <a:xfrm>
            <a:off x="6473952" y="3527206"/>
            <a:ext cx="2048255" cy="182880"/>
          </a:xfrm>
          <a:prstGeom prst="rect">
            <a:avLst/>
          </a:prstGeom>
          <a:noFill/>
        </p:spPr>
        <p:txBody>
          <a:bodyPr wrap="square" lIns="0" rIns="0" tIns="0" bIns="0" anchor="ctr">
            <a:spAutoFit/>
          </a:bodyPr>
          <a:lstStyle/>
          <a:p>
            <a:pPr algn="l"/>
            <a:r>
              <a:rPr sz="950" b="1" i="0">
                <a:solidFill>
                  <a:srgbClr val="2E6B4A"/>
                </a:solidFill>
                <a:latin typeface="Calibri"/>
              </a:rPr>
              <a:t xml:space="preserve">✓ </a:t>
            </a:r>
            <a:r>
              <a:rPr sz="900" b="1" i="0">
                <a:solidFill>
                  <a:srgbClr val="2C2C2C"/>
                </a:solidFill>
                <a:latin typeface="Calibri"/>
              </a:rPr>
              <a:t>Articles Redesign</a:t>
            </a:r>
          </a:p>
        </p:txBody>
      </p:sp>
      <p:sp>
        <p:nvSpPr>
          <p:cNvPr id="29" name="TextBox 28"/>
          <p:cNvSpPr txBox="1"/>
          <p:nvPr/>
        </p:nvSpPr>
        <p:spPr>
          <a:xfrm>
            <a:off x="2194560" y="3742639"/>
            <a:ext cx="2048255" cy="182880"/>
          </a:xfrm>
          <a:prstGeom prst="rect">
            <a:avLst/>
          </a:prstGeom>
          <a:noFill/>
        </p:spPr>
        <p:txBody>
          <a:bodyPr wrap="square" lIns="0" rIns="0" tIns="0" bIns="0" anchor="ctr">
            <a:spAutoFit/>
          </a:bodyPr>
          <a:lstStyle/>
          <a:p>
            <a:pPr algn="l"/>
            <a:r>
              <a:rPr sz="950" b="1" i="0">
                <a:solidFill>
                  <a:srgbClr val="2E6B4A"/>
                </a:solidFill>
                <a:latin typeface="Calibri"/>
              </a:rPr>
              <a:t xml:space="preserve">✓ </a:t>
            </a:r>
            <a:r>
              <a:rPr sz="900" b="1" i="0">
                <a:solidFill>
                  <a:srgbClr val="2C2C2C"/>
                </a:solidFill>
                <a:latin typeface="Calibri"/>
              </a:rPr>
              <a:t>Performance Analysis</a:t>
            </a:r>
          </a:p>
        </p:txBody>
      </p:sp>
      <p:sp>
        <p:nvSpPr>
          <p:cNvPr id="30" name="TextBox 29"/>
          <p:cNvSpPr txBox="1"/>
          <p:nvPr/>
        </p:nvSpPr>
        <p:spPr>
          <a:xfrm>
            <a:off x="4334256" y="3742639"/>
            <a:ext cx="2048255" cy="182880"/>
          </a:xfrm>
          <a:prstGeom prst="rect">
            <a:avLst/>
          </a:prstGeom>
          <a:noFill/>
        </p:spPr>
        <p:txBody>
          <a:bodyPr wrap="square" lIns="0" rIns="0" tIns="0" bIns="0" anchor="ctr">
            <a:spAutoFit/>
          </a:bodyPr>
          <a:lstStyle/>
          <a:p>
            <a:pPr algn="l"/>
            <a:r>
              <a:rPr sz="950" b="1" i="0">
                <a:solidFill>
                  <a:srgbClr val="2E6B4A"/>
                </a:solidFill>
                <a:latin typeface="Calibri"/>
              </a:rPr>
              <a:t xml:space="preserve">✓ </a:t>
            </a:r>
            <a:r>
              <a:rPr sz="900" b="1" i="0">
                <a:solidFill>
                  <a:srgbClr val="2C2C2C"/>
                </a:solidFill>
                <a:latin typeface="Calibri"/>
              </a:rPr>
              <a:t>Technical Recommendations</a:t>
            </a:r>
          </a:p>
        </p:txBody>
      </p:sp>
      <p:sp>
        <p:nvSpPr>
          <p:cNvPr id="31" name="TextBox 30"/>
          <p:cNvSpPr txBox="1"/>
          <p:nvPr/>
        </p:nvSpPr>
        <p:spPr>
          <a:xfrm>
            <a:off x="6473952" y="3742639"/>
            <a:ext cx="2048255" cy="182880"/>
          </a:xfrm>
          <a:prstGeom prst="rect">
            <a:avLst/>
          </a:prstGeom>
          <a:noFill/>
        </p:spPr>
        <p:txBody>
          <a:bodyPr wrap="square" lIns="0" rIns="0" tIns="0" bIns="0" anchor="ctr">
            <a:spAutoFit/>
          </a:bodyPr>
          <a:lstStyle/>
          <a:p>
            <a:pPr algn="l"/>
            <a:r>
              <a:rPr sz="950" b="1" i="0">
                <a:solidFill>
                  <a:srgbClr val="2E6B4A"/>
                </a:solidFill>
                <a:latin typeface="Calibri"/>
              </a:rPr>
              <a:t xml:space="preserve">✓ </a:t>
            </a:r>
            <a:r>
              <a:rPr sz="900" b="1" i="0">
                <a:solidFill>
                  <a:srgbClr val="2C2C2C"/>
                </a:solidFill>
                <a:latin typeface="Calibri"/>
              </a:rPr>
              <a:t>Working Prototypes</a:t>
            </a:r>
          </a:p>
        </p:txBody>
      </p:sp>
      <p:sp>
        <p:nvSpPr>
          <p:cNvPr id="32" name="Rounded Rectangle 31"/>
          <p:cNvSpPr/>
          <p:nvPr/>
        </p:nvSpPr>
        <p:spPr>
          <a:xfrm>
            <a:off x="365760" y="4050791"/>
            <a:ext cx="8412480" cy="457200"/>
          </a:xfrm>
          <a:prstGeom prst="roundRect">
            <a:avLst>
              <a:gd name="adj" fmla="val 14000"/>
            </a:avLst>
          </a:prstGeom>
          <a:solidFill>
            <a:srgbClr val="FBF6E9"/>
          </a:solidFill>
          <a:ln w="12700">
            <a:solidFill>
              <a:srgbClr val="E3CE8E"/>
            </a:solidFill>
          </a:ln>
          <a:effectLst/>
        </p:spPr>
        <p:style>
          <a:lnRef idx="1">
            <a:schemeClr val="accent1"/>
          </a:lnRef>
          <a:fillRef idx="3">
            <a:schemeClr val="accent1"/>
          </a:fillRef>
          <a:effectRef idx="2">
            <a:schemeClr val="accent1"/>
          </a:effectRef>
          <a:fontRef idx="minor">
            <a:schemeClr val="lt1"/>
          </a:fontRef>
        </p:style>
        <p:txBody>
          <a:bodyPr rtlCol="0" anchor="ctr" lIns="201168" rIns="201168" wrap="square"/>
          <a:lstStyle/>
          <a:p>
            <a:pPr algn="l"/>
            <a:r>
              <a:rPr sz="1030" b="0" i="1">
                <a:solidFill>
                  <a:srgbClr val="5A4612"/>
                </a:solidFill>
                <a:latin typeface="Cambria"/>
              </a:rPr>
              <a:t>The redesigned pages demonstrate how these recommendations can be implemented while maintaining EInvite's existing brand identity.</a:t>
            </a:r>
          </a:p>
        </p:txBody>
      </p:sp>
      <p:sp>
        <p:nvSpPr>
          <p:cNvPr id="33" name="Rectangle 32"/>
          <p:cNvSpPr/>
          <p:nvPr/>
        </p:nvSpPr>
        <p:spPr>
          <a:xfrm>
            <a:off x="0" y="4754880"/>
            <a:ext cx="9144000" cy="388620"/>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11480" y="4754880"/>
            <a:ext cx="8321040" cy="388620"/>
          </a:xfrm>
          <a:prstGeom prst="rect">
            <a:avLst/>
          </a:prstGeom>
          <a:noFill/>
        </p:spPr>
        <p:txBody>
          <a:bodyPr wrap="square" lIns="0" rIns="0" tIns="0" bIns="0" anchor="ctr">
            <a:spAutoFit/>
          </a:bodyPr>
          <a:lstStyle/>
          <a:p>
            <a:pPr algn="l"/>
            <a:r>
              <a:rPr sz="930" b="1" i="0">
                <a:solidFill>
                  <a:srgbClr val="C9A84C"/>
                </a:solidFill>
                <a:latin typeface="Calibri"/>
              </a:rPr>
              <a:t xml:space="preserve">Scoped by impact, not by guesswork.  </a:t>
            </a:r>
            <a:r>
              <a:rPr sz="930" b="0" i="0">
                <a:solidFill>
                  <a:srgbClr val="BBBBBB"/>
                </a:solidFill>
                <a:latin typeface="Calibri"/>
              </a:rPr>
              <a:t>Each phase builds on what the audit already proved matters most.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3566160" cy="5143500"/>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4224528"/>
            <a:ext cx="2651760" cy="274320"/>
          </a:xfrm>
          <a:prstGeom prst="rect">
            <a:avLst/>
          </a:prstGeom>
          <a:noFill/>
        </p:spPr>
        <p:txBody>
          <a:bodyPr wrap="square" lIns="0" rIns="0" tIns="0" bIns="0" anchor="ctr">
            <a:spAutoFit/>
          </a:bodyPr>
          <a:lstStyle/>
          <a:p>
            <a:pPr algn="l"/>
            <a:r>
              <a:rPr sz="1200" b="1" i="0">
                <a:solidFill>
                  <a:srgbClr val="FFFFFF"/>
                </a:solidFill>
                <a:latin typeface="Calibri"/>
              </a:rPr>
              <a:t>Harsh Prajapati</a:t>
            </a:r>
          </a:p>
        </p:txBody>
      </p:sp>
      <p:sp>
        <p:nvSpPr>
          <p:cNvPr id="4" name="TextBox 3"/>
          <p:cNvSpPr txBox="1"/>
          <p:nvPr/>
        </p:nvSpPr>
        <p:spPr>
          <a:xfrm>
            <a:off x="457200" y="4498848"/>
            <a:ext cx="2651760" cy="237744"/>
          </a:xfrm>
          <a:prstGeom prst="rect">
            <a:avLst/>
          </a:prstGeom>
          <a:noFill/>
        </p:spPr>
        <p:txBody>
          <a:bodyPr wrap="square" lIns="0" rIns="0" tIns="0" bIns="0" anchor="t">
            <a:spAutoFit/>
          </a:bodyPr>
          <a:lstStyle/>
          <a:p>
            <a:pPr algn="l"/>
            <a:r>
              <a:rPr sz="1050" b="0" i="0">
                <a:solidFill>
                  <a:srgbClr val="AAAAAA"/>
                </a:solidFill>
                <a:latin typeface="Calibri"/>
              </a:rPr>
              <a:t>Frontend Developer</a:t>
            </a:r>
          </a:p>
        </p:txBody>
      </p:sp>
      <p:sp>
        <p:nvSpPr>
          <p:cNvPr id="5" name="TextBox 4"/>
          <p:cNvSpPr txBox="1"/>
          <p:nvPr/>
        </p:nvSpPr>
        <p:spPr>
          <a:xfrm>
            <a:off x="457200" y="502920"/>
            <a:ext cx="2651760" cy="219456"/>
          </a:xfrm>
          <a:prstGeom prst="rect">
            <a:avLst/>
          </a:prstGeom>
          <a:noFill/>
        </p:spPr>
        <p:txBody>
          <a:bodyPr wrap="square" lIns="0" rIns="0" tIns="0" bIns="0" anchor="ctr">
            <a:spAutoFit/>
          </a:bodyPr>
          <a:lstStyle/>
          <a:p>
            <a:pPr algn="l"/>
            <a:r>
              <a:rPr sz="800" b="1" i="0" spc="160">
                <a:solidFill>
                  <a:srgbClr val="C9A84C"/>
                </a:solidFill>
                <a:latin typeface="Calibri"/>
              </a:rPr>
              <a:t>END OF PRESENTATION</a:t>
            </a:r>
          </a:p>
        </p:txBody>
      </p:sp>
      <p:sp>
        <p:nvSpPr>
          <p:cNvPr id="6" name="Rectangle 5"/>
          <p:cNvSpPr/>
          <p:nvPr/>
        </p:nvSpPr>
        <p:spPr>
          <a:xfrm>
            <a:off x="457200" y="868680"/>
            <a:ext cx="914400" cy="27432"/>
          </a:xfrm>
          <a:prstGeom prst="rect">
            <a:avLst/>
          </a:prstGeom>
          <a:solidFill>
            <a:srgbClr val="C9A8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069080" y="640080"/>
            <a:ext cx="4617720" cy="868680"/>
          </a:xfrm>
          <a:prstGeom prst="rect">
            <a:avLst/>
          </a:prstGeom>
          <a:noFill/>
        </p:spPr>
        <p:txBody>
          <a:bodyPr wrap="square" lIns="0" rIns="0" tIns="0" bIns="0" anchor="t">
            <a:spAutoFit/>
          </a:bodyPr>
          <a:lstStyle/>
          <a:p>
            <a:pPr algn="l">
              <a:lnSpc>
                <a:spcPct val="118000"/>
              </a:lnSpc>
            </a:pPr>
            <a:r>
              <a:rPr sz="969" b="0" i="1">
                <a:solidFill>
                  <a:srgbClr val="6B6B6B"/>
                </a:solidFill>
                <a:latin typeface="Calibri"/>
              </a:rPr>
              <a:t>This audit was conducted independently using only publicly available resources, browser inspection, and performance analysis. The redesigns and recommendations demonstrate how targeted improvements can enhance EInvite's user experience and technical quality without changing its core product vision.</a:t>
            </a:r>
          </a:p>
        </p:txBody>
      </p:sp>
      <p:sp>
        <p:nvSpPr>
          <p:cNvPr id="8" name="TextBox 7"/>
          <p:cNvSpPr txBox="1"/>
          <p:nvPr/>
        </p:nvSpPr>
        <p:spPr>
          <a:xfrm>
            <a:off x="4069080" y="1783080"/>
            <a:ext cx="4617720" cy="777240"/>
          </a:xfrm>
          <a:prstGeom prst="rect">
            <a:avLst/>
          </a:prstGeom>
          <a:noFill/>
        </p:spPr>
        <p:txBody>
          <a:bodyPr wrap="square" lIns="0" rIns="0" tIns="0" bIns="0" anchor="ctr">
            <a:spAutoFit/>
          </a:bodyPr>
          <a:lstStyle/>
          <a:p>
            <a:pPr algn="l"/>
            <a:r>
              <a:rPr sz="3800" b="1" i="0">
                <a:solidFill>
                  <a:srgbClr val="111111"/>
                </a:solidFill>
                <a:latin typeface="Cambria"/>
              </a:rPr>
              <a:t>Thank You</a:t>
            </a:r>
          </a:p>
        </p:txBody>
      </p:sp>
      <p:sp>
        <p:nvSpPr>
          <p:cNvPr id="9" name="TextBox 8"/>
          <p:cNvSpPr txBox="1"/>
          <p:nvPr/>
        </p:nvSpPr>
        <p:spPr>
          <a:xfrm>
            <a:off x="4069080" y="2487168"/>
            <a:ext cx="4617720" cy="274320"/>
          </a:xfrm>
          <a:prstGeom prst="rect">
            <a:avLst/>
          </a:prstGeom>
          <a:noFill/>
        </p:spPr>
        <p:txBody>
          <a:bodyPr wrap="square" lIns="0" rIns="0" tIns="0" bIns="0" anchor="t">
            <a:spAutoFit/>
          </a:bodyPr>
          <a:lstStyle/>
          <a:p>
            <a:pPr algn="l"/>
            <a:r>
              <a:rPr sz="1150" b="0" i="0">
                <a:solidFill>
                  <a:srgbClr val="6B6B6B"/>
                </a:solidFill>
                <a:latin typeface="Calibri"/>
              </a:rPr>
              <a:t>Thank you for your time.</a:t>
            </a:r>
          </a:p>
        </p:txBody>
      </p:sp>
      <p:sp>
        <p:nvSpPr>
          <p:cNvPr id="10" name="Rectangle 9"/>
          <p:cNvSpPr/>
          <p:nvPr/>
        </p:nvSpPr>
        <p:spPr>
          <a:xfrm>
            <a:off x="4069080" y="2907792"/>
            <a:ext cx="914400" cy="22860"/>
          </a:xfrm>
          <a:prstGeom prst="rect">
            <a:avLst/>
          </a:prstGeom>
          <a:solidFill>
            <a:srgbClr val="C9A8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069080" y="3127248"/>
            <a:ext cx="4617720" cy="182880"/>
          </a:xfrm>
          <a:prstGeom prst="rect">
            <a:avLst/>
          </a:prstGeom>
          <a:noFill/>
        </p:spPr>
        <p:txBody>
          <a:bodyPr wrap="square" lIns="0" rIns="0" tIns="0" bIns="0" anchor="t">
            <a:spAutoFit/>
          </a:bodyPr>
          <a:lstStyle/>
          <a:p>
            <a:pPr algn="l"/>
            <a:r>
              <a:rPr sz="800" b="1" i="0" spc="120">
                <a:solidFill>
                  <a:srgbClr val="C9A84C"/>
                </a:solidFill>
                <a:latin typeface="Calibri"/>
              </a:rPr>
              <a:t>LINKS</a:t>
            </a:r>
          </a:p>
        </p:txBody>
      </p:sp>
      <p:sp>
        <p:nvSpPr>
          <p:cNvPr id="12" name="TextBox 11"/>
          <p:cNvSpPr txBox="1"/>
          <p:nvPr/>
        </p:nvSpPr>
        <p:spPr>
          <a:xfrm>
            <a:off x="4069080" y="3401568"/>
            <a:ext cx="4617720" cy="182880"/>
          </a:xfrm>
          <a:prstGeom prst="rect">
            <a:avLst/>
          </a:prstGeom>
          <a:noFill/>
        </p:spPr>
        <p:txBody>
          <a:bodyPr wrap="square" lIns="0" rIns="0" tIns="0" bIns="0" anchor="t">
            <a:spAutoFit/>
          </a:bodyPr>
          <a:lstStyle/>
          <a:p>
            <a:pPr algn="l"/>
            <a:r>
              <a:rPr sz="1000" b="1" i="0">
                <a:solidFill>
                  <a:srgbClr val="C9A84C"/>
                </a:solidFill>
                <a:latin typeface="Calibri"/>
              </a:rPr>
              <a:t xml:space="preserve">—  </a:t>
            </a:r>
            <a:r>
              <a:rPr sz="1000" b="1" i="0">
                <a:solidFill>
                  <a:srgbClr val="2C2C2C"/>
                </a:solidFill>
                <a:latin typeface="Cambria"/>
              </a:rPr>
              <a:t>Live Pricing Prototype</a:t>
            </a:r>
          </a:p>
        </p:txBody>
      </p:sp>
      <p:sp>
        <p:nvSpPr>
          <p:cNvPr id="13" name="TextBox 12"/>
          <p:cNvSpPr txBox="1"/>
          <p:nvPr/>
        </p:nvSpPr>
        <p:spPr>
          <a:xfrm>
            <a:off x="4306824" y="3584448"/>
            <a:ext cx="4379976" cy="164592"/>
          </a:xfrm>
          <a:prstGeom prst="rect">
            <a:avLst/>
          </a:prstGeom>
          <a:noFill/>
        </p:spPr>
        <p:txBody>
          <a:bodyPr wrap="square" lIns="0" rIns="0" tIns="0" bIns="0" anchor="t">
            <a:spAutoFit/>
          </a:bodyPr>
          <a:lstStyle/>
          <a:p>
            <a:pPr algn="l"/>
            <a:r>
              <a:rPr sz="830" b="0" i="0">
                <a:solidFill>
                  <a:srgbClr val="6B6B6B"/>
                </a:solidFill>
                <a:latin typeface="Calibri"/>
              </a:rPr>
              <a:t>einvite-pricing-625378471000.asia-southeast1.run.app</a:t>
            </a:r>
          </a:p>
        </p:txBody>
      </p:sp>
      <p:sp>
        <p:nvSpPr>
          <p:cNvPr id="14" name="TextBox 13"/>
          <p:cNvSpPr txBox="1"/>
          <p:nvPr/>
        </p:nvSpPr>
        <p:spPr>
          <a:xfrm>
            <a:off x="4069080" y="3840479"/>
            <a:ext cx="4617720" cy="182880"/>
          </a:xfrm>
          <a:prstGeom prst="rect">
            <a:avLst/>
          </a:prstGeom>
          <a:noFill/>
        </p:spPr>
        <p:txBody>
          <a:bodyPr wrap="square" lIns="0" rIns="0" tIns="0" bIns="0" anchor="t">
            <a:spAutoFit/>
          </a:bodyPr>
          <a:lstStyle/>
          <a:p>
            <a:pPr algn="l"/>
            <a:r>
              <a:rPr sz="1000" b="1" i="0">
                <a:solidFill>
                  <a:srgbClr val="C9A84C"/>
                </a:solidFill>
                <a:latin typeface="Calibri"/>
              </a:rPr>
              <a:t xml:space="preserve">—  </a:t>
            </a:r>
            <a:r>
              <a:rPr sz="1000" b="1" i="0">
                <a:solidFill>
                  <a:srgbClr val="2C2C2C"/>
                </a:solidFill>
                <a:latin typeface="Cambria"/>
              </a:rPr>
              <a:t>Live Articles Prototype</a:t>
            </a:r>
          </a:p>
        </p:txBody>
      </p:sp>
      <p:sp>
        <p:nvSpPr>
          <p:cNvPr id="15" name="TextBox 14"/>
          <p:cNvSpPr txBox="1"/>
          <p:nvPr/>
        </p:nvSpPr>
        <p:spPr>
          <a:xfrm>
            <a:off x="4306824" y="4023359"/>
            <a:ext cx="4379976" cy="164592"/>
          </a:xfrm>
          <a:prstGeom prst="rect">
            <a:avLst/>
          </a:prstGeom>
          <a:noFill/>
        </p:spPr>
        <p:txBody>
          <a:bodyPr wrap="square" lIns="0" rIns="0" tIns="0" bIns="0" anchor="t">
            <a:spAutoFit/>
          </a:bodyPr>
          <a:lstStyle/>
          <a:p>
            <a:pPr algn="l"/>
            <a:r>
              <a:rPr sz="830" b="0" i="0">
                <a:solidFill>
                  <a:srgbClr val="6B6B6B"/>
                </a:solidFill>
                <a:latin typeface="Calibri"/>
              </a:rPr>
              <a:t>einvite-articles-resources-625378471000.asia-southeast1.run.app</a:t>
            </a:r>
          </a:p>
        </p:txBody>
      </p:sp>
      <p:sp>
        <p:nvSpPr>
          <p:cNvPr id="16" name="TextBox 15"/>
          <p:cNvSpPr txBox="1"/>
          <p:nvPr/>
        </p:nvSpPr>
        <p:spPr>
          <a:xfrm>
            <a:off x="4069080" y="4279392"/>
            <a:ext cx="4617720" cy="182880"/>
          </a:xfrm>
          <a:prstGeom prst="rect">
            <a:avLst/>
          </a:prstGeom>
          <a:noFill/>
        </p:spPr>
        <p:txBody>
          <a:bodyPr wrap="square" lIns="0" rIns="0" tIns="0" bIns="0" anchor="t">
            <a:spAutoFit/>
          </a:bodyPr>
          <a:lstStyle/>
          <a:p>
            <a:pPr algn="l"/>
            <a:r>
              <a:rPr sz="1000" b="1" i="0">
                <a:solidFill>
                  <a:srgbClr val="C9A84C"/>
                </a:solidFill>
                <a:latin typeface="Calibri"/>
              </a:rPr>
              <a:t xml:space="preserve">—  </a:t>
            </a:r>
            <a:r>
              <a:rPr sz="1000" b="1" i="0">
                <a:solidFill>
                  <a:srgbClr val="2C2C2C"/>
                </a:solidFill>
                <a:latin typeface="Cambria"/>
              </a:rPr>
              <a:t>Audit Report</a:t>
            </a:r>
          </a:p>
        </p:txBody>
      </p:sp>
      <p:sp>
        <p:nvSpPr>
          <p:cNvPr id="17" name="TextBox 16"/>
          <p:cNvSpPr txBox="1"/>
          <p:nvPr/>
        </p:nvSpPr>
        <p:spPr>
          <a:xfrm>
            <a:off x="4306824" y="4462272"/>
            <a:ext cx="4379976" cy="164592"/>
          </a:xfrm>
          <a:prstGeom prst="rect">
            <a:avLst/>
          </a:prstGeom>
          <a:noFill/>
        </p:spPr>
        <p:txBody>
          <a:bodyPr wrap="square" lIns="0" rIns="0" tIns="0" bIns="0" anchor="t">
            <a:spAutoFit/>
          </a:bodyPr>
          <a:lstStyle/>
          <a:p>
            <a:pPr algn="l"/>
            <a:r>
              <a:rPr sz="830" b="0" i="0">
                <a:solidFill>
                  <a:srgbClr val="6B6B6B"/>
                </a:solidFill>
                <a:latin typeface="Calibri"/>
              </a:rPr>
              <a:t>[ link to be added ]</a:t>
            </a:r>
          </a:p>
        </p:txBody>
      </p:sp>
      <p:sp>
        <p:nvSpPr>
          <p:cNvPr id="18" name="TextBox 17"/>
          <p:cNvSpPr txBox="1"/>
          <p:nvPr/>
        </p:nvSpPr>
        <p:spPr>
          <a:xfrm>
            <a:off x="4069080" y="4718304"/>
            <a:ext cx="4617720" cy="182880"/>
          </a:xfrm>
          <a:prstGeom prst="rect">
            <a:avLst/>
          </a:prstGeom>
          <a:noFill/>
        </p:spPr>
        <p:txBody>
          <a:bodyPr wrap="square" lIns="0" rIns="0" tIns="0" bIns="0" anchor="t">
            <a:spAutoFit/>
          </a:bodyPr>
          <a:lstStyle/>
          <a:p>
            <a:pPr algn="l"/>
            <a:r>
              <a:rPr sz="1000" b="1" i="0">
                <a:solidFill>
                  <a:srgbClr val="C9A84C"/>
                </a:solidFill>
                <a:latin typeface="Calibri"/>
              </a:rPr>
              <a:t xml:space="preserve">—  </a:t>
            </a:r>
            <a:r>
              <a:rPr sz="1000" b="1" i="0">
                <a:solidFill>
                  <a:srgbClr val="2C2C2C"/>
                </a:solidFill>
                <a:latin typeface="Cambria"/>
              </a:rPr>
              <a:t>Email</a:t>
            </a:r>
          </a:p>
        </p:txBody>
      </p:sp>
      <p:sp>
        <p:nvSpPr>
          <p:cNvPr id="19" name="TextBox 18"/>
          <p:cNvSpPr txBox="1"/>
          <p:nvPr/>
        </p:nvSpPr>
        <p:spPr>
          <a:xfrm>
            <a:off x="4306824" y="4901184"/>
            <a:ext cx="4379976" cy="164592"/>
          </a:xfrm>
          <a:prstGeom prst="rect">
            <a:avLst/>
          </a:prstGeom>
          <a:noFill/>
        </p:spPr>
        <p:txBody>
          <a:bodyPr wrap="square" lIns="0" rIns="0" tIns="0" bIns="0" anchor="t">
            <a:spAutoFit/>
          </a:bodyPr>
          <a:lstStyle/>
          <a:p>
            <a:pPr algn="l"/>
            <a:r>
              <a:rPr sz="830" b="0" i="0">
                <a:solidFill>
                  <a:srgbClr val="6B6B6B"/>
                </a:solidFill>
                <a:latin typeface="Calibri"/>
              </a:rPr>
              <a:t>prajapatih039@gmail.com</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Slides>
  <Notes>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vt:i4>
      </vt:variant>
    </vt:vector>
  </HeadingPairs>
  <TitlesOfParts>
    <vt:vector size="6" baseType="lpstr">
      <vt:lpstr>Arial</vt:lpstr>
      <vt:lpstr>Calibri</vt:lpstr>
      <vt:lpstr>Office Theme</vt:lpstr>
      <vt:lpstr>Slide 1</vt:lpstr>
      <vt:lpstr>Slide 2</vt:lpstr>
      <vt:lpstr>Slide 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EInvite Product Audit &amp; Growth Proposal</dc:title>
  <dc:subject>PptxGenJS Presentation</dc:subject>
  <dc:creator>Harsh Prajapati</dc:creator>
  <cp:lastModifiedBy>Harsh Prajapati</cp:lastModifiedBy>
  <cp:revision>1</cp:revision>
  <dcterms:created xsi:type="dcterms:W3CDTF">2026-06-27T14:27:54Z</dcterms:created>
  <dcterms:modified xsi:type="dcterms:W3CDTF">2026-06-27T14:27:54Z</dcterms:modified>
</cp:coreProperties>
</file>